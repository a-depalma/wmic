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media/image16.jpg" ContentType="image/png"/>
  <Override PartName="/ppt/notesSlides/notesSlide17.xml" ContentType="application/vnd.openxmlformats-officedocument.presentationml.notesSlide+xml"/>
  <Override PartName="/ppt/media/image17.jpg" ContentType="image/png"/>
  <Override PartName="/ppt/notesSlides/notesSlide18.xml" ContentType="application/vnd.openxmlformats-officedocument.presentationml.notesSlide+xml"/>
  <Override PartName="/ppt/media/image18.jpg" ContentType="image/png"/>
  <Override PartName="/ppt/notesSlides/notesSlide19.xml" ContentType="application/vnd.openxmlformats-officedocument.presentationml.notesSlide+xml"/>
  <Override PartName="/ppt/media/image19.jpg" ContentType="image/png"/>
  <Override PartName="/ppt/notesSlides/notesSlide20.xml" ContentType="application/vnd.openxmlformats-officedocument.presentationml.notesSlide+xml"/>
  <Override PartName="/ppt/media/image20.jpg" ContentType="image/png"/>
  <Override PartName="/ppt/notesSlides/notesSlide21.xml" ContentType="application/vnd.openxmlformats-officedocument.presentationml.notesSlide+xml"/>
  <Override PartName="/ppt/media/image21.jpg" ContentType="image/png"/>
  <Override PartName="/ppt/notesSlides/notesSlide22.xml" ContentType="application/vnd.openxmlformats-officedocument.presentationml.notesSlide+xml"/>
  <Override PartName="/ppt/media/image22.jpg" ContentType="image/png"/>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media/image26.jpg" ContentType="image/png"/>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3"/>
  </p:notesMasterIdLst>
  <p:sldIdLst>
    <p:sldId id="256" r:id="rId5"/>
    <p:sldId id="270" r:id="rId6"/>
    <p:sldId id="338" r:id="rId7"/>
    <p:sldId id="443" r:id="rId8"/>
    <p:sldId id="269" r:id="rId9"/>
    <p:sldId id="274" r:id="rId10"/>
    <p:sldId id="441" r:id="rId11"/>
    <p:sldId id="407" r:id="rId12"/>
    <p:sldId id="408" r:id="rId13"/>
    <p:sldId id="409" r:id="rId14"/>
    <p:sldId id="411" r:id="rId15"/>
    <p:sldId id="440" r:id="rId16"/>
    <p:sldId id="419" r:id="rId17"/>
    <p:sldId id="442" r:id="rId18"/>
    <p:sldId id="399" r:id="rId19"/>
    <p:sldId id="398" r:id="rId20"/>
    <p:sldId id="397" r:id="rId21"/>
    <p:sldId id="439" r:id="rId22"/>
    <p:sldId id="420" r:id="rId23"/>
    <p:sldId id="421" r:id="rId24"/>
    <p:sldId id="417" r:id="rId25"/>
    <p:sldId id="402" r:id="rId26"/>
    <p:sldId id="403" r:id="rId27"/>
    <p:sldId id="422" r:id="rId28"/>
    <p:sldId id="424" r:id="rId29"/>
    <p:sldId id="404" r:id="rId30"/>
    <p:sldId id="433" r:id="rId31"/>
    <p:sldId id="427" r:id="rId32"/>
  </p:sldIdLst>
  <p:sldSz cx="9144000" cy="5143500" type="screen16x9"/>
  <p:notesSz cx="6858000" cy="9144000"/>
  <p:defaultText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3FE585-E73B-0333-AD3E-6E86C7E6E7B1}" name="Andrea De Palma" initials="AD" userId="S::97066ade@eur.nl::dbbb45b4-0fa1-4b93-b33d-97fa693956a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CC"/>
    <a:srgbClr val="47D459"/>
    <a:srgbClr val="C1F0C7"/>
    <a:srgbClr val="84E290"/>
    <a:srgbClr val="EDE7EF"/>
    <a:srgbClr val="4EA7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B403E7-C0FE-4D58-968C-BD225C36EAB4}" v="4" dt="2026-07-06T20:39:16.1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59" autoAdjust="0"/>
    <p:restoredTop sz="94463" autoAdjust="0"/>
  </p:normalViewPr>
  <p:slideViewPr>
    <p:cSldViewPr snapToGrid="0" snapToObjects="1">
      <p:cViewPr>
        <p:scale>
          <a:sx n="145" d="100"/>
          <a:sy n="145" d="100"/>
        </p:scale>
        <p:origin x="-499" y="-806"/>
      </p:cViewPr>
      <p:guideLst>
        <p:guide orient="horz" pos="2160"/>
        <p:guide pos="2880"/>
        <p:guide orient="horz" pos="162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snapToObjects="1">
      <p:cViewPr varScale="1">
        <p:scale>
          <a:sx n="97" d="100"/>
          <a:sy n="97" d="100"/>
        </p:scale>
        <p:origin x="3618"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40"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a De Palma" userId="dbbb45b4-0fa1-4b93-b33d-97fa693956a3" providerId="ADAL" clId="{AE935442-7754-48C8-A8F7-F9AB4765280B}"/>
    <pc:docChg chg="undo redo custSel addSld delSld modSld sldOrd">
      <pc:chgData name="Andrea De Palma" userId="dbbb45b4-0fa1-4b93-b33d-97fa693956a3" providerId="ADAL" clId="{AE935442-7754-48C8-A8F7-F9AB4765280B}" dt="2026-07-06T20:39:30.924" v="1463" actId="1076"/>
      <pc:docMkLst>
        <pc:docMk/>
      </pc:docMkLst>
      <pc:sldChg chg="modSp">
        <pc:chgData name="Andrea De Palma" userId="dbbb45b4-0fa1-4b93-b33d-97fa693956a3" providerId="ADAL" clId="{AE935442-7754-48C8-A8F7-F9AB4765280B}" dt="2026-06-30T09:52:28.250" v="0"/>
        <pc:sldMkLst>
          <pc:docMk/>
          <pc:sldMk cId="0" sldId="256"/>
        </pc:sldMkLst>
        <pc:spChg chg="mod">
          <ac:chgData name="Andrea De Palma" userId="dbbb45b4-0fa1-4b93-b33d-97fa693956a3" providerId="ADAL" clId="{AE935442-7754-48C8-A8F7-F9AB4765280B}" dt="2026-06-30T09:52:28.250" v="0"/>
          <ac:spMkLst>
            <pc:docMk/>
            <pc:sldMk cId="0" sldId="256"/>
            <ac:spMk id="2" creationId="{00000000-0000-0000-0000-000000000000}"/>
          </ac:spMkLst>
        </pc:spChg>
      </pc:sldChg>
      <pc:sldChg chg="add">
        <pc:chgData name="Andrea De Palma" userId="dbbb45b4-0fa1-4b93-b33d-97fa693956a3" providerId="ADAL" clId="{AE935442-7754-48C8-A8F7-F9AB4765280B}" dt="2026-06-30T09:53:15.027" v="28"/>
        <pc:sldMkLst>
          <pc:docMk/>
          <pc:sldMk cId="1036479881" sldId="269"/>
        </pc:sldMkLst>
      </pc:sldChg>
      <pc:sldChg chg="addSp delSp modSp add mod ord modNotesTx">
        <pc:chgData name="Andrea De Palma" userId="dbbb45b4-0fa1-4b93-b33d-97fa693956a3" providerId="ADAL" clId="{AE935442-7754-48C8-A8F7-F9AB4765280B}" dt="2026-07-02T12:46:48.892" v="1186" actId="14100"/>
        <pc:sldMkLst>
          <pc:docMk/>
          <pc:sldMk cId="383658872" sldId="270"/>
        </pc:sldMkLst>
        <pc:spChg chg="add mod">
          <ac:chgData name="Andrea De Palma" userId="dbbb45b4-0fa1-4b93-b33d-97fa693956a3" providerId="ADAL" clId="{AE935442-7754-48C8-A8F7-F9AB4765280B}" dt="2026-07-02T12:46:48.892" v="1186" actId="14100"/>
          <ac:spMkLst>
            <pc:docMk/>
            <pc:sldMk cId="383658872" sldId="270"/>
            <ac:spMk id="2" creationId="{C003D782-E2DA-9D28-8F20-838EC606C7AB}"/>
          </ac:spMkLst>
        </pc:spChg>
        <pc:spChg chg="mod">
          <ac:chgData name="Andrea De Palma" userId="dbbb45b4-0fa1-4b93-b33d-97fa693956a3" providerId="ADAL" clId="{AE935442-7754-48C8-A8F7-F9AB4765280B}" dt="2026-07-02T12:46:46.463" v="1173" actId="20577"/>
          <ac:spMkLst>
            <pc:docMk/>
            <pc:sldMk cId="383658872" sldId="270"/>
            <ac:spMk id="19" creationId="{1D5117DE-CFD6-4A46-9339-CE3DE7F295D2}"/>
          </ac:spMkLst>
        </pc:spChg>
      </pc:sldChg>
      <pc:sldChg chg="modSp add mod setBg">
        <pc:chgData name="Andrea De Palma" userId="dbbb45b4-0fa1-4b93-b33d-97fa693956a3" providerId="ADAL" clId="{AE935442-7754-48C8-A8F7-F9AB4765280B}" dt="2026-06-30T09:54:31.665" v="43" actId="1076"/>
        <pc:sldMkLst>
          <pc:docMk/>
          <pc:sldMk cId="2040233568" sldId="274"/>
        </pc:sldMkLst>
        <pc:spChg chg="mod">
          <ac:chgData name="Andrea De Palma" userId="dbbb45b4-0fa1-4b93-b33d-97fa693956a3" providerId="ADAL" clId="{AE935442-7754-48C8-A8F7-F9AB4765280B}" dt="2026-06-30T09:54:31.665" v="43" actId="1076"/>
          <ac:spMkLst>
            <pc:docMk/>
            <pc:sldMk cId="2040233568" sldId="274"/>
            <ac:spMk id="22" creationId="{9AA1A4A6-8B9B-436F-9A51-CFA21C4F6593}"/>
          </ac:spMkLst>
        </pc:spChg>
        <pc:grpChg chg="mod">
          <ac:chgData name="Andrea De Palma" userId="dbbb45b4-0fa1-4b93-b33d-97fa693956a3" providerId="ADAL" clId="{AE935442-7754-48C8-A8F7-F9AB4765280B}" dt="2026-06-30T09:54:04.862" v="33" actId="1076"/>
          <ac:grpSpMkLst>
            <pc:docMk/>
            <pc:sldMk cId="2040233568" sldId="274"/>
            <ac:grpSpMk id="14" creationId="{6B25754E-929A-F5F7-EA6F-5CCDB437E3DF}"/>
          </ac:grpSpMkLst>
        </pc:grpChg>
        <pc:picChg chg="mod">
          <ac:chgData name="Andrea De Palma" userId="dbbb45b4-0fa1-4b93-b33d-97fa693956a3" providerId="ADAL" clId="{AE935442-7754-48C8-A8F7-F9AB4765280B}" dt="2026-06-30T09:54:25.415" v="41" actId="1076"/>
          <ac:picMkLst>
            <pc:docMk/>
            <pc:sldMk cId="2040233568" sldId="274"/>
            <ac:picMk id="16" creationId="{C67B815E-5ED6-24EF-0D8E-E9AEDB469343}"/>
          </ac:picMkLst>
        </pc:picChg>
        <pc:picChg chg="mod">
          <ac:chgData name="Andrea De Palma" userId="dbbb45b4-0fa1-4b93-b33d-97fa693956a3" providerId="ADAL" clId="{AE935442-7754-48C8-A8F7-F9AB4765280B}" dt="2026-06-30T09:54:28.206" v="42" actId="1076"/>
          <ac:picMkLst>
            <pc:docMk/>
            <pc:sldMk cId="2040233568" sldId="274"/>
            <ac:picMk id="18" creationId="{C5E5ADD1-CCEE-E6E3-7125-7A35CE3ABF96}"/>
          </ac:picMkLst>
        </pc:picChg>
      </pc:sldChg>
      <pc:sldChg chg="modSp mod">
        <pc:chgData name="Andrea De Palma" userId="dbbb45b4-0fa1-4b93-b33d-97fa693956a3" providerId="ADAL" clId="{AE935442-7754-48C8-A8F7-F9AB4765280B}" dt="2026-06-30T09:52:40.424" v="23" actId="20577"/>
        <pc:sldMkLst>
          <pc:docMk/>
          <pc:sldMk cId="1508604256" sldId="338"/>
        </pc:sldMkLst>
        <pc:spChg chg="mod">
          <ac:chgData name="Andrea De Palma" userId="dbbb45b4-0fa1-4b93-b33d-97fa693956a3" providerId="ADAL" clId="{AE935442-7754-48C8-A8F7-F9AB4765280B}" dt="2026-06-30T09:52:40.424" v="23" actId="20577"/>
          <ac:spMkLst>
            <pc:docMk/>
            <pc:sldMk cId="1508604256" sldId="338"/>
            <ac:spMk id="2" creationId="{00000000-0000-0000-0000-000000000000}"/>
          </ac:spMkLst>
        </pc:spChg>
      </pc:sldChg>
      <pc:sldChg chg="modSp mod ord">
        <pc:chgData name="Andrea De Palma" userId="dbbb45b4-0fa1-4b93-b33d-97fa693956a3" providerId="ADAL" clId="{AE935442-7754-48C8-A8F7-F9AB4765280B}" dt="2026-07-02T12:38:15.808" v="1085"/>
        <pc:sldMkLst>
          <pc:docMk/>
          <pc:sldMk cId="619764277" sldId="404"/>
        </pc:sldMkLst>
        <pc:spChg chg="mod">
          <ac:chgData name="Andrea De Palma" userId="dbbb45b4-0fa1-4b93-b33d-97fa693956a3" providerId="ADAL" clId="{AE935442-7754-48C8-A8F7-F9AB4765280B}" dt="2026-06-30T12:29:23.953" v="241" actId="20577"/>
          <ac:spMkLst>
            <pc:docMk/>
            <pc:sldMk cId="619764277" sldId="404"/>
            <ac:spMk id="9" creationId="{18E53376-3765-080E-C23F-9EA4E46E8C89}"/>
          </ac:spMkLst>
        </pc:spChg>
        <pc:picChg chg="mod">
          <ac:chgData name="Andrea De Palma" userId="dbbb45b4-0fa1-4b93-b33d-97fa693956a3" providerId="ADAL" clId="{AE935442-7754-48C8-A8F7-F9AB4765280B}" dt="2026-06-30T12:28:59.179" v="213" actId="14826"/>
          <ac:picMkLst>
            <pc:docMk/>
            <pc:sldMk cId="619764277" sldId="404"/>
            <ac:picMk id="5" creationId="{1D647ED5-C134-84CA-79C4-0AE6EE680734}"/>
          </ac:picMkLst>
        </pc:picChg>
      </pc:sldChg>
      <pc:sldChg chg="addSp modSp mod modNotesTx">
        <pc:chgData name="Andrea De Palma" userId="dbbb45b4-0fa1-4b93-b33d-97fa693956a3" providerId="ADAL" clId="{AE935442-7754-48C8-A8F7-F9AB4765280B}" dt="2026-07-06T20:37:40.622" v="1444" actId="1076"/>
        <pc:sldMkLst>
          <pc:docMk/>
          <pc:sldMk cId="1890494092" sldId="407"/>
        </pc:sldMkLst>
        <pc:spChg chg="add mod">
          <ac:chgData name="Andrea De Palma" userId="dbbb45b4-0fa1-4b93-b33d-97fa693956a3" providerId="ADAL" clId="{AE935442-7754-48C8-A8F7-F9AB4765280B}" dt="2026-07-06T20:37:24.627" v="1442" actId="1582"/>
          <ac:spMkLst>
            <pc:docMk/>
            <pc:sldMk cId="1890494092" sldId="407"/>
            <ac:spMk id="3" creationId="{9A8987EE-CAAA-F0B3-3766-3922377CE950}"/>
          </ac:spMkLst>
        </pc:spChg>
        <pc:spChg chg="add mod">
          <ac:chgData name="Andrea De Palma" userId="dbbb45b4-0fa1-4b93-b33d-97fa693956a3" providerId="ADAL" clId="{AE935442-7754-48C8-A8F7-F9AB4765280B}" dt="2026-07-06T20:37:40.622" v="1444" actId="1076"/>
          <ac:spMkLst>
            <pc:docMk/>
            <pc:sldMk cId="1890494092" sldId="407"/>
            <ac:spMk id="4" creationId="{CC800F9A-1C00-1DC5-819F-FFAA6B7C9D55}"/>
          </ac:spMkLst>
        </pc:spChg>
        <pc:spChg chg="mod">
          <ac:chgData name="Andrea De Palma" userId="dbbb45b4-0fa1-4b93-b33d-97fa693956a3" providerId="ADAL" clId="{AE935442-7754-48C8-A8F7-F9AB4765280B}" dt="2026-06-30T12:00:24.798" v="209" actId="20577"/>
          <ac:spMkLst>
            <pc:docMk/>
            <pc:sldMk cId="1890494092" sldId="407"/>
            <ac:spMk id="13" creationId="{3DFAE245-0713-8806-CAD5-0B27C2EBF63F}"/>
          </ac:spMkLst>
        </pc:spChg>
        <pc:picChg chg="mod modCrop">
          <ac:chgData name="Andrea De Palma" userId="dbbb45b4-0fa1-4b93-b33d-97fa693956a3" providerId="ADAL" clId="{AE935442-7754-48C8-A8F7-F9AB4765280B}" dt="2026-07-06T20:37:03.346" v="1440" actId="1076"/>
          <ac:picMkLst>
            <pc:docMk/>
            <pc:sldMk cId="1890494092" sldId="407"/>
            <ac:picMk id="12" creationId="{F570B821-79AB-2CDF-A163-7FF0884748E6}"/>
          </ac:picMkLst>
        </pc:picChg>
      </pc:sldChg>
      <pc:sldChg chg="addSp delSp modSp mod delAnim modNotesTx">
        <pc:chgData name="Andrea De Palma" userId="dbbb45b4-0fa1-4b93-b33d-97fa693956a3" providerId="ADAL" clId="{AE935442-7754-48C8-A8F7-F9AB4765280B}" dt="2026-07-06T20:38:23.626" v="1453" actId="14100"/>
        <pc:sldMkLst>
          <pc:docMk/>
          <pc:sldMk cId="2253594751" sldId="408"/>
        </pc:sldMkLst>
        <pc:spChg chg="add mod">
          <ac:chgData name="Andrea De Palma" userId="dbbb45b4-0fa1-4b93-b33d-97fa693956a3" providerId="ADAL" clId="{AE935442-7754-48C8-A8F7-F9AB4765280B}" dt="2026-07-06T20:38:23.626" v="1453" actId="14100"/>
          <ac:spMkLst>
            <pc:docMk/>
            <pc:sldMk cId="2253594751" sldId="408"/>
            <ac:spMk id="3" creationId="{2455CFB5-A8CA-6B2A-11CE-3115F4BD0150}"/>
          </ac:spMkLst>
        </pc:spChg>
        <pc:spChg chg="mod">
          <ac:chgData name="Andrea De Palma" userId="dbbb45b4-0fa1-4b93-b33d-97fa693956a3" providerId="ADAL" clId="{AE935442-7754-48C8-A8F7-F9AB4765280B}" dt="2026-06-30T13:12:20.745" v="720" actId="20577"/>
          <ac:spMkLst>
            <pc:docMk/>
            <pc:sldMk cId="2253594751" sldId="408"/>
            <ac:spMk id="10" creationId="{201027CE-6C07-7351-66D1-4C341F66CA6D}"/>
          </ac:spMkLst>
        </pc:spChg>
        <pc:spChg chg="mod">
          <ac:chgData name="Andrea De Palma" userId="dbbb45b4-0fa1-4b93-b33d-97fa693956a3" providerId="ADAL" clId="{AE935442-7754-48C8-A8F7-F9AB4765280B}" dt="2026-06-30T14:00:24.781" v="785" actId="1076"/>
          <ac:spMkLst>
            <pc:docMk/>
            <pc:sldMk cId="2253594751" sldId="408"/>
            <ac:spMk id="14" creationId="{F14CDF7E-99F3-541C-F632-4C464C172CEE}"/>
          </ac:spMkLst>
        </pc:spChg>
        <pc:graphicFrameChg chg="mod modGraphic">
          <ac:chgData name="Andrea De Palma" userId="dbbb45b4-0fa1-4b93-b33d-97fa693956a3" providerId="ADAL" clId="{AE935442-7754-48C8-A8F7-F9AB4765280B}" dt="2026-07-02T12:37:54.930" v="1079" actId="20577"/>
          <ac:graphicFrameMkLst>
            <pc:docMk/>
            <pc:sldMk cId="2253594751" sldId="408"/>
            <ac:graphicFrameMk id="7" creationId="{0698F77C-0B02-DEA4-4A80-7A98ED5C88AD}"/>
          </ac:graphicFrameMkLst>
        </pc:graphicFrameChg>
      </pc:sldChg>
      <pc:sldChg chg="addSp modSp mod">
        <pc:chgData name="Andrea De Palma" userId="dbbb45b4-0fa1-4b93-b33d-97fa693956a3" providerId="ADAL" clId="{AE935442-7754-48C8-A8F7-F9AB4765280B}" dt="2026-07-06T20:39:30.924" v="1463" actId="1076"/>
        <pc:sldMkLst>
          <pc:docMk/>
          <pc:sldMk cId="3757150086" sldId="409"/>
        </pc:sldMkLst>
        <pc:spChg chg="add mod">
          <ac:chgData name="Andrea De Palma" userId="dbbb45b4-0fa1-4b93-b33d-97fa693956a3" providerId="ADAL" clId="{AE935442-7754-48C8-A8F7-F9AB4765280B}" dt="2026-07-06T20:39:11.603" v="1460" actId="14100"/>
          <ac:spMkLst>
            <pc:docMk/>
            <pc:sldMk cId="3757150086" sldId="409"/>
            <ac:spMk id="3" creationId="{5014A42B-2C3B-9427-03E0-55ED8C854E69}"/>
          </ac:spMkLst>
        </pc:spChg>
        <pc:spChg chg="add mod">
          <ac:chgData name="Andrea De Palma" userId="dbbb45b4-0fa1-4b93-b33d-97fa693956a3" providerId="ADAL" clId="{AE935442-7754-48C8-A8F7-F9AB4765280B}" dt="2026-07-06T20:39:30.924" v="1463" actId="1076"/>
          <ac:spMkLst>
            <pc:docMk/>
            <pc:sldMk cId="3757150086" sldId="409"/>
            <ac:spMk id="5" creationId="{A3F6B281-548B-9455-3F86-C4FB9791C107}"/>
          </ac:spMkLst>
        </pc:spChg>
        <pc:spChg chg="mod">
          <ac:chgData name="Andrea De Palma" userId="dbbb45b4-0fa1-4b93-b33d-97fa693956a3" providerId="ADAL" clId="{AE935442-7754-48C8-A8F7-F9AB4765280B}" dt="2026-06-30T14:01:34.317" v="819" actId="1076"/>
          <ac:spMkLst>
            <pc:docMk/>
            <pc:sldMk cId="3757150086" sldId="409"/>
            <ac:spMk id="10" creationId="{A3E3AD6F-F97B-E798-8A97-FBE049D0C939}"/>
          </ac:spMkLst>
        </pc:spChg>
        <pc:graphicFrameChg chg="mod modGraphic">
          <ac:chgData name="Andrea De Palma" userId="dbbb45b4-0fa1-4b93-b33d-97fa693956a3" providerId="ADAL" clId="{AE935442-7754-48C8-A8F7-F9AB4765280B}" dt="2026-07-02T12:20:11.503" v="959" actId="20577"/>
          <ac:graphicFrameMkLst>
            <pc:docMk/>
            <pc:sldMk cId="3757150086" sldId="409"/>
            <ac:graphicFrameMk id="4" creationId="{D5E11C39-405D-807D-AC54-4E9A8F7D6023}"/>
          </ac:graphicFrameMkLst>
        </pc:graphicFrameChg>
      </pc:sldChg>
      <pc:sldChg chg="modSp mod ord modNotesTx">
        <pc:chgData name="Andrea De Palma" userId="dbbb45b4-0fa1-4b93-b33d-97fa693956a3" providerId="ADAL" clId="{AE935442-7754-48C8-A8F7-F9AB4765280B}" dt="2026-07-03T08:25:04.890" v="1428" actId="20577"/>
        <pc:sldMkLst>
          <pc:docMk/>
          <pc:sldMk cId="2143516121" sldId="411"/>
        </pc:sldMkLst>
        <pc:spChg chg="mod">
          <ac:chgData name="Andrea De Palma" userId="dbbb45b4-0fa1-4b93-b33d-97fa693956a3" providerId="ADAL" clId="{AE935442-7754-48C8-A8F7-F9AB4765280B}" dt="2026-06-30T09:58:15.805" v="110" actId="20577"/>
          <ac:spMkLst>
            <pc:docMk/>
            <pc:sldMk cId="2143516121" sldId="411"/>
            <ac:spMk id="2" creationId="{6CA418F0-8231-6C33-A976-0444105C6D0F}"/>
          </ac:spMkLst>
        </pc:spChg>
        <pc:graphicFrameChg chg="mod modGraphic">
          <ac:chgData name="Andrea De Palma" userId="dbbb45b4-0fa1-4b93-b33d-97fa693956a3" providerId="ADAL" clId="{AE935442-7754-48C8-A8F7-F9AB4765280B}" dt="2026-07-03T08:25:04.890" v="1428" actId="20577"/>
          <ac:graphicFrameMkLst>
            <pc:docMk/>
            <pc:sldMk cId="2143516121" sldId="411"/>
            <ac:graphicFrameMk id="11" creationId="{2D107F7E-4944-58AF-7DD4-38B1F0D9D710}"/>
          </ac:graphicFrameMkLst>
        </pc:graphicFrameChg>
      </pc:sldChg>
      <pc:sldChg chg="modSp mod">
        <pc:chgData name="Andrea De Palma" userId="dbbb45b4-0fa1-4b93-b33d-97fa693956a3" providerId="ADAL" clId="{AE935442-7754-48C8-A8F7-F9AB4765280B}" dt="2026-06-30T12:42:01.270" v="244" actId="14100"/>
        <pc:sldMkLst>
          <pc:docMk/>
          <pc:sldMk cId="613911173" sldId="424"/>
        </pc:sldMkLst>
        <pc:picChg chg="mod">
          <ac:chgData name="Andrea De Palma" userId="dbbb45b4-0fa1-4b93-b33d-97fa693956a3" providerId="ADAL" clId="{AE935442-7754-48C8-A8F7-F9AB4765280B}" dt="2026-06-30T12:42:01.270" v="244" actId="14100"/>
          <ac:picMkLst>
            <pc:docMk/>
            <pc:sldMk cId="613911173" sldId="424"/>
            <ac:picMk id="6" creationId="{92E265BB-A1DE-9A9D-679C-B8F9729B73C2}"/>
          </ac:picMkLst>
        </pc:picChg>
      </pc:sldChg>
      <pc:sldChg chg="modSp mod">
        <pc:chgData name="Andrea De Palma" userId="dbbb45b4-0fa1-4b93-b33d-97fa693956a3" providerId="ADAL" clId="{AE935442-7754-48C8-A8F7-F9AB4765280B}" dt="2026-06-30T12:48:19.926" v="258" actId="20577"/>
        <pc:sldMkLst>
          <pc:docMk/>
          <pc:sldMk cId="1241879634" sldId="427"/>
        </pc:sldMkLst>
        <pc:spChg chg="mod">
          <ac:chgData name="Andrea De Palma" userId="dbbb45b4-0fa1-4b93-b33d-97fa693956a3" providerId="ADAL" clId="{AE935442-7754-48C8-A8F7-F9AB4765280B}" dt="2026-06-30T12:48:19.926" v="258" actId="20577"/>
          <ac:spMkLst>
            <pc:docMk/>
            <pc:sldMk cId="1241879634" sldId="427"/>
            <ac:spMk id="2" creationId="{3E15B875-6D50-41E9-3329-BE7FBF7FE00F}"/>
          </ac:spMkLst>
        </pc:spChg>
        <pc:picChg chg="mod">
          <ac:chgData name="Andrea De Palma" userId="dbbb45b4-0fa1-4b93-b33d-97fa693956a3" providerId="ADAL" clId="{AE935442-7754-48C8-A8F7-F9AB4765280B}" dt="2026-06-30T12:46:35.019" v="255" actId="14100"/>
          <ac:picMkLst>
            <pc:docMk/>
            <pc:sldMk cId="1241879634" sldId="427"/>
            <ac:picMk id="6" creationId="{A8F77E66-1F9A-806C-6C51-C7F43D71F269}"/>
          </ac:picMkLst>
        </pc:picChg>
      </pc:sldChg>
      <pc:sldChg chg="modSp">
        <pc:chgData name="Andrea De Palma" userId="dbbb45b4-0fa1-4b93-b33d-97fa693956a3" providerId="ADAL" clId="{AE935442-7754-48C8-A8F7-F9AB4765280B}" dt="2026-06-30T12:45:52.776" v="248" actId="14826"/>
        <pc:sldMkLst>
          <pc:docMk/>
          <pc:sldMk cId="339709654" sldId="433"/>
        </pc:sldMkLst>
        <pc:picChg chg="mod">
          <ac:chgData name="Andrea De Palma" userId="dbbb45b4-0fa1-4b93-b33d-97fa693956a3" providerId="ADAL" clId="{AE935442-7754-48C8-A8F7-F9AB4765280B}" dt="2026-06-30T12:45:52.776" v="248" actId="14826"/>
          <ac:picMkLst>
            <pc:docMk/>
            <pc:sldMk cId="339709654" sldId="433"/>
            <ac:picMk id="4" creationId="{AAA14662-E060-DAA5-2DEC-2FCB3AF27D2E}"/>
          </ac:picMkLst>
        </pc:picChg>
      </pc:sldChg>
      <pc:sldChg chg="modSp add mod">
        <pc:chgData name="Andrea De Palma" userId="dbbb45b4-0fa1-4b93-b33d-97fa693956a3" providerId="ADAL" clId="{AE935442-7754-48C8-A8F7-F9AB4765280B}" dt="2026-06-30T09:54:59.221" v="67" actId="20577"/>
        <pc:sldMkLst>
          <pc:docMk/>
          <pc:sldMk cId="2364115613" sldId="441"/>
        </pc:sldMkLst>
        <pc:spChg chg="mod">
          <ac:chgData name="Andrea De Palma" userId="dbbb45b4-0fa1-4b93-b33d-97fa693956a3" providerId="ADAL" clId="{AE935442-7754-48C8-A8F7-F9AB4765280B}" dt="2026-06-30T09:54:59.221" v="67" actId="20577"/>
          <ac:spMkLst>
            <pc:docMk/>
            <pc:sldMk cId="2364115613" sldId="441"/>
            <ac:spMk id="2" creationId="{3F65EE90-EDA4-DC48-48C5-2853C6D07E10}"/>
          </ac:spMkLst>
        </pc:spChg>
      </pc:sldChg>
      <pc:sldChg chg="modSp add mod ord">
        <pc:chgData name="Andrea De Palma" userId="dbbb45b4-0fa1-4b93-b33d-97fa693956a3" providerId="ADAL" clId="{AE935442-7754-48C8-A8F7-F9AB4765280B}" dt="2026-07-03T08:27:02.360" v="1430"/>
        <pc:sldMkLst>
          <pc:docMk/>
          <pc:sldMk cId="914449678" sldId="442"/>
        </pc:sldMkLst>
        <pc:spChg chg="mod">
          <ac:chgData name="Andrea De Palma" userId="dbbb45b4-0fa1-4b93-b33d-97fa693956a3" providerId="ADAL" clId="{AE935442-7754-48C8-A8F7-F9AB4765280B}" dt="2026-06-30T09:55:24.460" v="83" actId="20577"/>
          <ac:spMkLst>
            <pc:docMk/>
            <pc:sldMk cId="914449678" sldId="442"/>
            <ac:spMk id="5" creationId="{00000000-0000-0000-0000-000000000000}"/>
          </ac:spMkLst>
        </pc:spChg>
      </pc:sldChg>
      <pc:sldChg chg="add">
        <pc:chgData name="Andrea De Palma" userId="dbbb45b4-0fa1-4b93-b33d-97fa693956a3" providerId="ADAL" clId="{AE935442-7754-48C8-A8F7-F9AB4765280B}" dt="2026-07-02T12:46:51.758" v="1187"/>
        <pc:sldMkLst>
          <pc:docMk/>
          <pc:sldMk cId="1733739424" sldId="443"/>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s>
</file>

<file path=ppt/diagrams/_rels/data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 Id="rId4" Type="http://schemas.openxmlformats.org/officeDocument/2006/relationships/image" Target="../media/image1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C49556-C6F7-4583-9803-1C2761BCB8C0}"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1F1A8D8A-684F-474D-830D-FDA9C8E82F18}">
      <dgm:prSet/>
      <dgm:spPr/>
      <dgm:t>
        <a:bodyPr/>
        <a:lstStyle/>
        <a:p>
          <a:r>
            <a:rPr lang="en-US" dirty="0"/>
            <a:t>Developed for and with older individuals to ensure face validity</a:t>
          </a:r>
        </a:p>
      </dgm:t>
    </dgm:pt>
    <dgm:pt modelId="{D8249075-FB5E-4D90-9B0C-8CDE664A744F}" type="parTrans" cxnId="{177944C0-E81D-41A4-85BF-744A3D60506E}">
      <dgm:prSet/>
      <dgm:spPr/>
      <dgm:t>
        <a:bodyPr/>
        <a:lstStyle/>
        <a:p>
          <a:endParaRPr lang="en-US"/>
        </a:p>
      </dgm:t>
    </dgm:pt>
    <dgm:pt modelId="{98086C22-ECCD-4389-9152-F0FBE013F540}" type="sibTrans" cxnId="{177944C0-E81D-41A4-85BF-744A3D60506E}">
      <dgm:prSet/>
      <dgm:spPr/>
      <dgm:t>
        <a:bodyPr/>
        <a:lstStyle/>
        <a:p>
          <a:endParaRPr lang="en-US"/>
        </a:p>
      </dgm:t>
    </dgm:pt>
    <dgm:pt modelId="{E1998E21-89A1-4C73-BF12-B3EB2BA2E61D}">
      <dgm:prSet/>
      <dgm:spPr/>
      <dgm:t>
        <a:bodyPr/>
        <a:lstStyle/>
        <a:p>
          <a:r>
            <a:rPr lang="en-US" dirty="0"/>
            <a:t>Equivalent or slightly superior psychometric performance in older populations</a:t>
          </a:r>
        </a:p>
      </dgm:t>
    </dgm:pt>
    <dgm:pt modelId="{BCF5A7FA-E27C-4CFC-9A2D-AD2AA64B9461}" type="parTrans" cxnId="{03D2C2E4-E618-47CF-9A75-D00E0975EFEE}">
      <dgm:prSet/>
      <dgm:spPr/>
      <dgm:t>
        <a:bodyPr/>
        <a:lstStyle/>
        <a:p>
          <a:endParaRPr lang="en-US"/>
        </a:p>
      </dgm:t>
    </dgm:pt>
    <dgm:pt modelId="{B749CBF2-42A1-4758-A043-57C6145C96A3}" type="sibTrans" cxnId="{03D2C2E4-E618-47CF-9A75-D00E0975EFEE}">
      <dgm:prSet/>
      <dgm:spPr/>
      <dgm:t>
        <a:bodyPr/>
        <a:lstStyle/>
        <a:p>
          <a:endParaRPr lang="en-US"/>
        </a:p>
      </dgm:t>
    </dgm:pt>
    <dgm:pt modelId="{67A457FC-F2AF-4267-A1B4-ED72E67A7230}">
      <dgm:prSet/>
      <dgm:spPr/>
      <dgm:t>
        <a:bodyPr/>
        <a:lstStyle/>
        <a:p>
          <a:r>
            <a:rPr lang="en-US" dirty="0"/>
            <a:t>Future research will focus on studying implementation in evaluations</a:t>
          </a:r>
        </a:p>
      </dgm:t>
    </dgm:pt>
    <dgm:pt modelId="{FF406CEF-B7D5-41C1-A415-09F005C995BA}" type="parTrans" cxnId="{B7000C3D-DA0D-4E29-A0E6-F8E2D1702013}">
      <dgm:prSet/>
      <dgm:spPr/>
      <dgm:t>
        <a:bodyPr/>
        <a:lstStyle/>
        <a:p>
          <a:endParaRPr lang="en-US"/>
        </a:p>
      </dgm:t>
    </dgm:pt>
    <dgm:pt modelId="{52B5D71E-51DB-4336-A495-06F24FF0C196}" type="sibTrans" cxnId="{B7000C3D-DA0D-4E29-A0E6-F8E2D1702013}">
      <dgm:prSet/>
      <dgm:spPr/>
      <dgm:t>
        <a:bodyPr/>
        <a:lstStyle/>
        <a:p>
          <a:endParaRPr lang="en-US"/>
        </a:p>
      </dgm:t>
    </dgm:pt>
    <dgm:pt modelId="{198C40C7-774A-4FE2-BF14-C82B0D36C11E}" type="pres">
      <dgm:prSet presAssocID="{DCC49556-C6F7-4583-9803-1C2761BCB8C0}" presName="root" presStyleCnt="0">
        <dgm:presLayoutVars>
          <dgm:dir/>
          <dgm:resizeHandles val="exact"/>
        </dgm:presLayoutVars>
      </dgm:prSet>
      <dgm:spPr/>
    </dgm:pt>
    <dgm:pt modelId="{C53551F1-9EE1-4854-8720-021120F9685F}" type="pres">
      <dgm:prSet presAssocID="{1F1A8D8A-684F-474D-830D-FDA9C8E82F18}" presName="compNode" presStyleCnt="0"/>
      <dgm:spPr/>
    </dgm:pt>
    <dgm:pt modelId="{670D23FE-8E42-4119-A30D-2BEC1543683E}" type="pres">
      <dgm:prSet presAssocID="{1F1A8D8A-684F-474D-830D-FDA9C8E82F18}" presName="iconRect" presStyleLbl="node1" presStyleIdx="0" presStyleCnt="3"/>
      <dgm:spPr>
        <a:blipFill rotWithShape="1">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Checklist with solid fill"/>
        </a:ext>
      </dgm:extLst>
    </dgm:pt>
    <dgm:pt modelId="{4D8DDEF4-C0A1-49B1-8A11-CE39E9078B01}" type="pres">
      <dgm:prSet presAssocID="{1F1A8D8A-684F-474D-830D-FDA9C8E82F18}" presName="spaceRect" presStyleCnt="0"/>
      <dgm:spPr/>
    </dgm:pt>
    <dgm:pt modelId="{B43A715F-62A4-4306-8633-637DE0546470}" type="pres">
      <dgm:prSet presAssocID="{1F1A8D8A-684F-474D-830D-FDA9C8E82F18}" presName="textRect" presStyleLbl="revTx" presStyleIdx="0" presStyleCnt="3">
        <dgm:presLayoutVars>
          <dgm:chMax val="1"/>
          <dgm:chPref val="1"/>
        </dgm:presLayoutVars>
      </dgm:prSet>
      <dgm:spPr/>
    </dgm:pt>
    <dgm:pt modelId="{799DA3B2-471E-4A4C-8410-211909E2271E}" type="pres">
      <dgm:prSet presAssocID="{98086C22-ECCD-4389-9152-F0FBE013F540}" presName="sibTrans" presStyleCnt="0"/>
      <dgm:spPr/>
    </dgm:pt>
    <dgm:pt modelId="{641E3F56-5D28-4071-9B5D-A3CD0AB2B5F5}" type="pres">
      <dgm:prSet presAssocID="{E1998E21-89A1-4C73-BF12-B3EB2BA2E61D}" presName="compNode" presStyleCnt="0"/>
      <dgm:spPr/>
    </dgm:pt>
    <dgm:pt modelId="{2C4C7F15-4867-437F-AAD1-EBE859D1D492}" type="pres">
      <dgm:prSet presAssocID="{E1998E21-89A1-4C73-BF12-B3EB2BA2E61D}" presName="iconRect" presStyleLbl="node1" presStyleIdx="1" presStyleCnt="3"/>
      <dgm:spPr>
        <a:blipFill rotWithShape="1">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Heart with pulse with solid fill"/>
        </a:ext>
      </dgm:extLst>
    </dgm:pt>
    <dgm:pt modelId="{1B334F7C-35F2-4433-98B5-10D0BD0DF45C}" type="pres">
      <dgm:prSet presAssocID="{E1998E21-89A1-4C73-BF12-B3EB2BA2E61D}" presName="spaceRect" presStyleCnt="0"/>
      <dgm:spPr/>
    </dgm:pt>
    <dgm:pt modelId="{AC66103C-F821-4D52-8171-4F526828A44E}" type="pres">
      <dgm:prSet presAssocID="{E1998E21-89A1-4C73-BF12-B3EB2BA2E61D}" presName="textRect" presStyleLbl="revTx" presStyleIdx="1" presStyleCnt="3">
        <dgm:presLayoutVars>
          <dgm:chMax val="1"/>
          <dgm:chPref val="1"/>
        </dgm:presLayoutVars>
      </dgm:prSet>
      <dgm:spPr/>
    </dgm:pt>
    <dgm:pt modelId="{7DF7BC33-A63A-4FA8-8781-26B2130AE9D2}" type="pres">
      <dgm:prSet presAssocID="{B749CBF2-42A1-4758-A043-57C6145C96A3}" presName="sibTrans" presStyleCnt="0"/>
      <dgm:spPr/>
    </dgm:pt>
    <dgm:pt modelId="{BB22265D-4CA7-47F2-8FBB-6A61CDE62A5F}" type="pres">
      <dgm:prSet presAssocID="{67A457FC-F2AF-4267-A1B4-ED72E67A7230}" presName="compNode" presStyleCnt="0"/>
      <dgm:spPr/>
    </dgm:pt>
    <dgm:pt modelId="{10E2E386-C7C2-40F9-B677-CAA4E8FE6707}" type="pres">
      <dgm:prSet presAssocID="{67A457FC-F2AF-4267-A1B4-ED72E67A7230}" presName="iconRect" presStyleLbl="node1" presStyleIdx="2"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Statistics with solid fill"/>
        </a:ext>
      </dgm:extLst>
    </dgm:pt>
    <dgm:pt modelId="{68ED96FD-300C-4085-90FD-E73DC18A8B3C}" type="pres">
      <dgm:prSet presAssocID="{67A457FC-F2AF-4267-A1B4-ED72E67A7230}" presName="spaceRect" presStyleCnt="0"/>
      <dgm:spPr/>
    </dgm:pt>
    <dgm:pt modelId="{436D0AE9-4DD0-4F7D-8B79-C1A759F92750}" type="pres">
      <dgm:prSet presAssocID="{67A457FC-F2AF-4267-A1B4-ED72E67A7230}" presName="textRect" presStyleLbl="revTx" presStyleIdx="2" presStyleCnt="3">
        <dgm:presLayoutVars>
          <dgm:chMax val="1"/>
          <dgm:chPref val="1"/>
        </dgm:presLayoutVars>
      </dgm:prSet>
      <dgm:spPr/>
    </dgm:pt>
  </dgm:ptLst>
  <dgm:cxnLst>
    <dgm:cxn modelId="{137F4039-C533-43EF-A45E-0A96A91650F5}" type="presOf" srcId="{1F1A8D8A-684F-474D-830D-FDA9C8E82F18}" destId="{B43A715F-62A4-4306-8633-637DE0546470}" srcOrd="0" destOrd="0" presId="urn:microsoft.com/office/officeart/2018/2/layout/IconLabelList"/>
    <dgm:cxn modelId="{B7000C3D-DA0D-4E29-A0E6-F8E2D1702013}" srcId="{DCC49556-C6F7-4583-9803-1C2761BCB8C0}" destId="{67A457FC-F2AF-4267-A1B4-ED72E67A7230}" srcOrd="2" destOrd="0" parTransId="{FF406CEF-B7D5-41C1-A415-09F005C995BA}" sibTransId="{52B5D71E-51DB-4336-A495-06F24FF0C196}"/>
    <dgm:cxn modelId="{AF5D2068-2101-4942-811E-3FC14DCC5365}" type="presOf" srcId="{67A457FC-F2AF-4267-A1B4-ED72E67A7230}" destId="{436D0AE9-4DD0-4F7D-8B79-C1A759F92750}" srcOrd="0" destOrd="0" presId="urn:microsoft.com/office/officeart/2018/2/layout/IconLabelList"/>
    <dgm:cxn modelId="{177944C0-E81D-41A4-85BF-744A3D60506E}" srcId="{DCC49556-C6F7-4583-9803-1C2761BCB8C0}" destId="{1F1A8D8A-684F-474D-830D-FDA9C8E82F18}" srcOrd="0" destOrd="0" parTransId="{D8249075-FB5E-4D90-9B0C-8CDE664A744F}" sibTransId="{98086C22-ECCD-4389-9152-F0FBE013F540}"/>
    <dgm:cxn modelId="{31AAF2CC-41BF-4F5D-974B-8B968F3C53A5}" type="presOf" srcId="{DCC49556-C6F7-4583-9803-1C2761BCB8C0}" destId="{198C40C7-774A-4FE2-BF14-C82B0D36C11E}" srcOrd="0" destOrd="0" presId="urn:microsoft.com/office/officeart/2018/2/layout/IconLabelList"/>
    <dgm:cxn modelId="{03D2C2E4-E618-47CF-9A75-D00E0975EFEE}" srcId="{DCC49556-C6F7-4583-9803-1C2761BCB8C0}" destId="{E1998E21-89A1-4C73-BF12-B3EB2BA2E61D}" srcOrd="1" destOrd="0" parTransId="{BCF5A7FA-E27C-4CFC-9A2D-AD2AA64B9461}" sibTransId="{B749CBF2-42A1-4758-A043-57C6145C96A3}"/>
    <dgm:cxn modelId="{5BC989FA-7B44-4B95-88BF-E69B264FDFF9}" type="presOf" srcId="{E1998E21-89A1-4C73-BF12-B3EB2BA2E61D}" destId="{AC66103C-F821-4D52-8171-4F526828A44E}" srcOrd="0" destOrd="0" presId="urn:microsoft.com/office/officeart/2018/2/layout/IconLabelList"/>
    <dgm:cxn modelId="{58632D83-F7D4-4626-897D-BE033631FFE8}" type="presParOf" srcId="{198C40C7-774A-4FE2-BF14-C82B0D36C11E}" destId="{C53551F1-9EE1-4854-8720-021120F9685F}" srcOrd="0" destOrd="0" presId="urn:microsoft.com/office/officeart/2018/2/layout/IconLabelList"/>
    <dgm:cxn modelId="{1896A840-3950-409C-A86F-6D1A9F733ADE}" type="presParOf" srcId="{C53551F1-9EE1-4854-8720-021120F9685F}" destId="{670D23FE-8E42-4119-A30D-2BEC1543683E}" srcOrd="0" destOrd="0" presId="urn:microsoft.com/office/officeart/2018/2/layout/IconLabelList"/>
    <dgm:cxn modelId="{5324B538-84EA-47F6-8CE8-6C6E25E00DC3}" type="presParOf" srcId="{C53551F1-9EE1-4854-8720-021120F9685F}" destId="{4D8DDEF4-C0A1-49B1-8A11-CE39E9078B01}" srcOrd="1" destOrd="0" presId="urn:microsoft.com/office/officeart/2018/2/layout/IconLabelList"/>
    <dgm:cxn modelId="{FBFA3BB8-364B-49ED-A54A-33DB1E688B8A}" type="presParOf" srcId="{C53551F1-9EE1-4854-8720-021120F9685F}" destId="{B43A715F-62A4-4306-8633-637DE0546470}" srcOrd="2" destOrd="0" presId="urn:microsoft.com/office/officeart/2018/2/layout/IconLabelList"/>
    <dgm:cxn modelId="{8EBA1F8C-236B-4E86-98A7-E60607268CC7}" type="presParOf" srcId="{198C40C7-774A-4FE2-BF14-C82B0D36C11E}" destId="{799DA3B2-471E-4A4C-8410-211909E2271E}" srcOrd="1" destOrd="0" presId="urn:microsoft.com/office/officeart/2018/2/layout/IconLabelList"/>
    <dgm:cxn modelId="{E542F80B-D0AB-4258-9E32-90356CF7E462}" type="presParOf" srcId="{198C40C7-774A-4FE2-BF14-C82B0D36C11E}" destId="{641E3F56-5D28-4071-9B5D-A3CD0AB2B5F5}" srcOrd="2" destOrd="0" presId="urn:microsoft.com/office/officeart/2018/2/layout/IconLabelList"/>
    <dgm:cxn modelId="{EC4FC617-1F39-4C99-A9A8-671D77D653AC}" type="presParOf" srcId="{641E3F56-5D28-4071-9B5D-A3CD0AB2B5F5}" destId="{2C4C7F15-4867-437F-AAD1-EBE859D1D492}" srcOrd="0" destOrd="0" presId="urn:microsoft.com/office/officeart/2018/2/layout/IconLabelList"/>
    <dgm:cxn modelId="{7EA61A93-A135-4C8B-8561-4F1EACE21B87}" type="presParOf" srcId="{641E3F56-5D28-4071-9B5D-A3CD0AB2B5F5}" destId="{1B334F7C-35F2-4433-98B5-10D0BD0DF45C}" srcOrd="1" destOrd="0" presId="urn:microsoft.com/office/officeart/2018/2/layout/IconLabelList"/>
    <dgm:cxn modelId="{B02CFBAD-28DD-496A-B861-87DE3206D7D3}" type="presParOf" srcId="{641E3F56-5D28-4071-9B5D-A3CD0AB2B5F5}" destId="{AC66103C-F821-4D52-8171-4F526828A44E}" srcOrd="2" destOrd="0" presId="urn:microsoft.com/office/officeart/2018/2/layout/IconLabelList"/>
    <dgm:cxn modelId="{96EA11A9-23BA-415C-A5A9-E7FBFD672C01}" type="presParOf" srcId="{198C40C7-774A-4FE2-BF14-C82B0D36C11E}" destId="{7DF7BC33-A63A-4FA8-8781-26B2130AE9D2}" srcOrd="3" destOrd="0" presId="urn:microsoft.com/office/officeart/2018/2/layout/IconLabelList"/>
    <dgm:cxn modelId="{1796B9E5-ED05-4DF5-A86B-A125E5EAD170}" type="presParOf" srcId="{198C40C7-774A-4FE2-BF14-C82B0D36C11E}" destId="{BB22265D-4CA7-47F2-8FBB-6A61CDE62A5F}" srcOrd="4" destOrd="0" presId="urn:microsoft.com/office/officeart/2018/2/layout/IconLabelList"/>
    <dgm:cxn modelId="{C21B532C-3090-479F-A0D5-360F3BBB4209}" type="presParOf" srcId="{BB22265D-4CA7-47F2-8FBB-6A61CDE62A5F}" destId="{10E2E386-C7C2-40F9-B677-CAA4E8FE6707}" srcOrd="0" destOrd="0" presId="urn:microsoft.com/office/officeart/2018/2/layout/IconLabelList"/>
    <dgm:cxn modelId="{3E5040A8-A6D5-4606-9171-4EAB83DA6410}" type="presParOf" srcId="{BB22265D-4CA7-47F2-8FBB-6A61CDE62A5F}" destId="{68ED96FD-300C-4085-90FD-E73DC18A8B3C}" srcOrd="1" destOrd="0" presId="urn:microsoft.com/office/officeart/2018/2/layout/IconLabelList"/>
    <dgm:cxn modelId="{7500A01F-D904-43CA-BB03-9CC8F4B88E14}" type="presParOf" srcId="{BB22265D-4CA7-47F2-8FBB-6A61CDE62A5F}" destId="{436D0AE9-4DD0-4F7D-8B79-C1A759F92750}"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F77678D-0371-4630-ADC2-7BB5B202AC2F}"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D1BAA542-7DE3-4975-BE20-1880B1FA65FD}">
      <dgm:prSet custT="1"/>
      <dgm:spPr/>
      <dgm:t>
        <a:bodyPr/>
        <a:lstStyle/>
        <a:p>
          <a:pPr>
            <a:lnSpc>
              <a:spcPct val="100000"/>
            </a:lnSpc>
            <a:defRPr cap="all"/>
          </a:pPr>
          <a:r>
            <a:rPr lang="en-US" sz="1100" u="none" cap="none" dirty="0"/>
            <a:t>Cross-sectional survey with follow-up measurement</a:t>
          </a:r>
        </a:p>
      </dgm:t>
    </dgm:pt>
    <dgm:pt modelId="{B507714C-08B8-4D8A-9256-9F439DB85938}" type="parTrans" cxnId="{E0CE1A97-CDD0-4636-B49E-0CCD2CF91BB9}">
      <dgm:prSet/>
      <dgm:spPr/>
      <dgm:t>
        <a:bodyPr/>
        <a:lstStyle/>
        <a:p>
          <a:endParaRPr lang="en-US"/>
        </a:p>
      </dgm:t>
    </dgm:pt>
    <dgm:pt modelId="{BA639638-D387-4AF0-B014-A377654BC6E5}" type="sibTrans" cxnId="{E0CE1A97-CDD0-4636-B49E-0CCD2CF91BB9}">
      <dgm:prSet/>
      <dgm:spPr/>
      <dgm:t>
        <a:bodyPr/>
        <a:lstStyle/>
        <a:p>
          <a:endParaRPr lang="en-US"/>
        </a:p>
      </dgm:t>
    </dgm:pt>
    <dgm:pt modelId="{0AA7A9BB-7824-4B1C-BF02-4278CF3299F8}">
      <dgm:prSet custT="1"/>
      <dgm:spPr/>
      <dgm:t>
        <a:bodyPr/>
        <a:lstStyle/>
        <a:p>
          <a:pPr>
            <a:lnSpc>
              <a:spcPct val="100000"/>
            </a:lnSpc>
            <a:defRPr cap="all"/>
          </a:pPr>
          <a:r>
            <a:rPr lang="en-US" sz="1100" cap="none" dirty="0"/>
            <a:t>7000 US and NL participants, with quotas for specific subgroups (general, older, targeted health conditions)</a:t>
          </a:r>
          <a:endParaRPr lang="en-US" sz="1100" b="0" cap="none" dirty="0"/>
        </a:p>
      </dgm:t>
    </dgm:pt>
    <dgm:pt modelId="{67CC9003-19C8-48EE-809C-66433C260B1D}" type="parTrans" cxnId="{A6B43FBD-7082-4406-83CE-FD65D807B4BC}">
      <dgm:prSet/>
      <dgm:spPr/>
      <dgm:t>
        <a:bodyPr/>
        <a:lstStyle/>
        <a:p>
          <a:endParaRPr lang="en-US"/>
        </a:p>
      </dgm:t>
    </dgm:pt>
    <dgm:pt modelId="{755550D5-1A19-4D64-BC92-590A38D0A0A8}" type="sibTrans" cxnId="{A6B43FBD-7082-4406-83CE-FD65D807B4BC}">
      <dgm:prSet/>
      <dgm:spPr/>
      <dgm:t>
        <a:bodyPr/>
        <a:lstStyle/>
        <a:p>
          <a:endParaRPr lang="en-US"/>
        </a:p>
      </dgm:t>
    </dgm:pt>
    <dgm:pt modelId="{0049B0B6-F613-4CF4-A24A-FB2EE59D8AED}">
      <dgm:prSet custT="1"/>
      <dgm:spPr/>
      <dgm:t>
        <a:bodyPr/>
        <a:lstStyle/>
        <a:p>
          <a:pPr>
            <a:lnSpc>
              <a:spcPct val="100000"/>
            </a:lnSpc>
            <a:defRPr cap="all"/>
          </a:pPr>
          <a:r>
            <a:rPr lang="en-US" sz="1100" cap="none" dirty="0" err="1"/>
            <a:t>Dynata</a:t>
          </a:r>
          <a:r>
            <a:rPr lang="en-US" sz="1100" cap="none" dirty="0"/>
            <a:t> hosted and recruited participants</a:t>
          </a:r>
        </a:p>
      </dgm:t>
    </dgm:pt>
    <dgm:pt modelId="{BA0AC5C2-4411-420F-ABC2-0B29B682CA3D}" type="parTrans" cxnId="{25F826D8-569A-488F-AEEE-6E7E99FA22BE}">
      <dgm:prSet/>
      <dgm:spPr/>
      <dgm:t>
        <a:bodyPr/>
        <a:lstStyle/>
        <a:p>
          <a:endParaRPr lang="LID4096"/>
        </a:p>
      </dgm:t>
    </dgm:pt>
    <dgm:pt modelId="{03863531-F48F-432A-9DFB-1794883111E1}" type="sibTrans" cxnId="{25F826D8-569A-488F-AEEE-6E7E99FA22BE}">
      <dgm:prSet/>
      <dgm:spPr/>
      <dgm:t>
        <a:bodyPr/>
        <a:lstStyle/>
        <a:p>
          <a:endParaRPr lang="LID4096"/>
        </a:p>
      </dgm:t>
    </dgm:pt>
    <dgm:pt modelId="{049B1F7D-9281-42A8-B0E6-99F01D029BB1}">
      <dgm:prSet custT="1"/>
      <dgm:spPr/>
      <dgm:t>
        <a:bodyPr/>
        <a:lstStyle/>
        <a:p>
          <a:pPr>
            <a:lnSpc>
              <a:spcPct val="100000"/>
            </a:lnSpc>
            <a:defRPr cap="all"/>
          </a:pPr>
          <a:r>
            <a:rPr lang="en-US" sz="1100" cap="none" dirty="0"/>
            <a:t>Demographics (Module A), Well-being instruments (Module B), Clinical severity (Module C), General health (Module D), General well-being (Module E)</a:t>
          </a:r>
        </a:p>
      </dgm:t>
    </dgm:pt>
    <dgm:pt modelId="{56D6E549-6157-483F-9195-08A8234B34F9}" type="parTrans" cxnId="{7468DE88-E3F2-459D-9408-253A96FF7212}">
      <dgm:prSet/>
      <dgm:spPr/>
      <dgm:t>
        <a:bodyPr/>
        <a:lstStyle/>
        <a:p>
          <a:endParaRPr lang="LID4096"/>
        </a:p>
      </dgm:t>
    </dgm:pt>
    <dgm:pt modelId="{0E8E8637-B37A-4441-9B9D-03262F3649C8}" type="sibTrans" cxnId="{7468DE88-E3F2-459D-9408-253A96FF7212}">
      <dgm:prSet/>
      <dgm:spPr/>
      <dgm:t>
        <a:bodyPr/>
        <a:lstStyle/>
        <a:p>
          <a:endParaRPr lang="LID4096"/>
        </a:p>
      </dgm:t>
    </dgm:pt>
    <dgm:pt modelId="{BBF6BF37-2BD7-44CE-A60B-7F57B503BEE0}" type="pres">
      <dgm:prSet presAssocID="{2F77678D-0371-4630-ADC2-7BB5B202AC2F}" presName="root" presStyleCnt="0">
        <dgm:presLayoutVars>
          <dgm:dir/>
          <dgm:resizeHandles val="exact"/>
        </dgm:presLayoutVars>
      </dgm:prSet>
      <dgm:spPr/>
    </dgm:pt>
    <dgm:pt modelId="{2C2D2334-6235-4824-A0C9-433311C726C9}" type="pres">
      <dgm:prSet presAssocID="{D1BAA542-7DE3-4975-BE20-1880B1FA65FD}" presName="compNode" presStyleCnt="0"/>
      <dgm:spPr/>
    </dgm:pt>
    <dgm:pt modelId="{DFB1E958-D3DF-4C96-95B5-A9ED077BFBED}" type="pres">
      <dgm:prSet presAssocID="{D1BAA542-7DE3-4975-BE20-1880B1FA65FD}" presName="iconBgRect" presStyleLbl="bgShp" presStyleIdx="0" presStyleCnt="4"/>
      <dgm:spPr/>
    </dgm:pt>
    <dgm:pt modelId="{1F829F06-730A-4663-AE00-5B682949F0F4}" type="pres">
      <dgm:prSet presAssocID="{D1BAA542-7DE3-4975-BE20-1880B1FA65FD}" presName="iconRect" presStyleLbl="node1" presStyleIdx="0" presStyleCnt="4"/>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Ui Ux with solid fill"/>
        </a:ext>
      </dgm:extLst>
    </dgm:pt>
    <dgm:pt modelId="{F93603CB-C8FD-48F8-A9FD-F498A9FA617F}" type="pres">
      <dgm:prSet presAssocID="{D1BAA542-7DE3-4975-BE20-1880B1FA65FD}" presName="spaceRect" presStyleCnt="0"/>
      <dgm:spPr/>
    </dgm:pt>
    <dgm:pt modelId="{CA39ED06-E50D-4B8F-B46F-932D2668C39C}" type="pres">
      <dgm:prSet presAssocID="{D1BAA542-7DE3-4975-BE20-1880B1FA65FD}" presName="textRect" presStyleLbl="revTx" presStyleIdx="0" presStyleCnt="4">
        <dgm:presLayoutVars>
          <dgm:chMax val="1"/>
          <dgm:chPref val="1"/>
        </dgm:presLayoutVars>
      </dgm:prSet>
      <dgm:spPr/>
    </dgm:pt>
    <dgm:pt modelId="{7C9A629C-3108-4648-8510-6D2F8ED83A07}" type="pres">
      <dgm:prSet presAssocID="{BA639638-D387-4AF0-B014-A377654BC6E5}" presName="sibTrans" presStyleCnt="0"/>
      <dgm:spPr/>
    </dgm:pt>
    <dgm:pt modelId="{337191E0-8397-49AF-8C48-716D4DFB88F6}" type="pres">
      <dgm:prSet presAssocID="{0AA7A9BB-7824-4B1C-BF02-4278CF3299F8}" presName="compNode" presStyleCnt="0"/>
      <dgm:spPr/>
    </dgm:pt>
    <dgm:pt modelId="{B3D78F0F-5BA8-4D81-BBB3-FDA42BFA0EEE}" type="pres">
      <dgm:prSet presAssocID="{0AA7A9BB-7824-4B1C-BF02-4278CF3299F8}" presName="iconBgRect" presStyleLbl="bgShp" presStyleIdx="1" presStyleCnt="4"/>
      <dgm:spPr/>
    </dgm:pt>
    <dgm:pt modelId="{AEC19993-CAE1-449C-A1FD-EE5E9947A967}" type="pres">
      <dgm:prSet presAssocID="{0AA7A9BB-7824-4B1C-BF02-4278CF3299F8}" presName="iconRect" presStyleLbl="node1" presStyleIdx="1" presStyleCnt="4"/>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Group with solid fill"/>
        </a:ext>
      </dgm:extLst>
    </dgm:pt>
    <dgm:pt modelId="{3F92600D-854C-49CA-899A-78C5BEB406B6}" type="pres">
      <dgm:prSet presAssocID="{0AA7A9BB-7824-4B1C-BF02-4278CF3299F8}" presName="spaceRect" presStyleCnt="0"/>
      <dgm:spPr/>
    </dgm:pt>
    <dgm:pt modelId="{9785C12A-9539-4464-8C2A-A98109C8560B}" type="pres">
      <dgm:prSet presAssocID="{0AA7A9BB-7824-4B1C-BF02-4278CF3299F8}" presName="textRect" presStyleLbl="revTx" presStyleIdx="1" presStyleCnt="4">
        <dgm:presLayoutVars>
          <dgm:chMax val="1"/>
          <dgm:chPref val="1"/>
        </dgm:presLayoutVars>
      </dgm:prSet>
      <dgm:spPr/>
    </dgm:pt>
    <dgm:pt modelId="{CF9D96DC-570D-40E3-8561-BABCA7FF4ABB}" type="pres">
      <dgm:prSet presAssocID="{755550D5-1A19-4D64-BC92-590A38D0A0A8}" presName="sibTrans" presStyleCnt="0"/>
      <dgm:spPr/>
    </dgm:pt>
    <dgm:pt modelId="{332EA3EA-D1F6-400E-9448-9CCDD9541C7F}" type="pres">
      <dgm:prSet presAssocID="{049B1F7D-9281-42A8-B0E6-99F01D029BB1}" presName="compNode" presStyleCnt="0"/>
      <dgm:spPr/>
    </dgm:pt>
    <dgm:pt modelId="{4A640C46-4883-4811-A235-4BA4A2CEF0B7}" type="pres">
      <dgm:prSet presAssocID="{049B1F7D-9281-42A8-B0E6-99F01D029BB1}" presName="iconBgRect" presStyleLbl="bgShp" presStyleIdx="2" presStyleCnt="4"/>
      <dgm:spPr/>
    </dgm:pt>
    <dgm:pt modelId="{D35FFD93-E3BB-42DF-A3E1-A8C7B889D6BE}" type="pres">
      <dgm:prSet presAssocID="{049B1F7D-9281-42A8-B0E6-99F01D029BB1}" presName="iconRect" presStyleLbl="node1" presStyleIdx="2" presStyleCnt="4"/>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List with solid fill"/>
        </a:ext>
      </dgm:extLst>
    </dgm:pt>
    <dgm:pt modelId="{9442BCD6-30D9-454D-83D1-79B173C849A4}" type="pres">
      <dgm:prSet presAssocID="{049B1F7D-9281-42A8-B0E6-99F01D029BB1}" presName="spaceRect" presStyleCnt="0"/>
      <dgm:spPr/>
    </dgm:pt>
    <dgm:pt modelId="{880DB5F7-4370-41F2-A6AF-F8E0A31CC79A}" type="pres">
      <dgm:prSet presAssocID="{049B1F7D-9281-42A8-B0E6-99F01D029BB1}" presName="textRect" presStyleLbl="revTx" presStyleIdx="2" presStyleCnt="4" custScaleX="128269" custLinFactNeighborX="0" custLinFactNeighborY="-2028">
        <dgm:presLayoutVars>
          <dgm:chMax val="1"/>
          <dgm:chPref val="1"/>
        </dgm:presLayoutVars>
      </dgm:prSet>
      <dgm:spPr/>
    </dgm:pt>
    <dgm:pt modelId="{7B5F6990-26F4-4735-AE6E-D274D5B8099A}" type="pres">
      <dgm:prSet presAssocID="{0E8E8637-B37A-4441-9B9D-03262F3649C8}" presName="sibTrans" presStyleCnt="0"/>
      <dgm:spPr/>
    </dgm:pt>
    <dgm:pt modelId="{CA930894-0621-4878-9538-AB61BEA9C5A7}" type="pres">
      <dgm:prSet presAssocID="{0049B0B6-F613-4CF4-A24A-FB2EE59D8AED}" presName="compNode" presStyleCnt="0"/>
      <dgm:spPr/>
    </dgm:pt>
    <dgm:pt modelId="{9ABBF986-0F25-462F-980B-460A660F9190}" type="pres">
      <dgm:prSet presAssocID="{0049B0B6-F613-4CF4-A24A-FB2EE59D8AED}" presName="iconBgRect" presStyleLbl="bgShp" presStyleIdx="3" presStyleCnt="4"/>
      <dgm:spPr/>
    </dgm:pt>
    <dgm:pt modelId="{BF4DE8EE-4CFB-4AC7-8FE5-9E7595F568FE}" type="pres">
      <dgm:prSet presAssocID="{0049B0B6-F613-4CF4-A24A-FB2EE59D8AED}" presName="iconRect" presStyleLbl="node1" presStyleIdx="3" presStyleCnt="4"/>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Internet with solid fill"/>
        </a:ext>
      </dgm:extLst>
    </dgm:pt>
    <dgm:pt modelId="{96466E0E-252E-46A0-879E-1AD78021A3B4}" type="pres">
      <dgm:prSet presAssocID="{0049B0B6-F613-4CF4-A24A-FB2EE59D8AED}" presName="spaceRect" presStyleCnt="0"/>
      <dgm:spPr/>
    </dgm:pt>
    <dgm:pt modelId="{97FB75D4-2B99-4F4E-AD9B-437636C197EF}" type="pres">
      <dgm:prSet presAssocID="{0049B0B6-F613-4CF4-A24A-FB2EE59D8AED}" presName="textRect" presStyleLbl="revTx" presStyleIdx="3" presStyleCnt="4">
        <dgm:presLayoutVars>
          <dgm:chMax val="1"/>
          <dgm:chPref val="1"/>
        </dgm:presLayoutVars>
      </dgm:prSet>
      <dgm:spPr/>
    </dgm:pt>
  </dgm:ptLst>
  <dgm:cxnLst>
    <dgm:cxn modelId="{7468DE88-E3F2-459D-9408-253A96FF7212}" srcId="{2F77678D-0371-4630-ADC2-7BB5B202AC2F}" destId="{049B1F7D-9281-42A8-B0E6-99F01D029BB1}" srcOrd="2" destOrd="0" parTransId="{56D6E549-6157-483F-9195-08A8234B34F9}" sibTransId="{0E8E8637-B37A-4441-9B9D-03262F3649C8}"/>
    <dgm:cxn modelId="{E0CE1A97-CDD0-4636-B49E-0CCD2CF91BB9}" srcId="{2F77678D-0371-4630-ADC2-7BB5B202AC2F}" destId="{D1BAA542-7DE3-4975-BE20-1880B1FA65FD}" srcOrd="0" destOrd="0" parTransId="{B507714C-08B8-4D8A-9256-9F439DB85938}" sibTransId="{BA639638-D387-4AF0-B014-A377654BC6E5}"/>
    <dgm:cxn modelId="{AA4B029F-0089-4F7F-BBDC-9E28AB42C030}" type="presOf" srcId="{0AA7A9BB-7824-4B1C-BF02-4278CF3299F8}" destId="{9785C12A-9539-4464-8C2A-A98109C8560B}" srcOrd="0" destOrd="0" presId="urn:microsoft.com/office/officeart/2018/5/layout/IconCircleLabelList"/>
    <dgm:cxn modelId="{6636C6B5-A04C-4A93-8945-5F7D08AD5121}" type="presOf" srcId="{0049B0B6-F613-4CF4-A24A-FB2EE59D8AED}" destId="{97FB75D4-2B99-4F4E-AD9B-437636C197EF}" srcOrd="0" destOrd="0" presId="urn:microsoft.com/office/officeart/2018/5/layout/IconCircleLabelList"/>
    <dgm:cxn modelId="{A6B43FBD-7082-4406-83CE-FD65D807B4BC}" srcId="{2F77678D-0371-4630-ADC2-7BB5B202AC2F}" destId="{0AA7A9BB-7824-4B1C-BF02-4278CF3299F8}" srcOrd="1" destOrd="0" parTransId="{67CC9003-19C8-48EE-809C-66433C260B1D}" sibTransId="{755550D5-1A19-4D64-BC92-590A38D0A0A8}"/>
    <dgm:cxn modelId="{25F826D8-569A-488F-AEEE-6E7E99FA22BE}" srcId="{2F77678D-0371-4630-ADC2-7BB5B202AC2F}" destId="{0049B0B6-F613-4CF4-A24A-FB2EE59D8AED}" srcOrd="3" destOrd="0" parTransId="{BA0AC5C2-4411-420F-ABC2-0B29B682CA3D}" sibTransId="{03863531-F48F-432A-9DFB-1794883111E1}"/>
    <dgm:cxn modelId="{B87FDEEC-8C10-4A8C-AF7E-DE5D9E60CE05}" type="presOf" srcId="{2F77678D-0371-4630-ADC2-7BB5B202AC2F}" destId="{BBF6BF37-2BD7-44CE-A60B-7F57B503BEE0}" srcOrd="0" destOrd="0" presId="urn:microsoft.com/office/officeart/2018/5/layout/IconCircleLabelList"/>
    <dgm:cxn modelId="{B5B9DEFB-D9BE-44E6-957D-BC0BBF510047}" type="presOf" srcId="{D1BAA542-7DE3-4975-BE20-1880B1FA65FD}" destId="{CA39ED06-E50D-4B8F-B46F-932D2668C39C}" srcOrd="0" destOrd="0" presId="urn:microsoft.com/office/officeart/2018/5/layout/IconCircleLabelList"/>
    <dgm:cxn modelId="{CB323BFD-E1FF-4FD0-9BE5-F688C6970352}" type="presOf" srcId="{049B1F7D-9281-42A8-B0E6-99F01D029BB1}" destId="{880DB5F7-4370-41F2-A6AF-F8E0A31CC79A}" srcOrd="0" destOrd="0" presId="urn:microsoft.com/office/officeart/2018/5/layout/IconCircleLabelList"/>
    <dgm:cxn modelId="{13506782-3086-4129-B13C-8988F517CF9F}" type="presParOf" srcId="{BBF6BF37-2BD7-44CE-A60B-7F57B503BEE0}" destId="{2C2D2334-6235-4824-A0C9-433311C726C9}" srcOrd="0" destOrd="0" presId="urn:microsoft.com/office/officeart/2018/5/layout/IconCircleLabelList"/>
    <dgm:cxn modelId="{4C8D4AE1-2760-4725-B4D6-75B3A6300D43}" type="presParOf" srcId="{2C2D2334-6235-4824-A0C9-433311C726C9}" destId="{DFB1E958-D3DF-4C96-95B5-A9ED077BFBED}" srcOrd="0" destOrd="0" presId="urn:microsoft.com/office/officeart/2018/5/layout/IconCircleLabelList"/>
    <dgm:cxn modelId="{F6E9F964-3307-440F-BA14-AA593B72A30B}" type="presParOf" srcId="{2C2D2334-6235-4824-A0C9-433311C726C9}" destId="{1F829F06-730A-4663-AE00-5B682949F0F4}" srcOrd="1" destOrd="0" presId="urn:microsoft.com/office/officeart/2018/5/layout/IconCircleLabelList"/>
    <dgm:cxn modelId="{51D500DA-481E-410E-83E0-67A197C37244}" type="presParOf" srcId="{2C2D2334-6235-4824-A0C9-433311C726C9}" destId="{F93603CB-C8FD-48F8-A9FD-F498A9FA617F}" srcOrd="2" destOrd="0" presId="urn:microsoft.com/office/officeart/2018/5/layout/IconCircleLabelList"/>
    <dgm:cxn modelId="{EFC21C20-6B4E-4AE2-9C5C-C84CF5972343}" type="presParOf" srcId="{2C2D2334-6235-4824-A0C9-433311C726C9}" destId="{CA39ED06-E50D-4B8F-B46F-932D2668C39C}" srcOrd="3" destOrd="0" presId="urn:microsoft.com/office/officeart/2018/5/layout/IconCircleLabelList"/>
    <dgm:cxn modelId="{B81F2373-26E6-4715-99E4-8405FF4FF7A7}" type="presParOf" srcId="{BBF6BF37-2BD7-44CE-A60B-7F57B503BEE0}" destId="{7C9A629C-3108-4648-8510-6D2F8ED83A07}" srcOrd="1" destOrd="0" presId="urn:microsoft.com/office/officeart/2018/5/layout/IconCircleLabelList"/>
    <dgm:cxn modelId="{2603B1B2-1C8D-4C56-B477-C85A56B8C0D8}" type="presParOf" srcId="{BBF6BF37-2BD7-44CE-A60B-7F57B503BEE0}" destId="{337191E0-8397-49AF-8C48-716D4DFB88F6}" srcOrd="2" destOrd="0" presId="urn:microsoft.com/office/officeart/2018/5/layout/IconCircleLabelList"/>
    <dgm:cxn modelId="{954ACFDF-C6D8-4991-A14C-549F96A1A4B7}" type="presParOf" srcId="{337191E0-8397-49AF-8C48-716D4DFB88F6}" destId="{B3D78F0F-5BA8-4D81-BBB3-FDA42BFA0EEE}" srcOrd="0" destOrd="0" presId="urn:microsoft.com/office/officeart/2018/5/layout/IconCircleLabelList"/>
    <dgm:cxn modelId="{0A4DBC89-446C-4331-B84E-EE1675B8CAE0}" type="presParOf" srcId="{337191E0-8397-49AF-8C48-716D4DFB88F6}" destId="{AEC19993-CAE1-449C-A1FD-EE5E9947A967}" srcOrd="1" destOrd="0" presId="urn:microsoft.com/office/officeart/2018/5/layout/IconCircleLabelList"/>
    <dgm:cxn modelId="{090F8093-AC89-4624-B336-1195B3A794AC}" type="presParOf" srcId="{337191E0-8397-49AF-8C48-716D4DFB88F6}" destId="{3F92600D-854C-49CA-899A-78C5BEB406B6}" srcOrd="2" destOrd="0" presId="urn:microsoft.com/office/officeart/2018/5/layout/IconCircleLabelList"/>
    <dgm:cxn modelId="{ED749858-4B90-4A40-9923-EBAB45E26913}" type="presParOf" srcId="{337191E0-8397-49AF-8C48-716D4DFB88F6}" destId="{9785C12A-9539-4464-8C2A-A98109C8560B}" srcOrd="3" destOrd="0" presId="urn:microsoft.com/office/officeart/2018/5/layout/IconCircleLabelList"/>
    <dgm:cxn modelId="{81EBA8A8-E26A-4FDD-8E94-BA8EB0DFAA79}" type="presParOf" srcId="{BBF6BF37-2BD7-44CE-A60B-7F57B503BEE0}" destId="{CF9D96DC-570D-40E3-8561-BABCA7FF4ABB}" srcOrd="3" destOrd="0" presId="urn:microsoft.com/office/officeart/2018/5/layout/IconCircleLabelList"/>
    <dgm:cxn modelId="{FFA9CDBB-177D-4C83-B809-A095341372AD}" type="presParOf" srcId="{BBF6BF37-2BD7-44CE-A60B-7F57B503BEE0}" destId="{332EA3EA-D1F6-400E-9448-9CCDD9541C7F}" srcOrd="4" destOrd="0" presId="urn:microsoft.com/office/officeart/2018/5/layout/IconCircleLabelList"/>
    <dgm:cxn modelId="{CA6B497A-5E24-40B6-983C-511BA669605E}" type="presParOf" srcId="{332EA3EA-D1F6-400E-9448-9CCDD9541C7F}" destId="{4A640C46-4883-4811-A235-4BA4A2CEF0B7}" srcOrd="0" destOrd="0" presId="urn:microsoft.com/office/officeart/2018/5/layout/IconCircleLabelList"/>
    <dgm:cxn modelId="{A0EEFAB4-317D-480C-B7E2-D90BD5067FB5}" type="presParOf" srcId="{332EA3EA-D1F6-400E-9448-9CCDD9541C7F}" destId="{D35FFD93-E3BB-42DF-A3E1-A8C7B889D6BE}" srcOrd="1" destOrd="0" presId="urn:microsoft.com/office/officeart/2018/5/layout/IconCircleLabelList"/>
    <dgm:cxn modelId="{EECCE475-0D75-4460-8774-CCB8822F7A32}" type="presParOf" srcId="{332EA3EA-D1F6-400E-9448-9CCDD9541C7F}" destId="{9442BCD6-30D9-454D-83D1-79B173C849A4}" srcOrd="2" destOrd="0" presId="urn:microsoft.com/office/officeart/2018/5/layout/IconCircleLabelList"/>
    <dgm:cxn modelId="{632D3FC1-4364-4E5D-851A-FB3DD40975CE}" type="presParOf" srcId="{332EA3EA-D1F6-400E-9448-9CCDD9541C7F}" destId="{880DB5F7-4370-41F2-A6AF-F8E0A31CC79A}" srcOrd="3" destOrd="0" presId="urn:microsoft.com/office/officeart/2018/5/layout/IconCircleLabelList"/>
    <dgm:cxn modelId="{87E4B560-206B-4ADB-8FEA-268DCB2A3167}" type="presParOf" srcId="{BBF6BF37-2BD7-44CE-A60B-7F57B503BEE0}" destId="{7B5F6990-26F4-4735-AE6E-D274D5B8099A}" srcOrd="5" destOrd="0" presId="urn:microsoft.com/office/officeart/2018/5/layout/IconCircleLabelList"/>
    <dgm:cxn modelId="{A4D4CEA2-1D9B-4A73-91A9-CBBBB4AB719C}" type="presParOf" srcId="{BBF6BF37-2BD7-44CE-A60B-7F57B503BEE0}" destId="{CA930894-0621-4878-9538-AB61BEA9C5A7}" srcOrd="6" destOrd="0" presId="urn:microsoft.com/office/officeart/2018/5/layout/IconCircleLabelList"/>
    <dgm:cxn modelId="{3DA2106B-8845-4243-A9D3-BE087424CDC8}" type="presParOf" srcId="{CA930894-0621-4878-9538-AB61BEA9C5A7}" destId="{9ABBF986-0F25-462F-980B-460A660F9190}" srcOrd="0" destOrd="0" presId="urn:microsoft.com/office/officeart/2018/5/layout/IconCircleLabelList"/>
    <dgm:cxn modelId="{122DCFCD-69D5-42FC-8E2B-FDFF80BE1D65}" type="presParOf" srcId="{CA930894-0621-4878-9538-AB61BEA9C5A7}" destId="{BF4DE8EE-4CFB-4AC7-8FE5-9E7595F568FE}" srcOrd="1" destOrd="0" presId="urn:microsoft.com/office/officeart/2018/5/layout/IconCircleLabelList"/>
    <dgm:cxn modelId="{F8B16E08-A216-47A0-9785-BA3DF7F88402}" type="presParOf" srcId="{CA930894-0621-4878-9538-AB61BEA9C5A7}" destId="{96466E0E-252E-46A0-879E-1AD78021A3B4}" srcOrd="2" destOrd="0" presId="urn:microsoft.com/office/officeart/2018/5/layout/IconCircleLabelList"/>
    <dgm:cxn modelId="{117AF41E-367E-4703-BE20-91562EDC46B5}" type="presParOf" srcId="{CA930894-0621-4878-9538-AB61BEA9C5A7}" destId="{97FB75D4-2B99-4F4E-AD9B-437636C197EF}"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0D23FE-8E42-4119-A30D-2BEC1543683E}">
      <dsp:nvSpPr>
        <dsp:cNvPr id="0" name=""/>
        <dsp:cNvSpPr/>
      </dsp:nvSpPr>
      <dsp:spPr>
        <a:xfrm>
          <a:off x="729674" y="615789"/>
          <a:ext cx="1078818" cy="1078818"/>
        </a:xfrm>
        <a:prstGeom prst="rect">
          <a:avLst/>
        </a:prstGeom>
        <a:blipFill rotWithShape="1">
          <a:blip xmlns:r="http://schemas.openxmlformats.org/officeDocument/2006/relationships">
            <a:extLst>
              <a:ext uri="{96DAC541-7B7A-43D3-8B79-37D633B846F1}">
                <asvg:svgBlip xmlns:asvg="http://schemas.microsoft.com/office/drawing/2016/SVG/main" r:embed="rId1"/>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43A715F-62A4-4306-8633-637DE0546470}">
      <dsp:nvSpPr>
        <dsp:cNvPr id="0" name=""/>
        <dsp:cNvSpPr/>
      </dsp:nvSpPr>
      <dsp:spPr>
        <a:xfrm>
          <a:off x="70396" y="2012210"/>
          <a:ext cx="23973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dirty="0"/>
            <a:t>Developed for and with older individuals to ensure face validity</a:t>
          </a:r>
        </a:p>
      </dsp:txBody>
      <dsp:txXfrm>
        <a:off x="70396" y="2012210"/>
        <a:ext cx="2397375" cy="720000"/>
      </dsp:txXfrm>
    </dsp:sp>
    <dsp:sp modelId="{2C4C7F15-4867-437F-AAD1-EBE859D1D492}">
      <dsp:nvSpPr>
        <dsp:cNvPr id="0" name=""/>
        <dsp:cNvSpPr/>
      </dsp:nvSpPr>
      <dsp:spPr>
        <a:xfrm>
          <a:off x="3546590" y="615789"/>
          <a:ext cx="1078818" cy="1078818"/>
        </a:xfrm>
        <a:prstGeom prst="rect">
          <a:avLst/>
        </a:prstGeom>
        <a:blipFill rotWithShape="1">
          <a:blip xmlns:r="http://schemas.openxmlformats.org/officeDocument/2006/relationships">
            <a:extLs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C66103C-F821-4D52-8171-4F526828A44E}">
      <dsp:nvSpPr>
        <dsp:cNvPr id="0" name=""/>
        <dsp:cNvSpPr/>
      </dsp:nvSpPr>
      <dsp:spPr>
        <a:xfrm>
          <a:off x="2887312" y="2012210"/>
          <a:ext cx="23973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dirty="0"/>
            <a:t>Equivalent or slightly superior psychometric performance in older populations</a:t>
          </a:r>
        </a:p>
      </dsp:txBody>
      <dsp:txXfrm>
        <a:off x="2887312" y="2012210"/>
        <a:ext cx="2397375" cy="720000"/>
      </dsp:txXfrm>
    </dsp:sp>
    <dsp:sp modelId="{10E2E386-C7C2-40F9-B677-CAA4E8FE6707}">
      <dsp:nvSpPr>
        <dsp:cNvPr id="0" name=""/>
        <dsp:cNvSpPr/>
      </dsp:nvSpPr>
      <dsp:spPr>
        <a:xfrm>
          <a:off x="6363506" y="615789"/>
          <a:ext cx="1078818" cy="1078818"/>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36D0AE9-4DD0-4F7D-8B79-C1A759F92750}">
      <dsp:nvSpPr>
        <dsp:cNvPr id="0" name=""/>
        <dsp:cNvSpPr/>
      </dsp:nvSpPr>
      <dsp:spPr>
        <a:xfrm>
          <a:off x="5704228" y="2012210"/>
          <a:ext cx="23973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dirty="0"/>
            <a:t>Future research will focus on studying implementation in evaluations</a:t>
          </a:r>
        </a:p>
      </dsp:txBody>
      <dsp:txXfrm>
        <a:off x="5704228" y="2012210"/>
        <a:ext cx="2397375"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B1E958-D3DF-4C96-95B5-A9ED077BFBED}">
      <dsp:nvSpPr>
        <dsp:cNvPr id="0" name=""/>
        <dsp:cNvSpPr/>
      </dsp:nvSpPr>
      <dsp:spPr>
        <a:xfrm>
          <a:off x="343703" y="541615"/>
          <a:ext cx="1074410" cy="107441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829F06-730A-4663-AE00-5B682949F0F4}">
      <dsp:nvSpPr>
        <dsp:cNvPr id="0" name=""/>
        <dsp:cNvSpPr/>
      </dsp:nvSpPr>
      <dsp:spPr>
        <a:xfrm>
          <a:off x="572676" y="770588"/>
          <a:ext cx="616464" cy="616464"/>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A39ED06-E50D-4B8F-B46F-932D2668C39C}">
      <dsp:nvSpPr>
        <dsp:cNvPr id="0" name=""/>
        <dsp:cNvSpPr/>
      </dsp:nvSpPr>
      <dsp:spPr>
        <a:xfrm>
          <a:off x="244" y="1950678"/>
          <a:ext cx="1761328" cy="855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u="none" kern="1200" cap="none" dirty="0"/>
            <a:t>Cross-sectional survey with follow-up measurement</a:t>
          </a:r>
        </a:p>
      </dsp:txBody>
      <dsp:txXfrm>
        <a:off x="244" y="1950678"/>
        <a:ext cx="1761328" cy="855706"/>
      </dsp:txXfrm>
    </dsp:sp>
    <dsp:sp modelId="{B3D78F0F-5BA8-4D81-BBB3-FDA42BFA0EEE}">
      <dsp:nvSpPr>
        <dsp:cNvPr id="0" name=""/>
        <dsp:cNvSpPr/>
      </dsp:nvSpPr>
      <dsp:spPr>
        <a:xfrm>
          <a:off x="2413264" y="541615"/>
          <a:ext cx="1074410" cy="107441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C19993-CAE1-449C-A1FD-EE5E9947A967}">
      <dsp:nvSpPr>
        <dsp:cNvPr id="0" name=""/>
        <dsp:cNvSpPr/>
      </dsp:nvSpPr>
      <dsp:spPr>
        <a:xfrm>
          <a:off x="2642236" y="770588"/>
          <a:ext cx="616464" cy="616464"/>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785C12A-9539-4464-8C2A-A98109C8560B}">
      <dsp:nvSpPr>
        <dsp:cNvPr id="0" name=""/>
        <dsp:cNvSpPr/>
      </dsp:nvSpPr>
      <dsp:spPr>
        <a:xfrm>
          <a:off x="2069805" y="1950678"/>
          <a:ext cx="1761328" cy="855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cap="none" dirty="0"/>
            <a:t>7000 US and NL participants, with quotas for specific subgroups (general, older, targeted health conditions)</a:t>
          </a:r>
          <a:endParaRPr lang="en-US" sz="1100" b="0" kern="1200" cap="none" dirty="0"/>
        </a:p>
      </dsp:txBody>
      <dsp:txXfrm>
        <a:off x="2069805" y="1950678"/>
        <a:ext cx="1761328" cy="855706"/>
      </dsp:txXfrm>
    </dsp:sp>
    <dsp:sp modelId="{4A640C46-4883-4811-A235-4BA4A2CEF0B7}">
      <dsp:nvSpPr>
        <dsp:cNvPr id="0" name=""/>
        <dsp:cNvSpPr/>
      </dsp:nvSpPr>
      <dsp:spPr>
        <a:xfrm>
          <a:off x="4731779" y="541615"/>
          <a:ext cx="1074410" cy="107441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5FFD93-E3BB-42DF-A3E1-A8C7B889D6BE}">
      <dsp:nvSpPr>
        <dsp:cNvPr id="0" name=""/>
        <dsp:cNvSpPr/>
      </dsp:nvSpPr>
      <dsp:spPr>
        <a:xfrm>
          <a:off x="4960752" y="770588"/>
          <a:ext cx="616464" cy="616464"/>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80DB5F7-4370-41F2-A6AF-F8E0A31CC79A}">
      <dsp:nvSpPr>
        <dsp:cNvPr id="0" name=""/>
        <dsp:cNvSpPr/>
      </dsp:nvSpPr>
      <dsp:spPr>
        <a:xfrm>
          <a:off x="4139365" y="1933324"/>
          <a:ext cx="2259237" cy="855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cap="none" dirty="0"/>
            <a:t>Demographics (Module A), Well-being instruments (Module B), Clinical severity (Module C), General health (Module D), General well-being (Module E)</a:t>
          </a:r>
        </a:p>
      </dsp:txBody>
      <dsp:txXfrm>
        <a:off x="4139365" y="1933324"/>
        <a:ext cx="2259237" cy="855706"/>
      </dsp:txXfrm>
    </dsp:sp>
    <dsp:sp modelId="{9ABBF986-0F25-462F-980B-460A660F9190}">
      <dsp:nvSpPr>
        <dsp:cNvPr id="0" name=""/>
        <dsp:cNvSpPr/>
      </dsp:nvSpPr>
      <dsp:spPr>
        <a:xfrm>
          <a:off x="7050295" y="541615"/>
          <a:ext cx="1074410" cy="107441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4DE8EE-4CFB-4AC7-8FE5-9E7595F568FE}">
      <dsp:nvSpPr>
        <dsp:cNvPr id="0" name=""/>
        <dsp:cNvSpPr/>
      </dsp:nvSpPr>
      <dsp:spPr>
        <a:xfrm>
          <a:off x="7279267" y="770588"/>
          <a:ext cx="616464" cy="616464"/>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7FB75D4-2B99-4F4E-AD9B-437636C197EF}">
      <dsp:nvSpPr>
        <dsp:cNvPr id="0" name=""/>
        <dsp:cNvSpPr/>
      </dsp:nvSpPr>
      <dsp:spPr>
        <a:xfrm>
          <a:off x="6706836" y="1950678"/>
          <a:ext cx="1761328" cy="855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cap="none" dirty="0" err="1"/>
            <a:t>Dynata</a:t>
          </a:r>
          <a:r>
            <a:rPr lang="en-US" sz="1100" kern="1200" cap="none" dirty="0"/>
            <a:t> hosted and recruited participants</a:t>
          </a:r>
        </a:p>
      </dsp:txBody>
      <dsp:txXfrm>
        <a:off x="6706836" y="1950678"/>
        <a:ext cx="1761328" cy="855706"/>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E88427-736F-48E5-AB0B-6B2DE6C7E3F9}" type="datetimeFigureOut">
              <a:rPr lang="en-GB" smtClean="0"/>
              <a:pPr/>
              <a:t>06/07/2026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2BB00A-71ED-40C6-A1CF-164C43AE5CE4}" type="slidenum">
              <a:rPr lang="en-GB" smtClean="0"/>
              <a:pPr/>
              <a:t>‹#›</a:t>
            </a:fld>
            <a:endParaRPr lang="en-GB"/>
          </a:p>
        </p:txBody>
      </p:sp>
    </p:spTree>
    <p:extLst>
      <p:ext uri="{BB962C8B-B14F-4D97-AF65-F5344CB8AC3E}">
        <p14:creationId xmlns:p14="http://schemas.microsoft.com/office/powerpoint/2010/main" val="26424737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82BB00A-71ED-40C6-A1CF-164C43AE5CE4}" type="slidenum">
              <a:rPr lang="en-GB" smtClean="0"/>
              <a:pPr/>
              <a:t>1</a:t>
            </a:fld>
            <a:endParaRPr lang="en-GB"/>
          </a:p>
        </p:txBody>
      </p:sp>
    </p:spTree>
    <p:extLst>
      <p:ext uri="{BB962C8B-B14F-4D97-AF65-F5344CB8AC3E}">
        <p14:creationId xmlns:p14="http://schemas.microsoft.com/office/powerpoint/2010/main" val="20103952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indent="0">
              <a:buNone/>
            </a:pPr>
            <a:endParaRPr lang="nl-NL" dirty="0"/>
          </a:p>
        </p:txBody>
      </p:sp>
      <p:sp>
        <p:nvSpPr>
          <p:cNvPr id="4" name="Tijdelijke aanduiding voor dianummer 3"/>
          <p:cNvSpPr>
            <a:spLocks noGrp="1"/>
          </p:cNvSpPr>
          <p:nvPr>
            <p:ph type="sldNum" sz="quarter" idx="5"/>
          </p:nvPr>
        </p:nvSpPr>
        <p:spPr/>
        <p:txBody>
          <a:bodyPr/>
          <a:lstStyle/>
          <a:p>
            <a:fld id="{482BB00A-71ED-40C6-A1CF-164C43AE5CE4}" type="slidenum">
              <a:rPr lang="en-GB" smtClean="0"/>
              <a:pPr/>
              <a:t>2</a:t>
            </a:fld>
            <a:endParaRPr lang="en-GB"/>
          </a:p>
        </p:txBody>
      </p:sp>
    </p:spTree>
    <p:extLst>
      <p:ext uri="{BB962C8B-B14F-4D97-AF65-F5344CB8AC3E}">
        <p14:creationId xmlns:p14="http://schemas.microsoft.com/office/powerpoint/2010/main" val="19260630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82BB00A-71ED-40C6-A1CF-164C43AE5CE4}" type="slidenum">
              <a:rPr lang="en-GB" smtClean="0"/>
              <a:pPr/>
              <a:t>3</a:t>
            </a:fld>
            <a:endParaRPr lang="en-GB"/>
          </a:p>
        </p:txBody>
      </p:sp>
    </p:spTree>
    <p:extLst>
      <p:ext uri="{BB962C8B-B14F-4D97-AF65-F5344CB8AC3E}">
        <p14:creationId xmlns:p14="http://schemas.microsoft.com/office/powerpoint/2010/main" val="214080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FB699-CF35-2D68-95EA-503F2D52AA71}"/>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4DDF4E3A-2687-3062-CCDA-052D0F81054E}"/>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D4CC72A9-7EE4-B0F6-8DC7-21A2B941C75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First, we conducted a Q-methodology study to investigate and describe the views among people aged 65 and older in the Netherlands regarding what constitutes well-being for them. Underlying aim was to identify aspects of life that should be covered by a comprehensive measure of the wellbeing of older people, taking into consideration the variety in views in this group about what is important for wellbeing.</a:t>
            </a:r>
            <a:endParaRPr lang="nl-NL" sz="1200" kern="1200" dirty="0">
              <a:solidFill>
                <a:schemeClr val="tx1"/>
              </a:solidFill>
              <a:effectLst/>
              <a:latin typeface="+mn-lt"/>
              <a:ea typeface="+mn-ea"/>
              <a:cs typeface="+mn-cs"/>
            </a:endParaRPr>
          </a:p>
          <a:p>
            <a:pPr marL="0" indent="0">
              <a:buNone/>
            </a:pPr>
            <a:endParaRPr lang="nl-NL" dirty="0"/>
          </a:p>
          <a:p>
            <a:pPr marL="0" indent="0">
              <a:buNone/>
            </a:pPr>
            <a:r>
              <a:rPr lang="en-GB" sz="1200" kern="1200" dirty="0">
                <a:solidFill>
                  <a:schemeClr val="tx1"/>
                </a:solidFill>
                <a:effectLst/>
                <a:latin typeface="+mn-lt"/>
                <a:ea typeface="+mn-ea"/>
                <a:cs typeface="+mn-cs"/>
              </a:rPr>
              <a:t>Respondents ranked 34 aspects of well-being from the literature (see Table 1 in paper) according to how important they considered them to be for their own well-being and explained this during an interview. </a:t>
            </a:r>
          </a:p>
          <a:p>
            <a:pPr marL="0" indent="0">
              <a:buNone/>
            </a:pPr>
            <a:endParaRPr lang="en-GB" sz="1200" kern="1200" dirty="0">
              <a:solidFill>
                <a:schemeClr val="tx1"/>
              </a:solidFill>
              <a:effectLst/>
              <a:latin typeface="+mn-lt"/>
              <a:ea typeface="+mn-ea"/>
              <a:cs typeface="+mn-cs"/>
            </a:endParaRPr>
          </a:p>
          <a:p>
            <a:pPr marL="0" indent="0">
              <a:buNone/>
            </a:pPr>
            <a:r>
              <a:rPr lang="en-GB" sz="1200" kern="1200" dirty="0">
                <a:solidFill>
                  <a:schemeClr val="tx1"/>
                </a:solidFill>
                <a:effectLst/>
                <a:latin typeface="+mn-lt"/>
                <a:ea typeface="+mn-ea"/>
                <a:cs typeface="+mn-cs"/>
              </a:rPr>
              <a:t>An example of a ranking can be seen on the attached image.</a:t>
            </a:r>
            <a:r>
              <a:rPr lang="nl-NL" dirty="0">
                <a:effectLst/>
              </a:rPr>
              <a:t> </a:t>
            </a:r>
          </a:p>
          <a:p>
            <a:pPr marL="0" indent="0">
              <a:buNone/>
            </a:pPr>
            <a:endParaRPr lang="nl-NL" dirty="0">
              <a:effectLst/>
            </a:endParaRPr>
          </a:p>
          <a:p>
            <a:pPr marL="0" indent="0">
              <a:buNone/>
            </a:pPr>
            <a:r>
              <a:rPr lang="nl-NL" dirty="0">
                <a:effectLst/>
              </a:rPr>
              <a:t>Source: </a:t>
            </a:r>
            <a:r>
              <a:rPr lang="nl-NL" dirty="0"/>
              <a:t>https://doi.org/10.1016/j.socscimed.2019.112535 </a:t>
            </a:r>
          </a:p>
        </p:txBody>
      </p:sp>
      <p:sp>
        <p:nvSpPr>
          <p:cNvPr id="4" name="Tijdelijke aanduiding voor dianummer 3">
            <a:extLst>
              <a:ext uri="{FF2B5EF4-FFF2-40B4-BE49-F238E27FC236}">
                <a16:creationId xmlns:a16="http://schemas.microsoft.com/office/drawing/2014/main" id="{F9A32609-497B-CBB5-B5DE-A901A49A1727}"/>
              </a:ext>
            </a:extLst>
          </p:cNvPr>
          <p:cNvSpPr>
            <a:spLocks noGrp="1"/>
          </p:cNvSpPr>
          <p:nvPr>
            <p:ph type="sldNum" sz="quarter" idx="5"/>
          </p:nvPr>
        </p:nvSpPr>
        <p:spPr/>
        <p:txBody>
          <a:bodyPr/>
          <a:lstStyle/>
          <a:p>
            <a:fld id="{482BB00A-71ED-40C6-A1CF-164C43AE5CE4}" type="slidenum">
              <a:rPr lang="en-GB" smtClean="0"/>
              <a:pPr/>
              <a:t>4</a:t>
            </a:fld>
            <a:endParaRPr lang="en-GB"/>
          </a:p>
        </p:txBody>
      </p:sp>
    </p:spTree>
    <p:extLst>
      <p:ext uri="{BB962C8B-B14F-4D97-AF65-F5344CB8AC3E}">
        <p14:creationId xmlns:p14="http://schemas.microsoft.com/office/powerpoint/2010/main" val="4416247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sz="1200" kern="1200" dirty="0">
                <a:solidFill>
                  <a:schemeClr val="tx1"/>
                </a:solidFill>
                <a:effectLst/>
                <a:latin typeface="+mn-lt"/>
                <a:ea typeface="+mn-ea"/>
                <a:cs typeface="+mn-cs"/>
              </a:rPr>
              <a:t>We found five </a:t>
            </a:r>
            <a:r>
              <a:rPr lang="nl-NL" sz="1200" kern="1200" dirty="0" err="1">
                <a:solidFill>
                  <a:schemeClr val="tx1"/>
                </a:solidFill>
                <a:effectLst/>
                <a:latin typeface="+mn-lt"/>
                <a:ea typeface="+mn-ea"/>
                <a:cs typeface="+mn-cs"/>
              </a:rPr>
              <a:t>distinct</a:t>
            </a:r>
            <a:r>
              <a:rPr lang="nl-NL" sz="1200" kern="1200" dirty="0">
                <a:solidFill>
                  <a:schemeClr val="tx1"/>
                </a:solidFill>
                <a:effectLst/>
                <a:latin typeface="+mn-lt"/>
                <a:ea typeface="+mn-ea"/>
                <a:cs typeface="+mn-cs"/>
              </a:rPr>
              <a:t> views on </a:t>
            </a:r>
            <a:r>
              <a:rPr lang="nl-NL" sz="1200" kern="1200" dirty="0" err="1">
                <a:solidFill>
                  <a:schemeClr val="tx1"/>
                </a:solidFill>
                <a:effectLst/>
                <a:latin typeface="+mn-lt"/>
                <a:ea typeface="+mn-ea"/>
                <a:cs typeface="+mn-cs"/>
              </a:rPr>
              <a:t>what</a:t>
            </a:r>
            <a:r>
              <a:rPr lang="nl-NL" sz="1200" kern="1200" dirty="0">
                <a:solidFill>
                  <a:schemeClr val="tx1"/>
                </a:solidFill>
                <a:effectLst/>
                <a:latin typeface="+mn-lt"/>
                <a:ea typeface="+mn-ea"/>
                <a:cs typeface="+mn-cs"/>
              </a:rPr>
              <a:t> </a:t>
            </a:r>
            <a:r>
              <a:rPr lang="nl-NL" sz="1200" kern="1200" dirty="0" err="1">
                <a:solidFill>
                  <a:schemeClr val="tx1"/>
                </a:solidFill>
                <a:effectLst/>
                <a:latin typeface="+mn-lt"/>
                <a:ea typeface="+mn-ea"/>
                <a:cs typeface="+mn-cs"/>
              </a:rPr>
              <a:t>constitutes</a:t>
            </a:r>
            <a:r>
              <a:rPr lang="nl-NL" sz="1200" kern="1200" dirty="0">
                <a:solidFill>
                  <a:schemeClr val="tx1"/>
                </a:solidFill>
                <a:effectLst/>
                <a:latin typeface="+mn-lt"/>
                <a:ea typeface="+mn-ea"/>
                <a:cs typeface="+mn-cs"/>
              </a:rPr>
              <a:t> well-</a:t>
            </a:r>
            <a:r>
              <a:rPr lang="nl-NL" sz="1200" kern="1200" dirty="0" err="1">
                <a:solidFill>
                  <a:schemeClr val="tx1"/>
                </a:solidFill>
                <a:effectLst/>
                <a:latin typeface="+mn-lt"/>
                <a:ea typeface="+mn-ea"/>
                <a:cs typeface="+mn-cs"/>
              </a:rPr>
              <a:t>being</a:t>
            </a:r>
            <a:r>
              <a:rPr lang="nl-NL" sz="1200" kern="1200" dirty="0">
                <a:solidFill>
                  <a:schemeClr val="tx1"/>
                </a:solidFill>
                <a:effectLst/>
                <a:latin typeface="+mn-lt"/>
                <a:ea typeface="+mn-ea"/>
                <a:cs typeface="+mn-cs"/>
              </a:rPr>
              <a:t>, in </a:t>
            </a:r>
            <a:r>
              <a:rPr lang="nl-NL" sz="1200" kern="1200" dirty="0" err="1">
                <a:solidFill>
                  <a:schemeClr val="tx1"/>
                </a:solidFill>
                <a:effectLst/>
                <a:latin typeface="+mn-lt"/>
                <a:ea typeface="+mn-ea"/>
                <a:cs typeface="+mn-cs"/>
              </a:rPr>
              <a:t>which</a:t>
            </a:r>
            <a:r>
              <a:rPr lang="nl-NL" sz="1200" kern="1200" dirty="0">
                <a:solidFill>
                  <a:schemeClr val="tx1"/>
                </a:solidFill>
                <a:effectLst/>
                <a:latin typeface="+mn-lt"/>
                <a:ea typeface="+mn-ea"/>
                <a:cs typeface="+mn-cs"/>
              </a:rPr>
              <a:t> different </a:t>
            </a:r>
            <a:r>
              <a:rPr lang="nl-NL" sz="1200" kern="1200" dirty="0" err="1">
                <a:solidFill>
                  <a:schemeClr val="tx1"/>
                </a:solidFill>
                <a:effectLst/>
                <a:latin typeface="+mn-lt"/>
                <a:ea typeface="+mn-ea"/>
                <a:cs typeface="+mn-cs"/>
              </a:rPr>
              <a:t>aspects</a:t>
            </a:r>
            <a:r>
              <a:rPr lang="nl-NL" sz="1200" kern="1200" dirty="0">
                <a:solidFill>
                  <a:schemeClr val="tx1"/>
                </a:solidFill>
                <a:effectLst/>
                <a:latin typeface="+mn-lt"/>
                <a:ea typeface="+mn-ea"/>
                <a:cs typeface="+mn-cs"/>
              </a:rPr>
              <a:t> </a:t>
            </a:r>
            <a:r>
              <a:rPr lang="nl-NL" sz="1200" kern="1200" dirty="0" err="1">
                <a:solidFill>
                  <a:schemeClr val="tx1"/>
                </a:solidFill>
                <a:effectLst/>
                <a:latin typeface="+mn-lt"/>
                <a:ea typeface="+mn-ea"/>
                <a:cs typeface="+mn-cs"/>
              </a:rPr>
              <a:t>were</a:t>
            </a:r>
            <a:r>
              <a:rPr lang="nl-NL" sz="1200" kern="1200" dirty="0">
                <a:solidFill>
                  <a:schemeClr val="tx1"/>
                </a:solidFill>
                <a:effectLst/>
                <a:latin typeface="+mn-lt"/>
                <a:ea typeface="+mn-ea"/>
                <a:cs typeface="+mn-cs"/>
              </a:rPr>
              <a:t> </a:t>
            </a:r>
            <a:r>
              <a:rPr lang="nl-NL" sz="1200" kern="1200" dirty="0" err="1">
                <a:solidFill>
                  <a:schemeClr val="tx1"/>
                </a:solidFill>
                <a:effectLst/>
                <a:latin typeface="+mn-lt"/>
                <a:ea typeface="+mn-ea"/>
                <a:cs typeface="+mn-cs"/>
              </a:rPr>
              <a:t>considered</a:t>
            </a:r>
            <a:r>
              <a:rPr lang="nl-NL" sz="1200" kern="1200" dirty="0">
                <a:solidFill>
                  <a:schemeClr val="tx1"/>
                </a:solidFill>
                <a:effectLst/>
                <a:latin typeface="+mn-lt"/>
                <a:ea typeface="+mn-ea"/>
                <a:cs typeface="+mn-cs"/>
              </a:rPr>
              <a:t> important: </a:t>
            </a:r>
          </a:p>
          <a:p>
            <a:pPr marL="285750" indent="-285750">
              <a:buAutoNum type="romanUcParenBoth"/>
            </a:pPr>
            <a:r>
              <a:rPr lang="nl-NL" sz="1200" kern="1200" dirty="0">
                <a:solidFill>
                  <a:schemeClr val="tx1"/>
                </a:solidFill>
                <a:effectLst/>
                <a:latin typeface="+mn-lt"/>
                <a:ea typeface="+mn-ea"/>
                <a:cs typeface="+mn-cs"/>
              </a:rPr>
              <a:t>health, financial security </a:t>
            </a:r>
            <a:r>
              <a:rPr lang="nl-NL" sz="1200" kern="1200" dirty="0" err="1">
                <a:solidFill>
                  <a:schemeClr val="tx1"/>
                </a:solidFill>
                <a:effectLst/>
                <a:latin typeface="+mn-lt"/>
                <a:ea typeface="+mn-ea"/>
                <a:cs typeface="+mn-cs"/>
              </a:rPr>
              <a:t>and</a:t>
            </a:r>
            <a:r>
              <a:rPr lang="nl-NL" sz="1200" kern="1200" dirty="0">
                <a:solidFill>
                  <a:schemeClr val="tx1"/>
                </a:solidFill>
                <a:effectLst/>
                <a:latin typeface="+mn-lt"/>
                <a:ea typeface="+mn-ea"/>
                <a:cs typeface="+mn-cs"/>
              </a:rPr>
              <a:t> a life partner </a:t>
            </a:r>
          </a:p>
          <a:p>
            <a:pPr marL="285750" indent="-285750">
              <a:buAutoNum type="romanUcParenBoth"/>
            </a:pPr>
            <a:r>
              <a:rPr lang="nl-NL" sz="1200" kern="1200" dirty="0">
                <a:solidFill>
                  <a:schemeClr val="tx1"/>
                </a:solidFill>
                <a:effectLst/>
                <a:latin typeface="+mn-lt"/>
                <a:ea typeface="+mn-ea"/>
                <a:cs typeface="+mn-cs"/>
              </a:rPr>
              <a:t>family, support </a:t>
            </a:r>
            <a:r>
              <a:rPr lang="nl-NL" sz="1200" kern="1200" dirty="0" err="1">
                <a:solidFill>
                  <a:schemeClr val="tx1"/>
                </a:solidFill>
                <a:effectLst/>
                <a:latin typeface="+mn-lt"/>
                <a:ea typeface="+mn-ea"/>
                <a:cs typeface="+mn-cs"/>
              </a:rPr>
              <a:t>and</a:t>
            </a:r>
            <a:r>
              <a:rPr lang="nl-NL" sz="1200" kern="1200" dirty="0">
                <a:solidFill>
                  <a:schemeClr val="tx1"/>
                </a:solidFill>
                <a:effectLst/>
                <a:latin typeface="+mn-lt"/>
                <a:ea typeface="+mn-ea"/>
                <a:cs typeface="+mn-cs"/>
              </a:rPr>
              <a:t> </a:t>
            </a:r>
            <a:r>
              <a:rPr lang="nl-NL" sz="1200" kern="1200" dirty="0" err="1">
                <a:solidFill>
                  <a:schemeClr val="tx1"/>
                </a:solidFill>
                <a:effectLst/>
                <a:latin typeface="+mn-lt"/>
                <a:ea typeface="+mn-ea"/>
                <a:cs typeface="+mn-cs"/>
              </a:rPr>
              <a:t>physical</a:t>
            </a:r>
            <a:r>
              <a:rPr lang="nl-NL" sz="1200" kern="1200" dirty="0">
                <a:solidFill>
                  <a:schemeClr val="tx1"/>
                </a:solidFill>
                <a:effectLst/>
                <a:latin typeface="+mn-lt"/>
                <a:ea typeface="+mn-ea"/>
                <a:cs typeface="+mn-cs"/>
              </a:rPr>
              <a:t> </a:t>
            </a:r>
            <a:r>
              <a:rPr lang="nl-NL" sz="1200" kern="1200" dirty="0" err="1">
                <a:solidFill>
                  <a:schemeClr val="tx1"/>
                </a:solidFill>
                <a:effectLst/>
                <a:latin typeface="+mn-lt"/>
                <a:ea typeface="+mn-ea"/>
                <a:cs typeface="+mn-cs"/>
              </a:rPr>
              <a:t>functioning</a:t>
            </a:r>
            <a:r>
              <a:rPr lang="nl-NL" sz="1200" kern="1200" dirty="0">
                <a:solidFill>
                  <a:schemeClr val="tx1"/>
                </a:solidFill>
                <a:effectLst/>
                <a:latin typeface="+mn-lt"/>
                <a:ea typeface="+mn-ea"/>
                <a:cs typeface="+mn-cs"/>
              </a:rPr>
              <a:t> </a:t>
            </a:r>
          </a:p>
          <a:p>
            <a:pPr marL="285750" indent="-285750">
              <a:buAutoNum type="romanUcParenBoth"/>
            </a:pPr>
            <a:r>
              <a:rPr lang="nl-NL" sz="1200" kern="1200" dirty="0" err="1">
                <a:solidFill>
                  <a:schemeClr val="tx1"/>
                </a:solidFill>
                <a:effectLst/>
                <a:latin typeface="+mn-lt"/>
                <a:ea typeface="+mn-ea"/>
                <a:cs typeface="+mn-cs"/>
              </a:rPr>
              <a:t>autonomy</a:t>
            </a:r>
            <a:r>
              <a:rPr lang="nl-NL" sz="1200" kern="1200" dirty="0">
                <a:solidFill>
                  <a:schemeClr val="tx1"/>
                </a:solidFill>
                <a:effectLst/>
                <a:latin typeface="+mn-lt"/>
                <a:ea typeface="+mn-ea"/>
                <a:cs typeface="+mn-cs"/>
              </a:rPr>
              <a:t>, </a:t>
            </a:r>
            <a:r>
              <a:rPr lang="nl-NL" sz="1200" kern="1200" dirty="0" err="1">
                <a:solidFill>
                  <a:schemeClr val="tx1"/>
                </a:solidFill>
                <a:effectLst/>
                <a:latin typeface="+mn-lt"/>
                <a:ea typeface="+mn-ea"/>
                <a:cs typeface="+mn-cs"/>
              </a:rPr>
              <a:t>mental</a:t>
            </a:r>
            <a:r>
              <a:rPr lang="nl-NL" sz="1200" kern="1200" dirty="0">
                <a:solidFill>
                  <a:schemeClr val="tx1"/>
                </a:solidFill>
                <a:effectLst/>
                <a:latin typeface="+mn-lt"/>
                <a:ea typeface="+mn-ea"/>
                <a:cs typeface="+mn-cs"/>
              </a:rPr>
              <a:t> health </a:t>
            </a:r>
            <a:r>
              <a:rPr lang="nl-NL" sz="1200" kern="1200" dirty="0" err="1">
                <a:solidFill>
                  <a:schemeClr val="tx1"/>
                </a:solidFill>
                <a:effectLst/>
                <a:latin typeface="+mn-lt"/>
                <a:ea typeface="+mn-ea"/>
                <a:cs typeface="+mn-cs"/>
              </a:rPr>
              <a:t>and</a:t>
            </a:r>
            <a:r>
              <a:rPr lang="nl-NL" sz="1200" kern="1200" dirty="0">
                <a:solidFill>
                  <a:schemeClr val="tx1"/>
                </a:solidFill>
                <a:effectLst/>
                <a:latin typeface="+mn-lt"/>
                <a:ea typeface="+mn-ea"/>
                <a:cs typeface="+mn-cs"/>
              </a:rPr>
              <a:t> </a:t>
            </a:r>
            <a:r>
              <a:rPr lang="nl-NL" sz="1200" kern="1200" dirty="0" err="1">
                <a:solidFill>
                  <a:schemeClr val="tx1"/>
                </a:solidFill>
                <a:effectLst/>
                <a:latin typeface="+mn-lt"/>
                <a:ea typeface="+mn-ea"/>
                <a:cs typeface="+mn-cs"/>
              </a:rPr>
              <a:t>helping</a:t>
            </a:r>
            <a:r>
              <a:rPr lang="nl-NL" sz="1200" kern="1200" dirty="0">
                <a:solidFill>
                  <a:schemeClr val="tx1"/>
                </a:solidFill>
                <a:effectLst/>
                <a:latin typeface="+mn-lt"/>
                <a:ea typeface="+mn-ea"/>
                <a:cs typeface="+mn-cs"/>
              </a:rPr>
              <a:t> </a:t>
            </a:r>
            <a:r>
              <a:rPr lang="nl-NL" sz="1200" kern="1200" dirty="0" err="1">
                <a:solidFill>
                  <a:schemeClr val="tx1"/>
                </a:solidFill>
                <a:effectLst/>
                <a:latin typeface="+mn-lt"/>
                <a:ea typeface="+mn-ea"/>
                <a:cs typeface="+mn-cs"/>
              </a:rPr>
              <a:t>others</a:t>
            </a:r>
            <a:endParaRPr lang="nl-NL" sz="1200" kern="1200" dirty="0">
              <a:solidFill>
                <a:schemeClr val="tx1"/>
              </a:solidFill>
              <a:effectLst/>
              <a:latin typeface="+mn-lt"/>
              <a:ea typeface="+mn-ea"/>
              <a:cs typeface="+mn-cs"/>
            </a:endParaRPr>
          </a:p>
          <a:p>
            <a:pPr marL="285750" indent="-285750">
              <a:buAutoNum type="romanUcParenBoth"/>
            </a:pPr>
            <a:r>
              <a:rPr lang="nl-NL" sz="1200" kern="1200" dirty="0" err="1">
                <a:solidFill>
                  <a:schemeClr val="tx1"/>
                </a:solidFill>
                <a:effectLst/>
                <a:latin typeface="+mn-lt"/>
                <a:ea typeface="+mn-ea"/>
                <a:cs typeface="+mn-cs"/>
              </a:rPr>
              <a:t>social</a:t>
            </a:r>
            <a:r>
              <a:rPr lang="nl-NL" sz="1200" kern="1200" dirty="0">
                <a:solidFill>
                  <a:schemeClr val="tx1"/>
                </a:solidFill>
                <a:effectLst/>
                <a:latin typeface="+mn-lt"/>
                <a:ea typeface="+mn-ea"/>
                <a:cs typeface="+mn-cs"/>
              </a:rPr>
              <a:t> </a:t>
            </a:r>
            <a:r>
              <a:rPr lang="nl-NL" sz="1200" kern="1200" dirty="0" err="1">
                <a:solidFill>
                  <a:schemeClr val="tx1"/>
                </a:solidFill>
                <a:effectLst/>
                <a:latin typeface="+mn-lt"/>
                <a:ea typeface="+mn-ea"/>
                <a:cs typeface="+mn-cs"/>
              </a:rPr>
              <a:t>contacts</a:t>
            </a:r>
            <a:r>
              <a:rPr lang="nl-NL" sz="1200" kern="1200" dirty="0">
                <a:solidFill>
                  <a:schemeClr val="tx1"/>
                </a:solidFill>
                <a:effectLst/>
                <a:latin typeface="+mn-lt"/>
                <a:ea typeface="+mn-ea"/>
                <a:cs typeface="+mn-cs"/>
              </a:rPr>
              <a:t>, support, </a:t>
            </a:r>
            <a:r>
              <a:rPr lang="nl-NL" sz="1200" kern="1200" dirty="0" err="1">
                <a:solidFill>
                  <a:schemeClr val="tx1"/>
                </a:solidFill>
                <a:effectLst/>
                <a:latin typeface="+mn-lt"/>
                <a:ea typeface="+mn-ea"/>
                <a:cs typeface="+mn-cs"/>
              </a:rPr>
              <a:t>mental</a:t>
            </a:r>
            <a:r>
              <a:rPr lang="nl-NL" sz="1200" kern="1200" dirty="0">
                <a:solidFill>
                  <a:schemeClr val="tx1"/>
                </a:solidFill>
                <a:effectLst/>
                <a:latin typeface="+mn-lt"/>
                <a:ea typeface="+mn-ea"/>
                <a:cs typeface="+mn-cs"/>
              </a:rPr>
              <a:t> health </a:t>
            </a:r>
            <a:r>
              <a:rPr lang="nl-NL" sz="1200" kern="1200" dirty="0" err="1">
                <a:solidFill>
                  <a:schemeClr val="tx1"/>
                </a:solidFill>
                <a:effectLst/>
                <a:latin typeface="+mn-lt"/>
                <a:ea typeface="+mn-ea"/>
                <a:cs typeface="+mn-cs"/>
              </a:rPr>
              <a:t>and</a:t>
            </a:r>
            <a:r>
              <a:rPr lang="nl-NL" sz="1200" kern="1200" dirty="0">
                <a:solidFill>
                  <a:schemeClr val="tx1"/>
                </a:solidFill>
                <a:effectLst/>
                <a:latin typeface="+mn-lt"/>
                <a:ea typeface="+mn-ea"/>
                <a:cs typeface="+mn-cs"/>
              </a:rPr>
              <a:t> </a:t>
            </a:r>
            <a:r>
              <a:rPr lang="nl-NL" sz="1200" kern="1200" dirty="0" err="1">
                <a:solidFill>
                  <a:schemeClr val="tx1"/>
                </a:solidFill>
                <a:effectLst/>
                <a:latin typeface="+mn-lt"/>
                <a:ea typeface="+mn-ea"/>
                <a:cs typeface="+mn-cs"/>
              </a:rPr>
              <a:t>religion</a:t>
            </a:r>
            <a:endParaRPr lang="nl-NL" sz="1200" kern="1200" dirty="0">
              <a:solidFill>
                <a:schemeClr val="tx1"/>
              </a:solidFill>
              <a:effectLst/>
              <a:latin typeface="+mn-lt"/>
              <a:ea typeface="+mn-ea"/>
              <a:cs typeface="+mn-cs"/>
            </a:endParaRPr>
          </a:p>
          <a:p>
            <a:pPr marL="285750" indent="-285750">
              <a:buAutoNum type="romanUcParenBoth"/>
            </a:pPr>
            <a:r>
              <a:rPr lang="nl-NL" sz="1200" kern="1200" dirty="0">
                <a:solidFill>
                  <a:schemeClr val="tx1"/>
                </a:solidFill>
                <a:effectLst/>
                <a:latin typeface="+mn-lt"/>
                <a:ea typeface="+mn-ea"/>
                <a:cs typeface="+mn-cs"/>
              </a:rPr>
              <a:t>a life partner, </a:t>
            </a:r>
            <a:r>
              <a:rPr lang="nl-NL" sz="1200" kern="1200" dirty="0" err="1">
                <a:solidFill>
                  <a:schemeClr val="tx1"/>
                </a:solidFill>
                <a:effectLst/>
                <a:latin typeface="+mn-lt"/>
                <a:ea typeface="+mn-ea"/>
                <a:cs typeface="+mn-cs"/>
              </a:rPr>
              <a:t>social</a:t>
            </a:r>
            <a:r>
              <a:rPr lang="nl-NL" sz="1200" kern="1200" dirty="0">
                <a:solidFill>
                  <a:schemeClr val="tx1"/>
                </a:solidFill>
                <a:effectLst/>
                <a:latin typeface="+mn-lt"/>
                <a:ea typeface="+mn-ea"/>
                <a:cs typeface="+mn-cs"/>
              </a:rPr>
              <a:t> </a:t>
            </a:r>
            <a:r>
              <a:rPr lang="nl-NL" sz="1200" kern="1200" dirty="0" err="1">
                <a:solidFill>
                  <a:schemeClr val="tx1"/>
                </a:solidFill>
                <a:effectLst/>
                <a:latin typeface="+mn-lt"/>
                <a:ea typeface="+mn-ea"/>
                <a:cs typeface="+mn-cs"/>
              </a:rPr>
              <a:t>contacts</a:t>
            </a:r>
            <a:r>
              <a:rPr lang="nl-NL" sz="1200" kern="1200" dirty="0">
                <a:solidFill>
                  <a:schemeClr val="tx1"/>
                </a:solidFill>
                <a:effectLst/>
                <a:latin typeface="+mn-lt"/>
                <a:ea typeface="+mn-ea"/>
                <a:cs typeface="+mn-cs"/>
              </a:rPr>
              <a:t>, living environment </a:t>
            </a:r>
            <a:r>
              <a:rPr lang="nl-NL" sz="1200" kern="1200" dirty="0" err="1">
                <a:solidFill>
                  <a:schemeClr val="tx1"/>
                </a:solidFill>
                <a:effectLst/>
                <a:latin typeface="+mn-lt"/>
                <a:ea typeface="+mn-ea"/>
                <a:cs typeface="+mn-cs"/>
              </a:rPr>
              <a:t>and</a:t>
            </a:r>
            <a:r>
              <a:rPr lang="nl-NL" sz="1200" kern="1200" dirty="0">
                <a:solidFill>
                  <a:schemeClr val="tx1"/>
                </a:solidFill>
                <a:effectLst/>
                <a:latin typeface="+mn-lt"/>
                <a:ea typeface="+mn-ea"/>
                <a:cs typeface="+mn-cs"/>
              </a:rPr>
              <a:t> </a:t>
            </a:r>
            <a:r>
              <a:rPr lang="nl-NL" sz="1200" kern="1200" dirty="0" err="1">
                <a:solidFill>
                  <a:schemeClr val="tx1"/>
                </a:solidFill>
                <a:effectLst/>
                <a:latin typeface="+mn-lt"/>
                <a:ea typeface="+mn-ea"/>
                <a:cs typeface="+mn-cs"/>
              </a:rPr>
              <a:t>adaptation</a:t>
            </a:r>
            <a:r>
              <a:rPr lang="nl-NL" sz="1200" kern="1200" dirty="0">
                <a:solidFill>
                  <a:schemeClr val="tx1"/>
                </a:solidFill>
                <a:effectLst/>
                <a:latin typeface="+mn-lt"/>
                <a:ea typeface="+mn-ea"/>
                <a:cs typeface="+mn-cs"/>
              </a:rPr>
              <a:t>.</a:t>
            </a:r>
          </a:p>
        </p:txBody>
      </p:sp>
      <p:sp>
        <p:nvSpPr>
          <p:cNvPr id="4" name="Tijdelijke aanduiding voor dianummer 3"/>
          <p:cNvSpPr>
            <a:spLocks noGrp="1"/>
          </p:cNvSpPr>
          <p:nvPr>
            <p:ph type="sldNum" sz="quarter" idx="5"/>
          </p:nvPr>
        </p:nvSpPr>
        <p:spPr/>
        <p:txBody>
          <a:bodyPr/>
          <a:lstStyle/>
          <a:p>
            <a:fld id="{482BB00A-71ED-40C6-A1CF-164C43AE5CE4}" type="slidenum">
              <a:rPr lang="en-GB" smtClean="0"/>
              <a:pPr/>
              <a:t>5</a:t>
            </a:fld>
            <a:endParaRPr lang="en-GB"/>
          </a:p>
        </p:txBody>
      </p:sp>
    </p:spTree>
    <p:extLst>
      <p:ext uri="{BB962C8B-B14F-4D97-AF65-F5344CB8AC3E}">
        <p14:creationId xmlns:p14="http://schemas.microsoft.com/office/powerpoint/2010/main" val="19249167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GB" sz="1200" kern="1200" dirty="0">
                <a:solidFill>
                  <a:schemeClr val="tx1"/>
                </a:solidFill>
                <a:effectLst/>
                <a:latin typeface="+mn-lt"/>
                <a:ea typeface="+mn-ea"/>
                <a:cs typeface="+mn-cs"/>
              </a:rPr>
              <a:t>Next, we developed an instrument for measuring the well-being of older people, in which the heterogeneity in visions of well-being discussed earlier is represented. </a:t>
            </a:r>
            <a:endParaRPr lang="nl-NL" sz="1200" kern="1200" dirty="0">
              <a:solidFill>
                <a:schemeClr val="tx1"/>
              </a:solidFill>
              <a:effectLst/>
              <a:latin typeface="+mn-lt"/>
              <a:ea typeface="+mn-ea"/>
              <a:cs typeface="+mn-cs"/>
            </a:endParaRP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 most important aspects of well-being from each of the five visions were translated into nine items for a new measuring instrument, the Well-being of Older People measure, or WOOP for short. </a:t>
            </a:r>
            <a:endParaRPr lang="nl-NL" sz="1200" kern="1200" dirty="0">
              <a:solidFill>
                <a:schemeClr val="tx1"/>
              </a:solidFill>
              <a:effectLst/>
              <a:latin typeface="+mn-lt"/>
              <a:ea typeface="+mn-ea"/>
              <a:cs typeface="+mn-cs"/>
            </a:endParaRP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 nine items were: 'physical health', 'mental health', 'social contacts', 'receiving support', 'acceptance and resilience', 'feeling useful', 'independence', 'being able to make ends meet' and 'living situation’.</a:t>
            </a:r>
            <a:endParaRPr lang="nl-NL" sz="1200" kern="1200" dirty="0">
              <a:solidFill>
                <a:schemeClr val="tx1"/>
              </a:solidFill>
              <a:effectLst/>
              <a:latin typeface="+mn-lt"/>
              <a:ea typeface="+mn-ea"/>
              <a:cs typeface="+mn-cs"/>
            </a:endParaRP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For each item, five answer options were defined to distinguish levels of well-being on each of the items and at the same time to keep it practically feasible for older people to complete the questionnaire themselves. </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Content validation </a:t>
            </a:r>
            <a:r>
              <a:rPr lang="en-GB" sz="1200" kern="1200" noProof="1">
                <a:solidFill>
                  <a:schemeClr val="tx1"/>
                </a:solidFill>
                <a:effectLst/>
                <a:latin typeface="+mn-lt"/>
                <a:ea typeface="+mn-ea"/>
                <a:cs typeface="+mn-cs"/>
              </a:rPr>
              <a:t>was conducted using an online survey with open-ended questions </a:t>
            </a:r>
            <a:r>
              <a:rPr lang="en-GB" sz="1200" b="0" i="0" u="none" strike="noStrike" kern="1200" noProof="1">
                <a:solidFill>
                  <a:schemeClr val="tx1"/>
                </a:solidFill>
                <a:effectLst/>
                <a:latin typeface="+mn-lt"/>
                <a:ea typeface="+mn-ea"/>
                <a:cs typeface="+mn-cs"/>
              </a:rPr>
              <a:t>to collect information about participants' own definition of well-being, their interpretation of the items of the WOOP, and their assessment of the descriptions and response options provided with each item</a:t>
            </a:r>
            <a:r>
              <a:rPr lang="en-GB" sz="1200" kern="1200" noProof="1">
                <a:solidFill>
                  <a:schemeClr val="tx1"/>
                </a:solidFill>
                <a:effectLst/>
                <a:latin typeface="+mn-lt"/>
                <a:ea typeface="+mn-ea"/>
                <a:cs typeface="+mn-cs"/>
              </a:rPr>
              <a:t>. </a:t>
            </a:r>
          </a:p>
          <a:p>
            <a:endParaRPr lang="en-GB" sz="1200" kern="1200" noProof="1">
              <a:solidFill>
                <a:schemeClr val="tx1"/>
              </a:solidFill>
              <a:effectLst/>
              <a:latin typeface="+mn-lt"/>
              <a:ea typeface="+mn-ea"/>
              <a:cs typeface="+mn-cs"/>
            </a:endParaRPr>
          </a:p>
          <a:p>
            <a:r>
              <a:rPr lang="en-GB" sz="1200" kern="1200" noProof="1">
                <a:solidFill>
                  <a:schemeClr val="tx1"/>
                </a:solidFill>
                <a:effectLst/>
                <a:latin typeface="+mn-lt"/>
                <a:ea typeface="+mn-ea"/>
                <a:cs typeface="+mn-cs"/>
              </a:rPr>
              <a:t>This resulted in small changes to the de wording of descriptions of items en de response options for some of the items. Examples of final version of two of the items are shown.</a:t>
            </a:r>
          </a:p>
          <a:p>
            <a:pPr marL="0" indent="0">
              <a:buNone/>
            </a:pPr>
            <a:endParaRPr lang="nl-NL" dirty="0"/>
          </a:p>
          <a:p>
            <a:pPr marL="0" indent="0">
              <a:buNone/>
            </a:pPr>
            <a:r>
              <a:rPr lang="nl-NL" dirty="0"/>
              <a:t>Source: </a:t>
            </a:r>
            <a:r>
              <a:rPr lang="nl-NL" dirty="0" err="1"/>
              <a:t>https</a:t>
            </a:r>
            <a:r>
              <a:rPr lang="nl-NL" dirty="0"/>
              <a:t>://</a:t>
            </a:r>
            <a:r>
              <a:rPr lang="nl-NL" dirty="0" err="1"/>
              <a:t>doi.org</a:t>
            </a:r>
            <a:r>
              <a:rPr lang="nl-NL" dirty="0"/>
              <a:t>/10.1186/s12955-021-01834-5</a:t>
            </a:r>
          </a:p>
        </p:txBody>
      </p:sp>
      <p:sp>
        <p:nvSpPr>
          <p:cNvPr id="4" name="Tijdelijke aanduiding voor dianummer 3"/>
          <p:cNvSpPr>
            <a:spLocks noGrp="1"/>
          </p:cNvSpPr>
          <p:nvPr>
            <p:ph type="sldNum" sz="quarter" idx="5"/>
          </p:nvPr>
        </p:nvSpPr>
        <p:spPr/>
        <p:txBody>
          <a:bodyPr/>
          <a:lstStyle/>
          <a:p>
            <a:fld id="{482BB00A-71ED-40C6-A1CF-164C43AE5CE4}" type="slidenum">
              <a:rPr lang="en-GB" smtClean="0"/>
              <a:pPr/>
              <a:t>6</a:t>
            </a:fld>
            <a:endParaRPr lang="en-GB"/>
          </a:p>
        </p:txBody>
      </p:sp>
    </p:spTree>
    <p:extLst>
      <p:ext uri="{BB962C8B-B14F-4D97-AF65-F5344CB8AC3E}">
        <p14:creationId xmlns:p14="http://schemas.microsoft.com/office/powerpoint/2010/main" val="25822179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5A42C-2008-8032-A236-EEA86C17C4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0090A-FCE6-D6E2-3F75-2A6EB5F6DDA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1F26B57-93DA-2801-A880-D3E9A4A4325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24E26BE-C664-0480-AE8B-4C50ADCB1989}"/>
              </a:ext>
            </a:extLst>
          </p:cNvPr>
          <p:cNvSpPr>
            <a:spLocks noGrp="1"/>
          </p:cNvSpPr>
          <p:nvPr>
            <p:ph type="sldNum" sz="quarter" idx="10"/>
          </p:nvPr>
        </p:nvSpPr>
        <p:spPr/>
        <p:txBody>
          <a:bodyPr/>
          <a:lstStyle/>
          <a:p>
            <a:fld id="{482BB00A-71ED-40C6-A1CF-164C43AE5CE4}" type="slidenum">
              <a:rPr lang="en-GB" smtClean="0"/>
              <a:pPr/>
              <a:t>7</a:t>
            </a:fld>
            <a:endParaRPr lang="en-GB"/>
          </a:p>
        </p:txBody>
      </p:sp>
    </p:spTree>
    <p:extLst>
      <p:ext uri="{BB962C8B-B14F-4D97-AF65-F5344CB8AC3E}">
        <p14:creationId xmlns:p14="http://schemas.microsoft.com/office/powerpoint/2010/main" val="4673772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EA7F3-0F09-DBF3-16AB-EA35F1F06D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B7795B-96B8-FA21-D711-5D2E6D2514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47CC18-FCBA-57EC-B7C4-36FED9E5BD71}"/>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43F3DEA2-1633-3190-E67E-DC438B4CFBD9}"/>
              </a:ext>
            </a:extLst>
          </p:cNvPr>
          <p:cNvSpPr>
            <a:spLocks noGrp="1"/>
          </p:cNvSpPr>
          <p:nvPr>
            <p:ph type="sldNum" sz="quarter" idx="5"/>
          </p:nvPr>
        </p:nvSpPr>
        <p:spPr/>
        <p:txBody>
          <a:bodyPr/>
          <a:lstStyle/>
          <a:p>
            <a:fld id="{482BB00A-71ED-40C6-A1CF-164C43AE5CE4}" type="slidenum">
              <a:rPr lang="en-GB" smtClean="0"/>
              <a:pPr/>
              <a:t>8</a:t>
            </a:fld>
            <a:endParaRPr lang="en-GB"/>
          </a:p>
        </p:txBody>
      </p:sp>
    </p:spTree>
    <p:extLst>
      <p:ext uri="{BB962C8B-B14F-4D97-AF65-F5344CB8AC3E}">
        <p14:creationId xmlns:p14="http://schemas.microsoft.com/office/powerpoint/2010/main" val="25342019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6DD1A-1C26-6D5C-8B04-8E67F2EE71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B25F3D-BF90-4C6E-CAEE-F448265FF4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DA9861-DC98-F3DB-6255-8B7B9AC4AFAD}"/>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D3433AEB-CA2B-D546-E694-FB70ADEF2BD5}"/>
              </a:ext>
            </a:extLst>
          </p:cNvPr>
          <p:cNvSpPr>
            <a:spLocks noGrp="1"/>
          </p:cNvSpPr>
          <p:nvPr>
            <p:ph type="sldNum" sz="quarter" idx="5"/>
          </p:nvPr>
        </p:nvSpPr>
        <p:spPr/>
        <p:txBody>
          <a:bodyPr/>
          <a:lstStyle/>
          <a:p>
            <a:fld id="{482BB00A-71ED-40C6-A1CF-164C43AE5CE4}" type="slidenum">
              <a:rPr lang="en-GB" smtClean="0"/>
              <a:pPr/>
              <a:t>9</a:t>
            </a:fld>
            <a:endParaRPr lang="en-GB"/>
          </a:p>
        </p:txBody>
      </p:sp>
    </p:spTree>
    <p:extLst>
      <p:ext uri="{BB962C8B-B14F-4D97-AF65-F5344CB8AC3E}">
        <p14:creationId xmlns:p14="http://schemas.microsoft.com/office/powerpoint/2010/main" val="9441246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CE322-54BE-A653-BA07-0D5321B161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F1D761-4808-DF1A-61AB-061DC2D568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E5A99B-B520-814B-64AA-A14384C229F1}"/>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2472F348-8207-3952-4271-A4FDC7DC8693}"/>
              </a:ext>
            </a:extLst>
          </p:cNvPr>
          <p:cNvSpPr>
            <a:spLocks noGrp="1"/>
          </p:cNvSpPr>
          <p:nvPr>
            <p:ph type="sldNum" sz="quarter" idx="5"/>
          </p:nvPr>
        </p:nvSpPr>
        <p:spPr/>
        <p:txBody>
          <a:bodyPr/>
          <a:lstStyle/>
          <a:p>
            <a:fld id="{482BB00A-71ED-40C6-A1CF-164C43AE5CE4}" type="slidenum">
              <a:rPr lang="en-GB" smtClean="0"/>
              <a:pPr/>
              <a:t>10</a:t>
            </a:fld>
            <a:endParaRPr lang="en-GB"/>
          </a:p>
        </p:txBody>
      </p:sp>
    </p:spTree>
    <p:extLst>
      <p:ext uri="{BB962C8B-B14F-4D97-AF65-F5344CB8AC3E}">
        <p14:creationId xmlns:p14="http://schemas.microsoft.com/office/powerpoint/2010/main" val="5728356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482BB00A-71ED-40C6-A1CF-164C43AE5CE4}" type="slidenum">
              <a:rPr lang="en-GB" smtClean="0"/>
              <a:pPr/>
              <a:t>11</a:t>
            </a:fld>
            <a:endParaRPr lang="en-GB"/>
          </a:p>
        </p:txBody>
      </p:sp>
    </p:spTree>
    <p:extLst>
      <p:ext uri="{BB962C8B-B14F-4D97-AF65-F5344CB8AC3E}">
        <p14:creationId xmlns:p14="http://schemas.microsoft.com/office/powerpoint/2010/main" val="40724641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BD452-F2D5-016E-4E75-B58A55BCD7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304E2D-4F7C-9033-9B8C-D4E921FE9B3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28E7108-F19B-E483-B956-67DABB56590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6666338-28FB-DF7B-7CD3-4069BA1C754E}"/>
              </a:ext>
            </a:extLst>
          </p:cNvPr>
          <p:cNvSpPr>
            <a:spLocks noGrp="1"/>
          </p:cNvSpPr>
          <p:nvPr>
            <p:ph type="sldNum" sz="quarter" idx="10"/>
          </p:nvPr>
        </p:nvSpPr>
        <p:spPr/>
        <p:txBody>
          <a:bodyPr/>
          <a:lstStyle/>
          <a:p>
            <a:fld id="{482BB00A-71ED-40C6-A1CF-164C43AE5CE4}" type="slidenum">
              <a:rPr lang="en-GB" smtClean="0"/>
              <a:pPr/>
              <a:t>12</a:t>
            </a:fld>
            <a:endParaRPr lang="en-GB"/>
          </a:p>
        </p:txBody>
      </p:sp>
    </p:spTree>
    <p:extLst>
      <p:ext uri="{BB962C8B-B14F-4D97-AF65-F5344CB8AC3E}">
        <p14:creationId xmlns:p14="http://schemas.microsoft.com/office/powerpoint/2010/main" val="9711433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71271-56AC-2474-9EDE-2CEFD2732A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97A23E-6963-2A9E-EC5D-F97D4AE12FB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07803C9-FCA7-BD25-ED19-CF5353EB0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9653071-FE2C-9694-9488-F18DCD6CE4E4}"/>
              </a:ext>
            </a:extLst>
          </p:cNvPr>
          <p:cNvSpPr>
            <a:spLocks noGrp="1"/>
          </p:cNvSpPr>
          <p:nvPr>
            <p:ph type="sldNum" sz="quarter" idx="10"/>
          </p:nvPr>
        </p:nvSpPr>
        <p:spPr/>
        <p:txBody>
          <a:bodyPr/>
          <a:lstStyle/>
          <a:p>
            <a:fld id="{482BB00A-71ED-40C6-A1CF-164C43AE5CE4}" type="slidenum">
              <a:rPr lang="en-GB" smtClean="0"/>
              <a:pPr/>
              <a:t>13</a:t>
            </a:fld>
            <a:endParaRPr lang="en-GB"/>
          </a:p>
        </p:txBody>
      </p:sp>
    </p:spTree>
    <p:extLst>
      <p:ext uri="{BB962C8B-B14F-4D97-AF65-F5344CB8AC3E}">
        <p14:creationId xmlns:p14="http://schemas.microsoft.com/office/powerpoint/2010/main" val="41807123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482BB00A-71ED-40C6-A1CF-164C43AE5CE4}" type="slidenum">
              <a:rPr lang="en-GB" smtClean="0"/>
              <a:pPr/>
              <a:t>14</a:t>
            </a:fld>
            <a:endParaRPr lang="en-GB"/>
          </a:p>
        </p:txBody>
      </p:sp>
    </p:spTree>
    <p:extLst>
      <p:ext uri="{BB962C8B-B14F-4D97-AF65-F5344CB8AC3E}">
        <p14:creationId xmlns:p14="http://schemas.microsoft.com/office/powerpoint/2010/main" val="40585732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482BB00A-71ED-40C6-A1CF-164C43AE5CE4}" type="slidenum">
              <a:rPr lang="en-GB" smtClean="0"/>
              <a:pPr/>
              <a:t>17</a:t>
            </a:fld>
            <a:endParaRPr lang="en-GB"/>
          </a:p>
        </p:txBody>
      </p:sp>
    </p:spTree>
    <p:extLst>
      <p:ext uri="{BB962C8B-B14F-4D97-AF65-F5344CB8AC3E}">
        <p14:creationId xmlns:p14="http://schemas.microsoft.com/office/powerpoint/2010/main" val="210940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4B49B-642A-D9D6-FE07-82F07BD785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11BA5F-A517-C22C-89EE-694F587A33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4D9570-1063-2D07-ABD6-892D28238E06}"/>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7EDDAAE8-8F01-C98F-F817-51E7ECE4054C}"/>
              </a:ext>
            </a:extLst>
          </p:cNvPr>
          <p:cNvSpPr>
            <a:spLocks noGrp="1"/>
          </p:cNvSpPr>
          <p:nvPr>
            <p:ph type="sldNum" sz="quarter" idx="5"/>
          </p:nvPr>
        </p:nvSpPr>
        <p:spPr/>
        <p:txBody>
          <a:bodyPr/>
          <a:lstStyle/>
          <a:p>
            <a:fld id="{482BB00A-71ED-40C6-A1CF-164C43AE5CE4}" type="slidenum">
              <a:rPr lang="en-GB" smtClean="0"/>
              <a:pPr/>
              <a:t>18</a:t>
            </a:fld>
            <a:endParaRPr lang="en-GB"/>
          </a:p>
        </p:txBody>
      </p:sp>
    </p:spTree>
    <p:extLst>
      <p:ext uri="{BB962C8B-B14F-4D97-AF65-F5344CB8AC3E}">
        <p14:creationId xmlns:p14="http://schemas.microsoft.com/office/powerpoint/2010/main" val="9511650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F0E60-33F6-A8E4-67B4-0261DD2359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AA4F9-3D5E-F4E9-C38F-41A8AEF821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89D79C-77D7-C90F-B50D-BE90E37199C6}"/>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99A5DB46-F355-2A63-CC80-788FC06AADAB}"/>
              </a:ext>
            </a:extLst>
          </p:cNvPr>
          <p:cNvSpPr>
            <a:spLocks noGrp="1"/>
          </p:cNvSpPr>
          <p:nvPr>
            <p:ph type="sldNum" sz="quarter" idx="5"/>
          </p:nvPr>
        </p:nvSpPr>
        <p:spPr/>
        <p:txBody>
          <a:bodyPr/>
          <a:lstStyle/>
          <a:p>
            <a:fld id="{482BB00A-71ED-40C6-A1CF-164C43AE5CE4}" type="slidenum">
              <a:rPr lang="en-GB" smtClean="0"/>
              <a:pPr/>
              <a:t>19</a:t>
            </a:fld>
            <a:endParaRPr lang="en-GB"/>
          </a:p>
        </p:txBody>
      </p:sp>
    </p:spTree>
    <p:extLst>
      <p:ext uri="{BB962C8B-B14F-4D97-AF65-F5344CB8AC3E}">
        <p14:creationId xmlns:p14="http://schemas.microsoft.com/office/powerpoint/2010/main" val="27226446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D2E34-DA06-7C64-7094-C2DB4F95AB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0F168B-8D37-4CE7-5A7B-E9D9132558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725D04-4CFF-7EDD-ACDF-A43EE302FA4E}"/>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9241BA39-B9A3-D45D-33A8-68491E81377C}"/>
              </a:ext>
            </a:extLst>
          </p:cNvPr>
          <p:cNvSpPr>
            <a:spLocks noGrp="1"/>
          </p:cNvSpPr>
          <p:nvPr>
            <p:ph type="sldNum" sz="quarter" idx="5"/>
          </p:nvPr>
        </p:nvSpPr>
        <p:spPr/>
        <p:txBody>
          <a:bodyPr/>
          <a:lstStyle/>
          <a:p>
            <a:fld id="{482BB00A-71ED-40C6-A1CF-164C43AE5CE4}" type="slidenum">
              <a:rPr lang="en-GB" smtClean="0"/>
              <a:pPr/>
              <a:t>20</a:t>
            </a:fld>
            <a:endParaRPr lang="en-GB"/>
          </a:p>
        </p:txBody>
      </p:sp>
    </p:spTree>
    <p:extLst>
      <p:ext uri="{BB962C8B-B14F-4D97-AF65-F5344CB8AC3E}">
        <p14:creationId xmlns:p14="http://schemas.microsoft.com/office/powerpoint/2010/main" val="29056768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593FA-9261-5C31-154F-624240F44E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762D75-FA3C-7E68-7F19-AC1B3F355D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1746E9-AAD0-FE26-D67C-078DBED1858B}"/>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EFEA4CEA-6DF2-55CA-52B9-2080648A200C}"/>
              </a:ext>
            </a:extLst>
          </p:cNvPr>
          <p:cNvSpPr>
            <a:spLocks noGrp="1"/>
          </p:cNvSpPr>
          <p:nvPr>
            <p:ph type="sldNum" sz="quarter" idx="5"/>
          </p:nvPr>
        </p:nvSpPr>
        <p:spPr/>
        <p:txBody>
          <a:bodyPr/>
          <a:lstStyle/>
          <a:p>
            <a:fld id="{482BB00A-71ED-40C6-A1CF-164C43AE5CE4}" type="slidenum">
              <a:rPr lang="en-GB" smtClean="0"/>
              <a:pPr/>
              <a:t>21</a:t>
            </a:fld>
            <a:endParaRPr lang="en-GB"/>
          </a:p>
        </p:txBody>
      </p:sp>
    </p:spTree>
    <p:extLst>
      <p:ext uri="{BB962C8B-B14F-4D97-AF65-F5344CB8AC3E}">
        <p14:creationId xmlns:p14="http://schemas.microsoft.com/office/powerpoint/2010/main" val="17716977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11948-41AA-FF91-7E18-70E2B0DB04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7DD432-B254-48D1-40B4-CAF09DDE64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F75C06-B4E0-ED77-74BC-5CAC267AC8A7}"/>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ABD6BEFE-D3BF-2B89-9B5F-2C77A1C468FB}"/>
              </a:ext>
            </a:extLst>
          </p:cNvPr>
          <p:cNvSpPr>
            <a:spLocks noGrp="1"/>
          </p:cNvSpPr>
          <p:nvPr>
            <p:ph type="sldNum" sz="quarter" idx="5"/>
          </p:nvPr>
        </p:nvSpPr>
        <p:spPr/>
        <p:txBody>
          <a:bodyPr/>
          <a:lstStyle/>
          <a:p>
            <a:fld id="{482BB00A-71ED-40C6-A1CF-164C43AE5CE4}" type="slidenum">
              <a:rPr lang="en-GB" smtClean="0"/>
              <a:pPr/>
              <a:t>22</a:t>
            </a:fld>
            <a:endParaRPr lang="en-GB"/>
          </a:p>
        </p:txBody>
      </p:sp>
    </p:spTree>
    <p:extLst>
      <p:ext uri="{BB962C8B-B14F-4D97-AF65-F5344CB8AC3E}">
        <p14:creationId xmlns:p14="http://schemas.microsoft.com/office/powerpoint/2010/main" val="23049750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2E66A-6D74-795D-F572-3F9791F307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E5028C-3567-DB13-AB54-21829C5BD6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A85452-DED1-2BC0-26BB-66BFF8264C56}"/>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107DFBF6-CA8C-B8C2-F0A0-EFE34F0C4ABA}"/>
              </a:ext>
            </a:extLst>
          </p:cNvPr>
          <p:cNvSpPr>
            <a:spLocks noGrp="1"/>
          </p:cNvSpPr>
          <p:nvPr>
            <p:ph type="sldNum" sz="quarter" idx="5"/>
          </p:nvPr>
        </p:nvSpPr>
        <p:spPr/>
        <p:txBody>
          <a:bodyPr/>
          <a:lstStyle/>
          <a:p>
            <a:fld id="{482BB00A-71ED-40C6-A1CF-164C43AE5CE4}" type="slidenum">
              <a:rPr lang="en-GB" smtClean="0"/>
              <a:pPr/>
              <a:t>23</a:t>
            </a:fld>
            <a:endParaRPr lang="en-GB"/>
          </a:p>
        </p:txBody>
      </p:sp>
    </p:spTree>
    <p:extLst>
      <p:ext uri="{BB962C8B-B14F-4D97-AF65-F5344CB8AC3E}">
        <p14:creationId xmlns:p14="http://schemas.microsoft.com/office/powerpoint/2010/main" val="4638457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93BA6-B4FB-E292-1687-55DDABA643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9CB062-EB83-28B1-BF8B-DCC4793379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1A2F84-5E31-6F5C-BA3C-AE9DE004383D}"/>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9A09AF61-8713-E782-3351-D35B702E3300}"/>
              </a:ext>
            </a:extLst>
          </p:cNvPr>
          <p:cNvSpPr>
            <a:spLocks noGrp="1"/>
          </p:cNvSpPr>
          <p:nvPr>
            <p:ph type="sldNum" sz="quarter" idx="5"/>
          </p:nvPr>
        </p:nvSpPr>
        <p:spPr/>
        <p:txBody>
          <a:bodyPr/>
          <a:lstStyle/>
          <a:p>
            <a:fld id="{482BB00A-71ED-40C6-A1CF-164C43AE5CE4}" type="slidenum">
              <a:rPr lang="en-GB" smtClean="0"/>
              <a:pPr/>
              <a:t>24</a:t>
            </a:fld>
            <a:endParaRPr lang="en-GB"/>
          </a:p>
        </p:txBody>
      </p:sp>
    </p:spTree>
    <p:extLst>
      <p:ext uri="{BB962C8B-B14F-4D97-AF65-F5344CB8AC3E}">
        <p14:creationId xmlns:p14="http://schemas.microsoft.com/office/powerpoint/2010/main" val="8041917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6185E-9955-88A6-E66E-F285DD4BEA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E72E42-23D6-6C60-DC8F-19129E4962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908F6E-FFF9-554D-7ABE-A0957B5E7065}"/>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D141B06F-8F47-E88E-01DB-BD735FE14F13}"/>
              </a:ext>
            </a:extLst>
          </p:cNvPr>
          <p:cNvSpPr>
            <a:spLocks noGrp="1"/>
          </p:cNvSpPr>
          <p:nvPr>
            <p:ph type="sldNum" sz="quarter" idx="5"/>
          </p:nvPr>
        </p:nvSpPr>
        <p:spPr/>
        <p:txBody>
          <a:bodyPr/>
          <a:lstStyle/>
          <a:p>
            <a:fld id="{482BB00A-71ED-40C6-A1CF-164C43AE5CE4}" type="slidenum">
              <a:rPr lang="en-GB" smtClean="0"/>
              <a:pPr/>
              <a:t>25</a:t>
            </a:fld>
            <a:endParaRPr lang="en-GB"/>
          </a:p>
        </p:txBody>
      </p:sp>
    </p:spTree>
    <p:extLst>
      <p:ext uri="{BB962C8B-B14F-4D97-AF65-F5344CB8AC3E}">
        <p14:creationId xmlns:p14="http://schemas.microsoft.com/office/powerpoint/2010/main" val="26676878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EC0BD-3952-DCA7-7DE3-F80C31D54A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F9352E-6985-A8B6-CDE7-8920741D7B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8B8F99-8707-0F26-C8E6-01B701DDBE41}"/>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676EF5E7-A2BF-1DC8-539B-813611724888}"/>
              </a:ext>
            </a:extLst>
          </p:cNvPr>
          <p:cNvSpPr>
            <a:spLocks noGrp="1"/>
          </p:cNvSpPr>
          <p:nvPr>
            <p:ph type="sldNum" sz="quarter" idx="5"/>
          </p:nvPr>
        </p:nvSpPr>
        <p:spPr/>
        <p:txBody>
          <a:bodyPr/>
          <a:lstStyle/>
          <a:p>
            <a:fld id="{482BB00A-71ED-40C6-A1CF-164C43AE5CE4}" type="slidenum">
              <a:rPr lang="en-GB" smtClean="0"/>
              <a:pPr/>
              <a:t>26</a:t>
            </a:fld>
            <a:endParaRPr lang="en-GB"/>
          </a:p>
        </p:txBody>
      </p:sp>
    </p:spTree>
    <p:extLst>
      <p:ext uri="{BB962C8B-B14F-4D97-AF65-F5344CB8AC3E}">
        <p14:creationId xmlns:p14="http://schemas.microsoft.com/office/powerpoint/2010/main" val="41623453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3590F-DB59-1B46-23F6-931D67BFA2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CDB85C-49E0-226A-22AB-F01D805887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93AAFF-E596-5ACB-4FE1-0BB6AE52CDFE}"/>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9DE01DC9-595A-B663-61A3-300A3D9337B6}"/>
              </a:ext>
            </a:extLst>
          </p:cNvPr>
          <p:cNvSpPr>
            <a:spLocks noGrp="1"/>
          </p:cNvSpPr>
          <p:nvPr>
            <p:ph type="sldNum" sz="quarter" idx="5"/>
          </p:nvPr>
        </p:nvSpPr>
        <p:spPr/>
        <p:txBody>
          <a:bodyPr/>
          <a:lstStyle/>
          <a:p>
            <a:fld id="{482BB00A-71ED-40C6-A1CF-164C43AE5CE4}" type="slidenum">
              <a:rPr lang="en-GB" smtClean="0"/>
              <a:pPr/>
              <a:t>27</a:t>
            </a:fld>
            <a:endParaRPr lang="en-GB"/>
          </a:p>
        </p:txBody>
      </p:sp>
    </p:spTree>
    <p:extLst>
      <p:ext uri="{BB962C8B-B14F-4D97-AF65-F5344CB8AC3E}">
        <p14:creationId xmlns:p14="http://schemas.microsoft.com/office/powerpoint/2010/main" val="42375075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B9885-E011-34EF-BCEE-B0AF629468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13252C-ADCE-4435-BA0D-266E372F7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415504-6E52-512F-B0D4-BEB0059700E7}"/>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A40F6E5E-EC6E-58EA-72ED-94390117B774}"/>
              </a:ext>
            </a:extLst>
          </p:cNvPr>
          <p:cNvSpPr>
            <a:spLocks noGrp="1"/>
          </p:cNvSpPr>
          <p:nvPr>
            <p:ph type="sldNum" sz="quarter" idx="5"/>
          </p:nvPr>
        </p:nvSpPr>
        <p:spPr/>
        <p:txBody>
          <a:bodyPr/>
          <a:lstStyle/>
          <a:p>
            <a:fld id="{482BB00A-71ED-40C6-A1CF-164C43AE5CE4}" type="slidenum">
              <a:rPr lang="en-GB" smtClean="0"/>
              <a:pPr/>
              <a:t>28</a:t>
            </a:fld>
            <a:endParaRPr lang="en-GB"/>
          </a:p>
        </p:txBody>
      </p:sp>
    </p:spTree>
    <p:extLst>
      <p:ext uri="{BB962C8B-B14F-4D97-AF65-F5344CB8AC3E}">
        <p14:creationId xmlns:p14="http://schemas.microsoft.com/office/powerpoint/2010/main" val="19819659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491526" y="1260000"/>
            <a:ext cx="6300000" cy="1224000"/>
          </a:xfrm>
        </p:spPr>
        <p:txBody>
          <a:bodyPr/>
          <a:lstStyle>
            <a:lvl1pPr>
              <a:lnSpc>
                <a:spcPts val="3800"/>
              </a:lnSpc>
              <a:defRPr sz="4400" baseline="0">
                <a:solidFill>
                  <a:schemeClr val="bg1"/>
                </a:solidFill>
              </a:defRPr>
            </a:lvl1pPr>
          </a:lstStyle>
          <a:p>
            <a:r>
              <a:rPr lang="en-GB" noProof="0" dirty="0"/>
              <a:t>Click to edit title</a:t>
            </a:r>
          </a:p>
        </p:txBody>
      </p:sp>
      <p:sp>
        <p:nvSpPr>
          <p:cNvPr id="3" name="Subtitel 2"/>
          <p:cNvSpPr>
            <a:spLocks noGrp="1"/>
          </p:cNvSpPr>
          <p:nvPr>
            <p:ph type="subTitle" idx="1" hasCustomPrompt="1"/>
          </p:nvPr>
        </p:nvSpPr>
        <p:spPr>
          <a:xfrm>
            <a:off x="491526" y="2484000"/>
            <a:ext cx="6300000" cy="810000"/>
          </a:xfrm>
        </p:spPr>
        <p:txBody>
          <a:bodyPr/>
          <a:lstStyle>
            <a:lvl1pPr marL="0" indent="0" algn="l">
              <a:buNone/>
              <a:defRPr b="0" i="0">
                <a:solidFill>
                  <a:schemeClr val="bg1"/>
                </a:solidFill>
                <a:latin typeface="Museo Sans 100"/>
                <a:cs typeface="Museo Sans 10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dirty="0"/>
              <a:t>Click to edit subtitle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p:bg>
      <p:bgRef idx="1001">
        <a:schemeClr val="bg1"/>
      </p:bgRef>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491526" y="1260000"/>
            <a:ext cx="6300000" cy="1224000"/>
          </a:xfrm>
        </p:spPr>
        <p:txBody>
          <a:bodyPr/>
          <a:lstStyle>
            <a:lvl1pPr>
              <a:lnSpc>
                <a:spcPts val="3800"/>
              </a:lnSpc>
              <a:defRPr sz="4400" baseline="0">
                <a:solidFill>
                  <a:srgbClr val="FFFFFF"/>
                </a:solidFill>
              </a:defRPr>
            </a:lvl1pPr>
          </a:lstStyle>
          <a:p>
            <a:r>
              <a:rPr lang="en-GB" noProof="0" dirty="0"/>
              <a:t>Click to edit title</a:t>
            </a:r>
          </a:p>
        </p:txBody>
      </p:sp>
      <p:sp>
        <p:nvSpPr>
          <p:cNvPr id="3" name="Subtitel 2"/>
          <p:cNvSpPr>
            <a:spLocks noGrp="1"/>
          </p:cNvSpPr>
          <p:nvPr>
            <p:ph type="subTitle" idx="1" hasCustomPrompt="1"/>
          </p:nvPr>
        </p:nvSpPr>
        <p:spPr>
          <a:xfrm>
            <a:off x="491526" y="2484000"/>
            <a:ext cx="6300000" cy="810000"/>
          </a:xfrm>
        </p:spPr>
        <p:txBody>
          <a:bodyPr/>
          <a:lstStyle>
            <a:lvl1pPr marL="0" indent="0" algn="l">
              <a:buNone/>
              <a:defRPr b="0" i="0">
                <a:solidFill>
                  <a:srgbClr val="FFFFFF"/>
                </a:solidFill>
                <a:latin typeface="Museo Sans 100"/>
                <a:cs typeface="Museo Sans 10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dirty="0"/>
              <a:t>Insert a picture and move it backwards </a:t>
            </a:r>
            <a:br>
              <a:rPr lang="en-GB" noProof="0" dirty="0"/>
            </a:br>
            <a:r>
              <a:rPr lang="en-GB" noProof="0" dirty="0"/>
              <a:t>with right mouse button &gt; send to back</a:t>
            </a:r>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91525" y="396000"/>
            <a:ext cx="8172000" cy="576000"/>
          </a:xfrm>
        </p:spPr>
        <p:txBody>
          <a:bodyPr/>
          <a:lstStyle>
            <a:lvl1pPr>
              <a:defRPr/>
            </a:lvl1pPr>
          </a:lstStyle>
          <a:p>
            <a:r>
              <a:rPr lang="en-GB" noProof="0" dirty="0"/>
              <a:t>Click to edit title</a:t>
            </a:r>
          </a:p>
        </p:txBody>
      </p:sp>
      <p:sp>
        <p:nvSpPr>
          <p:cNvPr id="3" name="Tijdelijke aanduiding voor inhoud 2"/>
          <p:cNvSpPr>
            <a:spLocks noGrp="1"/>
          </p:cNvSpPr>
          <p:nvPr>
            <p:ph idx="1" hasCustomPrompt="1"/>
          </p:nvPr>
        </p:nvSpPr>
        <p:spPr/>
        <p:txBody>
          <a:bodyPr/>
          <a:lstStyle>
            <a:lvl1pPr>
              <a:defRPr baseline="0"/>
            </a:lvl1pPr>
          </a:lstStyle>
          <a:p>
            <a:pPr lvl="0"/>
            <a:r>
              <a:rPr lang="en-GB" noProof="0" dirty="0"/>
              <a:t>Click to edit text in bullets</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4" name="Tijdelijke aanduiding voor datum 3"/>
          <p:cNvSpPr>
            <a:spLocks noGrp="1"/>
          </p:cNvSpPr>
          <p:nvPr>
            <p:ph type="dt" sz="half" idx="10"/>
          </p:nvPr>
        </p:nvSpPr>
        <p:spPr/>
        <p:txBody>
          <a:bodyPr/>
          <a:lstStyle/>
          <a:p>
            <a:fld id="{F10973AC-957D-C346-BA56-D82065FA2AEB}" type="datetimeFigureOut">
              <a:rPr lang="nl-NL" smtClean="0"/>
              <a:pPr/>
              <a:t>6-7-2026</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8C6BC05E-DB9A-EB4A-A776-575FA40369A3}" type="slidenum">
              <a:rPr lang="nl-NL" smtClean="0"/>
              <a:pPr/>
              <a:t>‹#›</a:t>
            </a:fld>
            <a:endParaRPr lang="nl-N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2">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baseline="0"/>
            </a:lvl1pPr>
          </a:lstStyle>
          <a:p>
            <a:r>
              <a:rPr lang="en-GB" noProof="0" dirty="0"/>
              <a:t>Click to edit title</a:t>
            </a:r>
          </a:p>
        </p:txBody>
      </p:sp>
      <p:sp>
        <p:nvSpPr>
          <p:cNvPr id="3" name="Tijdelijke aanduiding voor inhoud 2"/>
          <p:cNvSpPr>
            <a:spLocks noGrp="1"/>
          </p:cNvSpPr>
          <p:nvPr>
            <p:ph idx="1" hasCustomPrompt="1"/>
          </p:nvPr>
        </p:nvSpPr>
        <p:spPr/>
        <p:txBody>
          <a:bodyPr/>
          <a:lstStyle>
            <a:lvl1pPr marL="0" indent="0">
              <a:buFontTx/>
              <a:buNone/>
              <a:defRPr/>
            </a:lvl1pPr>
            <a:lvl2pPr marL="0" indent="0">
              <a:buFontTx/>
              <a:buNone/>
              <a:defRPr/>
            </a:lvl2pPr>
            <a:lvl3pPr marL="0" indent="0">
              <a:buFontTx/>
              <a:buNone/>
              <a:defRPr/>
            </a:lvl3pPr>
            <a:lvl4pPr marL="0" indent="0">
              <a:buFontTx/>
              <a:buNone/>
              <a:defRPr/>
            </a:lvl4pPr>
            <a:lvl5pPr marL="0" indent="0">
              <a:buFontTx/>
              <a:buNone/>
              <a:defRPr baseline="0"/>
            </a:lvl5pPr>
          </a:lstStyle>
          <a:p>
            <a:pPr lvl="0"/>
            <a:r>
              <a:rPr lang="en-GB" noProof="0" dirty="0"/>
              <a:t>Click to edit text</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4" name="Tijdelijke aanduiding voor datum 3"/>
          <p:cNvSpPr>
            <a:spLocks noGrp="1"/>
          </p:cNvSpPr>
          <p:nvPr>
            <p:ph type="dt" sz="half" idx="10"/>
          </p:nvPr>
        </p:nvSpPr>
        <p:spPr/>
        <p:txBody>
          <a:bodyPr/>
          <a:lstStyle/>
          <a:p>
            <a:fld id="{F10973AC-957D-C346-BA56-D82065FA2AEB}" type="datetimeFigureOut">
              <a:rPr lang="nl-NL" smtClean="0"/>
              <a:pPr/>
              <a:t>6-7-2026</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8C6BC05E-DB9A-EB4A-A776-575FA40369A3}" type="slidenum">
              <a:rPr lang="nl-NL" smtClean="0"/>
              <a:pPr/>
              <a:t>‹#›</a:t>
            </a:fld>
            <a:endParaRPr lang="nl-N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baseline="0"/>
            </a:lvl1pPr>
          </a:lstStyle>
          <a:p>
            <a:r>
              <a:rPr lang="en-GB" noProof="0" dirty="0"/>
              <a:t>Click to edit title</a:t>
            </a:r>
          </a:p>
        </p:txBody>
      </p:sp>
      <p:sp>
        <p:nvSpPr>
          <p:cNvPr id="3" name="Tijdelijke aanduiding voor inhoud 2"/>
          <p:cNvSpPr>
            <a:spLocks noGrp="1"/>
          </p:cNvSpPr>
          <p:nvPr>
            <p:ph sz="half" idx="1" hasCustomPrompt="1"/>
          </p:nvPr>
        </p:nvSpPr>
        <p:spPr>
          <a:xfrm>
            <a:off x="493200" y="972000"/>
            <a:ext cx="4014000" cy="33480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noProof="0" dirty="0"/>
              <a:t>Click to edit text in bullets</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4" name="Tijdelijke aanduiding voor inhoud 3"/>
          <p:cNvSpPr>
            <a:spLocks noGrp="1"/>
          </p:cNvSpPr>
          <p:nvPr>
            <p:ph sz="half" idx="2" hasCustomPrompt="1"/>
          </p:nvPr>
        </p:nvSpPr>
        <p:spPr>
          <a:xfrm>
            <a:off x="4648201" y="971999"/>
            <a:ext cx="4015325" cy="33480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noProof="0" dirty="0"/>
              <a:t>Click to edit text in bullets</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5" name="Tijdelijke aanduiding voor datum 4"/>
          <p:cNvSpPr>
            <a:spLocks noGrp="1"/>
          </p:cNvSpPr>
          <p:nvPr>
            <p:ph type="dt" sz="half" idx="10"/>
          </p:nvPr>
        </p:nvSpPr>
        <p:spPr/>
        <p:txBody>
          <a:bodyPr/>
          <a:lstStyle/>
          <a:p>
            <a:fld id="{F10973AC-957D-C346-BA56-D82065FA2AEB}" type="datetimeFigureOut">
              <a:rPr lang="nl-NL" smtClean="0"/>
              <a:pPr/>
              <a:t>6-7-2026</a:t>
            </a:fld>
            <a:endParaRPr lang="nl-NL"/>
          </a:p>
        </p:txBody>
      </p:sp>
      <p:sp>
        <p:nvSpPr>
          <p:cNvPr id="6" name="Tijdelijke aanduiding voor voettekst 5"/>
          <p:cNvSpPr>
            <a:spLocks noGrp="1"/>
          </p:cNvSpPr>
          <p:nvPr>
            <p:ph type="ftr" sz="quarter" idx="11"/>
          </p:nvPr>
        </p:nvSpPr>
        <p:spPr/>
        <p:txBody>
          <a:bodyPr/>
          <a:lstStyle/>
          <a:p>
            <a:endParaRPr lang="nl-NL"/>
          </a:p>
        </p:txBody>
      </p:sp>
      <p:sp>
        <p:nvSpPr>
          <p:cNvPr id="7" name="Tijdelijke aanduiding voor dianummer 6"/>
          <p:cNvSpPr>
            <a:spLocks noGrp="1"/>
          </p:cNvSpPr>
          <p:nvPr>
            <p:ph type="sldNum" sz="quarter" idx="12"/>
          </p:nvPr>
        </p:nvSpPr>
        <p:spPr/>
        <p:txBody>
          <a:bodyPr/>
          <a:lstStyle/>
          <a:p>
            <a:fld id="{8C6BC05E-DB9A-EB4A-A776-575FA40369A3}" type="slidenum">
              <a:rPr lang="nl-NL" smtClean="0"/>
              <a:pPr/>
              <a:t>‹#›</a:t>
            </a:fld>
            <a:endParaRPr lang="nl-NL"/>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Click to edit title</a:t>
            </a:r>
          </a:p>
        </p:txBody>
      </p:sp>
      <p:sp>
        <p:nvSpPr>
          <p:cNvPr id="3" name="Tijdelijke aanduiding voor tekst 2"/>
          <p:cNvSpPr>
            <a:spLocks noGrp="1"/>
          </p:cNvSpPr>
          <p:nvPr>
            <p:ph type="body" idx="1" hasCustomPrompt="1"/>
          </p:nvPr>
        </p:nvSpPr>
        <p:spPr>
          <a:xfrm>
            <a:off x="493200" y="972000"/>
            <a:ext cx="3997924" cy="324000"/>
          </a:xfrm>
        </p:spPr>
        <p:txBody>
          <a:bodyPr anchor="t" anchorCtr="0"/>
          <a:lstStyle>
            <a:lvl1pPr marL="0" indent="0">
              <a:buNone/>
              <a:defRPr sz="1800" b="0" i="0">
                <a:latin typeface="Museo Sans 900"/>
                <a:cs typeface="Museo Sans 90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noProof="0" dirty="0"/>
              <a:t>Click tot edit text</a:t>
            </a:r>
          </a:p>
        </p:txBody>
      </p:sp>
      <p:sp>
        <p:nvSpPr>
          <p:cNvPr id="4" name="Tijdelijke aanduiding voor inhoud 3"/>
          <p:cNvSpPr>
            <a:spLocks noGrp="1"/>
          </p:cNvSpPr>
          <p:nvPr>
            <p:ph sz="half" idx="2" hasCustomPrompt="1"/>
          </p:nvPr>
        </p:nvSpPr>
        <p:spPr>
          <a:xfrm>
            <a:off x="491524" y="1296000"/>
            <a:ext cx="3999600" cy="3024000"/>
          </a:xfrm>
        </p:spPr>
        <p:txBody>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noProof="0" dirty="0"/>
              <a:t>Click to edit text in bullets</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5" name="Tijdelijke aanduiding voor tekst 4"/>
          <p:cNvSpPr>
            <a:spLocks noGrp="1"/>
          </p:cNvSpPr>
          <p:nvPr>
            <p:ph type="body" sz="quarter" idx="3" hasCustomPrompt="1"/>
          </p:nvPr>
        </p:nvSpPr>
        <p:spPr>
          <a:xfrm>
            <a:off x="4645026" y="972000"/>
            <a:ext cx="4014000" cy="324000"/>
          </a:xfrm>
        </p:spPr>
        <p:txBody>
          <a:bodyPr anchor="t" anchorCtr="0"/>
          <a:lstStyle>
            <a:lvl1pPr marL="0" indent="0">
              <a:buNone/>
              <a:defRPr sz="1800" b="0" i="0">
                <a:latin typeface="Museo Sans 900"/>
                <a:cs typeface="Museo Sans 90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noProof="0" dirty="0"/>
              <a:t>Click tot edit text</a:t>
            </a:r>
          </a:p>
        </p:txBody>
      </p:sp>
      <p:sp>
        <p:nvSpPr>
          <p:cNvPr id="6" name="Tijdelijke aanduiding voor inhoud 5"/>
          <p:cNvSpPr>
            <a:spLocks noGrp="1"/>
          </p:cNvSpPr>
          <p:nvPr>
            <p:ph sz="quarter" idx="4" hasCustomPrompt="1"/>
          </p:nvPr>
        </p:nvSpPr>
        <p:spPr>
          <a:xfrm>
            <a:off x="4645025" y="1296000"/>
            <a:ext cx="4014000" cy="3024000"/>
          </a:xfrm>
        </p:spPr>
        <p:txBody>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noProof="0" dirty="0"/>
              <a:t>Click to edit text in bullets</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7" name="Tijdelijke aanduiding voor datum 6"/>
          <p:cNvSpPr>
            <a:spLocks noGrp="1"/>
          </p:cNvSpPr>
          <p:nvPr>
            <p:ph type="dt" sz="half" idx="10"/>
          </p:nvPr>
        </p:nvSpPr>
        <p:spPr/>
        <p:txBody>
          <a:bodyPr/>
          <a:lstStyle/>
          <a:p>
            <a:fld id="{F10973AC-957D-C346-BA56-D82065FA2AEB}" type="datetimeFigureOut">
              <a:rPr lang="nl-NL" smtClean="0"/>
              <a:pPr/>
              <a:t>6-7-2026</a:t>
            </a:fld>
            <a:endParaRPr lang="nl-NL"/>
          </a:p>
        </p:txBody>
      </p:sp>
      <p:sp>
        <p:nvSpPr>
          <p:cNvPr id="8" name="Tijdelijke aanduiding voor voettekst 7"/>
          <p:cNvSpPr>
            <a:spLocks noGrp="1"/>
          </p:cNvSpPr>
          <p:nvPr>
            <p:ph type="ftr" sz="quarter" idx="11"/>
          </p:nvPr>
        </p:nvSpPr>
        <p:spPr/>
        <p:txBody>
          <a:bodyPr/>
          <a:lstStyle/>
          <a:p>
            <a:endParaRPr lang="nl-NL"/>
          </a:p>
        </p:txBody>
      </p:sp>
      <p:sp>
        <p:nvSpPr>
          <p:cNvPr id="9" name="Tijdelijke aanduiding voor dianummer 8"/>
          <p:cNvSpPr>
            <a:spLocks noGrp="1"/>
          </p:cNvSpPr>
          <p:nvPr>
            <p:ph type="sldNum" sz="quarter" idx="12"/>
          </p:nvPr>
        </p:nvSpPr>
        <p:spPr/>
        <p:txBody>
          <a:bodyPr/>
          <a:lstStyle/>
          <a:p>
            <a:fld id="{8C6BC05E-DB9A-EB4A-A776-575FA40369A3}" type="slidenum">
              <a:rPr lang="nl-NL" smtClean="0"/>
              <a:pPr/>
              <a:t>‹#›</a:t>
            </a:fld>
            <a:endParaRPr lang="nl-NL"/>
          </a:p>
        </p:txBody>
      </p:sp>
    </p:spTree>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with Picture">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91526" y="396000"/>
            <a:ext cx="3999599" cy="576000"/>
          </a:xfrm>
        </p:spPr>
        <p:txBody>
          <a:bodyPr/>
          <a:lstStyle>
            <a:lvl1pPr>
              <a:defRPr/>
            </a:lvl1pPr>
          </a:lstStyle>
          <a:p>
            <a:r>
              <a:rPr lang="en-GB" noProof="0" dirty="0"/>
              <a:t>Click to edit title</a:t>
            </a:r>
          </a:p>
        </p:txBody>
      </p:sp>
      <p:sp>
        <p:nvSpPr>
          <p:cNvPr id="3" name="Tijdelijke aanduiding voor tekst 2"/>
          <p:cNvSpPr>
            <a:spLocks noGrp="1"/>
          </p:cNvSpPr>
          <p:nvPr>
            <p:ph type="body" idx="1" hasCustomPrompt="1"/>
          </p:nvPr>
        </p:nvSpPr>
        <p:spPr>
          <a:xfrm>
            <a:off x="493200" y="972000"/>
            <a:ext cx="3997924" cy="324000"/>
          </a:xfrm>
        </p:spPr>
        <p:txBody>
          <a:bodyPr anchor="t" anchorCtr="0"/>
          <a:lstStyle>
            <a:lvl1pPr marL="0" indent="0">
              <a:buNone/>
              <a:defRPr sz="1800" b="0" i="0">
                <a:latin typeface="Museo Sans 900"/>
                <a:cs typeface="Museo Sans 90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noProof="0" dirty="0"/>
              <a:t>Click to edit text</a:t>
            </a:r>
          </a:p>
        </p:txBody>
      </p:sp>
      <p:sp>
        <p:nvSpPr>
          <p:cNvPr id="4" name="Tijdelijke aanduiding voor inhoud 3"/>
          <p:cNvSpPr>
            <a:spLocks noGrp="1"/>
          </p:cNvSpPr>
          <p:nvPr>
            <p:ph sz="half" idx="2" hasCustomPrompt="1"/>
          </p:nvPr>
        </p:nvSpPr>
        <p:spPr>
          <a:xfrm>
            <a:off x="491524" y="1296000"/>
            <a:ext cx="3999600" cy="3024000"/>
          </a:xfrm>
        </p:spPr>
        <p:txBody>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noProof="0" dirty="0"/>
              <a:t>Click to edit text in bullets</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7" name="Tijdelijke aanduiding voor datum 6"/>
          <p:cNvSpPr>
            <a:spLocks noGrp="1"/>
          </p:cNvSpPr>
          <p:nvPr>
            <p:ph type="dt" sz="half" idx="10"/>
          </p:nvPr>
        </p:nvSpPr>
        <p:spPr/>
        <p:txBody>
          <a:bodyPr/>
          <a:lstStyle/>
          <a:p>
            <a:fld id="{F10973AC-957D-C346-BA56-D82065FA2AEB}" type="datetimeFigureOut">
              <a:rPr lang="nl-NL" smtClean="0"/>
              <a:pPr/>
              <a:t>6-7-2026</a:t>
            </a:fld>
            <a:endParaRPr lang="nl-NL"/>
          </a:p>
        </p:txBody>
      </p:sp>
      <p:sp>
        <p:nvSpPr>
          <p:cNvPr id="8" name="Tijdelijke aanduiding voor voettekst 7"/>
          <p:cNvSpPr>
            <a:spLocks noGrp="1"/>
          </p:cNvSpPr>
          <p:nvPr>
            <p:ph type="ftr" sz="quarter" idx="11"/>
          </p:nvPr>
        </p:nvSpPr>
        <p:spPr/>
        <p:txBody>
          <a:bodyPr/>
          <a:lstStyle/>
          <a:p>
            <a:endParaRPr lang="nl-NL"/>
          </a:p>
        </p:txBody>
      </p:sp>
      <p:sp>
        <p:nvSpPr>
          <p:cNvPr id="9" name="Tijdelijke aanduiding voor dianummer 8"/>
          <p:cNvSpPr>
            <a:spLocks noGrp="1"/>
          </p:cNvSpPr>
          <p:nvPr>
            <p:ph type="sldNum" sz="quarter" idx="12"/>
          </p:nvPr>
        </p:nvSpPr>
        <p:spPr/>
        <p:txBody>
          <a:bodyPr/>
          <a:lstStyle/>
          <a:p>
            <a:fld id="{8C6BC05E-DB9A-EB4A-A776-575FA40369A3}" type="slidenum">
              <a:rPr lang="nl-NL" smtClean="0"/>
              <a:pPr/>
              <a:t>‹#›</a:t>
            </a:fld>
            <a:endParaRPr lang="nl-NL"/>
          </a:p>
        </p:txBody>
      </p:sp>
      <p:sp>
        <p:nvSpPr>
          <p:cNvPr id="10" name="Tijdelijke aanduiding voor afbeelding 2"/>
          <p:cNvSpPr>
            <a:spLocks noGrp="1"/>
          </p:cNvSpPr>
          <p:nvPr>
            <p:ph type="pic" idx="13" hasCustomPrompt="1"/>
          </p:nvPr>
        </p:nvSpPr>
        <p:spPr>
          <a:xfrm>
            <a:off x="4643999" y="396000"/>
            <a:ext cx="4014000" cy="3816000"/>
          </a:xfrm>
          <a:solidFill>
            <a:schemeClr val="bg1">
              <a:lumMod val="85000"/>
            </a:schemeClr>
          </a:solidFill>
        </p:spPr>
        <p:txBody>
          <a:bodyPr tIns="180000"/>
          <a:lstStyle>
            <a:lvl1pPr marL="0" indent="0" algn="ctr">
              <a:buNone/>
              <a:defRPr sz="1600" baseline="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noProof="0" dirty="0"/>
              <a:t>Click on the icon to</a:t>
            </a:r>
            <a:br>
              <a:rPr lang="en-GB" noProof="0" dirty="0"/>
            </a:br>
            <a:r>
              <a:rPr lang="en-GB" noProof="0" dirty="0"/>
              <a:t>insert a picture</a:t>
            </a:r>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with 2 Pictures">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91526" y="396000"/>
            <a:ext cx="3999599" cy="576000"/>
          </a:xfrm>
        </p:spPr>
        <p:txBody>
          <a:bodyPr/>
          <a:lstStyle>
            <a:lvl1pPr>
              <a:defRPr baseline="0"/>
            </a:lvl1pPr>
          </a:lstStyle>
          <a:p>
            <a:r>
              <a:rPr lang="en-GB" noProof="0" dirty="0"/>
              <a:t>Click to edit title</a:t>
            </a:r>
          </a:p>
        </p:txBody>
      </p:sp>
      <p:sp>
        <p:nvSpPr>
          <p:cNvPr id="3" name="Tijdelijke aanduiding voor tekst 2"/>
          <p:cNvSpPr>
            <a:spLocks noGrp="1"/>
          </p:cNvSpPr>
          <p:nvPr>
            <p:ph type="body" idx="1" hasCustomPrompt="1"/>
          </p:nvPr>
        </p:nvSpPr>
        <p:spPr>
          <a:xfrm>
            <a:off x="491524" y="972000"/>
            <a:ext cx="3999600" cy="324000"/>
          </a:xfrm>
        </p:spPr>
        <p:txBody>
          <a:bodyPr anchor="t" anchorCtr="0"/>
          <a:lstStyle>
            <a:lvl1pPr marL="0" indent="0">
              <a:buNone/>
              <a:defRPr sz="1800" b="0" i="0">
                <a:solidFill>
                  <a:schemeClr val="tx1"/>
                </a:solidFill>
                <a:latin typeface="Museo Sans 900"/>
                <a:cs typeface="Museo Sans 90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noProof="0" dirty="0"/>
              <a:t>Click to edit text</a:t>
            </a:r>
          </a:p>
        </p:txBody>
      </p:sp>
      <p:sp>
        <p:nvSpPr>
          <p:cNvPr id="4" name="Tijdelijke aanduiding voor inhoud 3"/>
          <p:cNvSpPr>
            <a:spLocks noGrp="1"/>
          </p:cNvSpPr>
          <p:nvPr>
            <p:ph sz="half" idx="2" hasCustomPrompt="1"/>
          </p:nvPr>
        </p:nvSpPr>
        <p:spPr>
          <a:xfrm>
            <a:off x="491524" y="1296000"/>
            <a:ext cx="3999600" cy="3024000"/>
          </a:xfrm>
        </p:spPr>
        <p:txBody>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noProof="0" dirty="0"/>
              <a:t>Click to edit text in bullets</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7" name="Tijdelijke aanduiding voor datum 6"/>
          <p:cNvSpPr>
            <a:spLocks noGrp="1"/>
          </p:cNvSpPr>
          <p:nvPr>
            <p:ph type="dt" sz="half" idx="10"/>
          </p:nvPr>
        </p:nvSpPr>
        <p:spPr/>
        <p:txBody>
          <a:bodyPr/>
          <a:lstStyle/>
          <a:p>
            <a:fld id="{F10973AC-957D-C346-BA56-D82065FA2AEB}" type="datetimeFigureOut">
              <a:rPr lang="nl-NL" smtClean="0"/>
              <a:pPr/>
              <a:t>6-7-2026</a:t>
            </a:fld>
            <a:endParaRPr lang="nl-NL" dirty="0"/>
          </a:p>
        </p:txBody>
      </p:sp>
      <p:sp>
        <p:nvSpPr>
          <p:cNvPr id="8" name="Tijdelijke aanduiding voor voettekst 7"/>
          <p:cNvSpPr>
            <a:spLocks noGrp="1"/>
          </p:cNvSpPr>
          <p:nvPr>
            <p:ph type="ftr" sz="quarter" idx="11"/>
          </p:nvPr>
        </p:nvSpPr>
        <p:spPr/>
        <p:txBody>
          <a:bodyPr/>
          <a:lstStyle/>
          <a:p>
            <a:endParaRPr lang="nl-NL" dirty="0"/>
          </a:p>
        </p:txBody>
      </p:sp>
      <p:sp>
        <p:nvSpPr>
          <p:cNvPr id="9" name="Tijdelijke aanduiding voor dianummer 8"/>
          <p:cNvSpPr>
            <a:spLocks noGrp="1"/>
          </p:cNvSpPr>
          <p:nvPr>
            <p:ph type="sldNum" sz="quarter" idx="12"/>
          </p:nvPr>
        </p:nvSpPr>
        <p:spPr/>
        <p:txBody>
          <a:bodyPr/>
          <a:lstStyle/>
          <a:p>
            <a:fld id="{8C6BC05E-DB9A-EB4A-A776-575FA40369A3}" type="slidenum">
              <a:rPr lang="nl-NL" smtClean="0"/>
              <a:pPr/>
              <a:t>‹#›</a:t>
            </a:fld>
            <a:endParaRPr lang="nl-NL"/>
          </a:p>
        </p:txBody>
      </p:sp>
      <p:sp>
        <p:nvSpPr>
          <p:cNvPr id="10" name="Tijdelijke aanduiding voor afbeelding 2"/>
          <p:cNvSpPr>
            <a:spLocks noGrp="1"/>
          </p:cNvSpPr>
          <p:nvPr>
            <p:ph type="pic" idx="13" hasCustomPrompt="1"/>
          </p:nvPr>
        </p:nvSpPr>
        <p:spPr>
          <a:xfrm>
            <a:off x="4643999" y="396000"/>
            <a:ext cx="4014000" cy="1836000"/>
          </a:xfrm>
          <a:solidFill>
            <a:schemeClr val="bg1">
              <a:lumMod val="85000"/>
            </a:schemeClr>
          </a:solidFill>
        </p:spPr>
        <p:txBody>
          <a:bodyPr tIns="180000"/>
          <a:lstStyle>
            <a:lvl1pPr marL="0" indent="0" algn="ctr">
              <a:buNone/>
              <a:defRPr sz="1600" baseline="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noProof="0" dirty="0"/>
              <a:t>Click on the icon to </a:t>
            </a:r>
            <a:br>
              <a:rPr lang="en-GB" noProof="0" dirty="0"/>
            </a:br>
            <a:r>
              <a:rPr lang="en-GB" noProof="0" dirty="0"/>
              <a:t>insert a picture</a:t>
            </a:r>
          </a:p>
          <a:p>
            <a:endParaRPr lang="nl-NL" dirty="0"/>
          </a:p>
        </p:txBody>
      </p:sp>
      <p:sp>
        <p:nvSpPr>
          <p:cNvPr id="11" name="Tijdelijke aanduiding voor afbeelding 2"/>
          <p:cNvSpPr>
            <a:spLocks noGrp="1"/>
          </p:cNvSpPr>
          <p:nvPr>
            <p:ph type="pic" idx="14" hasCustomPrompt="1"/>
          </p:nvPr>
        </p:nvSpPr>
        <p:spPr>
          <a:xfrm>
            <a:off x="4643999" y="2376000"/>
            <a:ext cx="4014000" cy="1836000"/>
          </a:xfrm>
          <a:solidFill>
            <a:schemeClr val="bg1">
              <a:lumMod val="85000"/>
            </a:schemeClr>
          </a:solidFill>
        </p:spPr>
        <p:txBody>
          <a:bodyPr tIns="180000"/>
          <a:lstStyle>
            <a:lvl1pPr marL="0" indent="0" algn="ctr">
              <a:buNone/>
              <a:defRPr sz="16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noProof="0" dirty="0"/>
              <a:t>Click on the icon to </a:t>
            </a:r>
            <a:br>
              <a:rPr lang="en-GB" noProof="0" dirty="0"/>
            </a:br>
            <a:r>
              <a:rPr lang="en-GB" noProof="0" dirty="0"/>
              <a:t>insert a picture</a:t>
            </a:r>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Click to edit title</a:t>
            </a:r>
          </a:p>
        </p:txBody>
      </p:sp>
      <p:sp>
        <p:nvSpPr>
          <p:cNvPr id="3" name="Tijdelijke aanduiding voor datum 2"/>
          <p:cNvSpPr>
            <a:spLocks noGrp="1"/>
          </p:cNvSpPr>
          <p:nvPr>
            <p:ph type="dt" sz="half" idx="10"/>
          </p:nvPr>
        </p:nvSpPr>
        <p:spPr/>
        <p:txBody>
          <a:bodyPr/>
          <a:lstStyle/>
          <a:p>
            <a:fld id="{F10973AC-957D-C346-BA56-D82065FA2AEB}" type="datetimeFigureOut">
              <a:rPr lang="nl-NL" smtClean="0"/>
              <a:pPr/>
              <a:t>6-7-2026</a:t>
            </a:fld>
            <a:endParaRPr lang="nl-NL"/>
          </a:p>
        </p:txBody>
      </p:sp>
      <p:sp>
        <p:nvSpPr>
          <p:cNvPr id="4" name="Tijdelijke aanduiding voor voettekst 3"/>
          <p:cNvSpPr>
            <a:spLocks noGrp="1"/>
          </p:cNvSpPr>
          <p:nvPr>
            <p:ph type="ftr" sz="quarter" idx="11"/>
          </p:nvPr>
        </p:nvSpPr>
        <p:spPr/>
        <p:txBody>
          <a:bodyPr/>
          <a:lstStyle/>
          <a:p>
            <a:endParaRPr lang="nl-NL"/>
          </a:p>
        </p:txBody>
      </p:sp>
      <p:sp>
        <p:nvSpPr>
          <p:cNvPr id="5" name="Tijdelijke aanduiding voor dianummer 4"/>
          <p:cNvSpPr>
            <a:spLocks noGrp="1"/>
          </p:cNvSpPr>
          <p:nvPr>
            <p:ph type="sldNum" sz="quarter" idx="12"/>
          </p:nvPr>
        </p:nvSpPr>
        <p:spPr/>
        <p:txBody>
          <a:bodyPr/>
          <a:lstStyle/>
          <a:p>
            <a:fld id="{8C6BC05E-DB9A-EB4A-A776-575FA40369A3}" type="slidenum">
              <a:rPr lang="nl-NL" smtClean="0"/>
              <a:pPr/>
              <a:t>‹#›</a:t>
            </a:fld>
            <a:endParaRPr lang="nl-N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a:lstStyle/>
          <a:p>
            <a:fld id="{F10973AC-957D-C346-BA56-D82065FA2AEB}" type="datetimeFigureOut">
              <a:rPr lang="nl-NL" smtClean="0"/>
              <a:pPr/>
              <a:t>6-7-2026</a:t>
            </a:fld>
            <a:endParaRPr lang="nl-NL"/>
          </a:p>
        </p:txBody>
      </p:sp>
      <p:sp>
        <p:nvSpPr>
          <p:cNvPr id="3" name="Tijdelijke aanduiding voor voettekst 2"/>
          <p:cNvSpPr>
            <a:spLocks noGrp="1"/>
          </p:cNvSpPr>
          <p:nvPr>
            <p:ph type="ftr" sz="quarter" idx="11"/>
          </p:nvPr>
        </p:nvSpPr>
        <p:spPr/>
        <p:txBody>
          <a:bodyPr/>
          <a:lstStyle/>
          <a:p>
            <a:endParaRPr lang="nl-NL"/>
          </a:p>
        </p:txBody>
      </p:sp>
      <p:sp>
        <p:nvSpPr>
          <p:cNvPr id="4" name="Tijdelijke aanduiding voor dianummer 3"/>
          <p:cNvSpPr>
            <a:spLocks noGrp="1"/>
          </p:cNvSpPr>
          <p:nvPr>
            <p:ph type="sldNum" sz="quarter" idx="12"/>
          </p:nvPr>
        </p:nvSpPr>
        <p:spPr/>
        <p:txBody>
          <a:bodyPr/>
          <a:lstStyle/>
          <a:p>
            <a:fld id="{8C6BC05E-DB9A-EB4A-A776-575FA40369A3}" type="slidenum">
              <a:rPr lang="nl-NL" smtClean="0"/>
              <a:pPr/>
              <a:t>‹#›</a:t>
            </a:fld>
            <a:endParaRPr lang="nl-N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 with Caption">
    <p:bg>
      <p:bgRef idx="1001">
        <a:schemeClr val="bg1"/>
      </p:bgRef>
    </p:bg>
    <p:spTree>
      <p:nvGrpSpPr>
        <p:cNvPr id="1" name=""/>
        <p:cNvGrpSpPr/>
        <p:nvPr/>
      </p:nvGrpSpPr>
      <p:grpSpPr>
        <a:xfrm>
          <a:off x="0" y="0"/>
          <a:ext cx="0" cy="0"/>
          <a:chOff x="0" y="0"/>
          <a:chExt cx="0" cy="0"/>
        </a:xfrm>
      </p:grpSpPr>
      <p:sp>
        <p:nvSpPr>
          <p:cNvPr id="3" name="Tijdelijke aanduiding voor afbeelding 2"/>
          <p:cNvSpPr>
            <a:spLocks noGrp="1"/>
          </p:cNvSpPr>
          <p:nvPr>
            <p:ph type="pic" idx="1" hasCustomPrompt="1"/>
          </p:nvPr>
        </p:nvSpPr>
        <p:spPr>
          <a:xfrm>
            <a:off x="491525" y="792000"/>
            <a:ext cx="8172000" cy="3418613"/>
          </a:xfrm>
          <a:solidFill>
            <a:schemeClr val="bg1">
              <a:lumMod val="85000"/>
            </a:schemeClr>
          </a:solidFill>
        </p:spPr>
        <p:txBody>
          <a:bodyPr tIns="180000"/>
          <a:lstStyle>
            <a:lvl1pPr marL="0" indent="0" algn="ctr">
              <a:buNone/>
              <a:defRPr sz="16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noProof="0" dirty="0"/>
              <a:t>Click on the icon to</a:t>
            </a:r>
            <a:br>
              <a:rPr lang="en-GB" noProof="0" dirty="0"/>
            </a:br>
            <a:r>
              <a:rPr lang="en-GB" noProof="0" dirty="0"/>
              <a:t>insert a picture</a:t>
            </a:r>
          </a:p>
        </p:txBody>
      </p:sp>
      <p:sp>
        <p:nvSpPr>
          <p:cNvPr id="2" name="Titel 1"/>
          <p:cNvSpPr>
            <a:spLocks noGrp="1"/>
          </p:cNvSpPr>
          <p:nvPr>
            <p:ph type="title" hasCustomPrompt="1"/>
          </p:nvPr>
        </p:nvSpPr>
        <p:spPr>
          <a:xfrm>
            <a:off x="491525" y="396000"/>
            <a:ext cx="8172000" cy="396000"/>
          </a:xfrm>
        </p:spPr>
        <p:txBody>
          <a:bodyPr anchor="t" anchorCtr="0"/>
          <a:lstStyle>
            <a:lvl1pPr algn="l">
              <a:lnSpc>
                <a:spcPts val="2500"/>
              </a:lnSpc>
              <a:defRPr sz="2000" b="1" baseline="0">
                <a:solidFill>
                  <a:schemeClr val="tx1"/>
                </a:solidFill>
                <a:latin typeface="+mj-lt"/>
              </a:defRPr>
            </a:lvl1pPr>
          </a:lstStyle>
          <a:p>
            <a:r>
              <a:rPr lang="en-GB" noProof="0" dirty="0"/>
              <a:t>Click to edit title</a:t>
            </a:r>
          </a:p>
        </p:txBody>
      </p:sp>
      <p:sp>
        <p:nvSpPr>
          <p:cNvPr id="5" name="Tijdelijke aanduiding voor datum 4"/>
          <p:cNvSpPr>
            <a:spLocks noGrp="1"/>
          </p:cNvSpPr>
          <p:nvPr>
            <p:ph type="dt" sz="half" idx="10"/>
          </p:nvPr>
        </p:nvSpPr>
        <p:spPr/>
        <p:txBody>
          <a:bodyPr/>
          <a:lstStyle/>
          <a:p>
            <a:fld id="{F10973AC-957D-C346-BA56-D82065FA2AEB}" type="datetimeFigureOut">
              <a:rPr lang="nl-NL" smtClean="0"/>
              <a:pPr/>
              <a:t>6-7-2026</a:t>
            </a:fld>
            <a:endParaRPr lang="nl-NL"/>
          </a:p>
        </p:txBody>
      </p:sp>
      <p:sp>
        <p:nvSpPr>
          <p:cNvPr id="6" name="Tijdelijke aanduiding voor voettekst 5"/>
          <p:cNvSpPr>
            <a:spLocks noGrp="1"/>
          </p:cNvSpPr>
          <p:nvPr>
            <p:ph type="ftr" sz="quarter" idx="11"/>
          </p:nvPr>
        </p:nvSpPr>
        <p:spPr/>
        <p:txBody>
          <a:bodyPr/>
          <a:lstStyle/>
          <a:p>
            <a:endParaRPr lang="nl-NL" dirty="0"/>
          </a:p>
        </p:txBody>
      </p:sp>
      <p:sp>
        <p:nvSpPr>
          <p:cNvPr id="7" name="Tijdelijke aanduiding voor dianummer 6"/>
          <p:cNvSpPr>
            <a:spLocks noGrp="1"/>
          </p:cNvSpPr>
          <p:nvPr>
            <p:ph type="sldNum" sz="quarter" idx="12"/>
          </p:nvPr>
        </p:nvSpPr>
        <p:spPr/>
        <p:txBody>
          <a:bodyPr/>
          <a:lstStyle/>
          <a:p>
            <a:fld id="{8C6BC05E-DB9A-EB4A-A776-575FA40369A3}" type="slidenum">
              <a:rPr lang="nl-NL" smtClean="0"/>
              <a:pPr/>
              <a:t>‹#›</a:t>
            </a:fld>
            <a:endParaRPr lang="nl-NL"/>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Afbeelding 7" descr="EU_Logo_Groen_300.png"/>
          <p:cNvPicPr>
            <a:picLocks noChangeAspect="1"/>
          </p:cNvPicPr>
          <p:nvPr/>
        </p:nvPicPr>
        <p:blipFill>
          <a:blip r:embed="rId13">
            <a:alphaModFix/>
          </a:blip>
          <a:stretch>
            <a:fillRect/>
          </a:stretch>
        </p:blipFill>
        <p:spPr>
          <a:xfrm>
            <a:off x="7308000" y="4298400"/>
            <a:ext cx="1432608" cy="576091"/>
          </a:xfrm>
          <a:prstGeom prst="rect">
            <a:avLst/>
          </a:prstGeom>
        </p:spPr>
      </p:pic>
      <p:sp>
        <p:nvSpPr>
          <p:cNvPr id="2" name="Tijdelijke aanduiding voor titel 1"/>
          <p:cNvSpPr>
            <a:spLocks noGrp="1"/>
          </p:cNvSpPr>
          <p:nvPr>
            <p:ph type="title"/>
          </p:nvPr>
        </p:nvSpPr>
        <p:spPr>
          <a:xfrm>
            <a:off x="491525" y="396000"/>
            <a:ext cx="8172000" cy="576000"/>
          </a:xfrm>
          <a:prstGeom prst="rect">
            <a:avLst/>
          </a:prstGeom>
        </p:spPr>
        <p:txBody>
          <a:bodyPr vert="horz" lIns="0" tIns="0" rIns="0" bIns="0" rtlCol="0" anchor="t" anchorCtr="0">
            <a:noAutofit/>
          </a:bodyPr>
          <a:lstStyle/>
          <a:p>
            <a:r>
              <a:rPr lang="en-GB" noProof="0" dirty="0"/>
              <a:t>Click to edit title</a:t>
            </a:r>
          </a:p>
        </p:txBody>
      </p:sp>
      <p:sp>
        <p:nvSpPr>
          <p:cNvPr id="3" name="Tijdelijke aanduiding voor tekst 2"/>
          <p:cNvSpPr>
            <a:spLocks noGrp="1"/>
          </p:cNvSpPr>
          <p:nvPr>
            <p:ph type="body" idx="1"/>
          </p:nvPr>
        </p:nvSpPr>
        <p:spPr>
          <a:xfrm>
            <a:off x="491524" y="971551"/>
            <a:ext cx="8172000" cy="3348000"/>
          </a:xfrm>
          <a:prstGeom prst="rect">
            <a:avLst/>
          </a:prstGeom>
        </p:spPr>
        <p:txBody>
          <a:bodyPr vert="horz" lIns="0" tIns="0" rIns="0" bIns="0" rtlCol="0" anchor="t" anchorCtr="0">
            <a:noAutofit/>
          </a:bodyPr>
          <a:lstStyle/>
          <a:p>
            <a:pPr lvl="0"/>
            <a:r>
              <a:rPr lang="en-GB" noProof="0" dirty="0"/>
              <a:t>Click to edit text in bullets</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4" name="Tijdelijke aanduiding voor datum 3"/>
          <p:cNvSpPr>
            <a:spLocks noGrp="1"/>
          </p:cNvSpPr>
          <p:nvPr>
            <p:ph type="dt" sz="half" idx="2"/>
          </p:nvPr>
        </p:nvSpPr>
        <p:spPr>
          <a:xfrm>
            <a:off x="817200" y="4663178"/>
            <a:ext cx="756000" cy="180285"/>
          </a:xfrm>
          <a:prstGeom prst="rect">
            <a:avLst/>
          </a:prstGeom>
        </p:spPr>
        <p:txBody>
          <a:bodyPr vert="horz" lIns="0" tIns="0" rIns="0" bIns="0" rtlCol="0" anchor="t" anchorCtr="0">
            <a:noAutofit/>
          </a:bodyPr>
          <a:lstStyle>
            <a:lvl1pPr algn="l">
              <a:defRPr sz="1000">
                <a:solidFill>
                  <a:schemeClr val="tx1"/>
                </a:solidFill>
                <a:latin typeface="Museo Sans 100"/>
                <a:cs typeface="Museo Sans 100"/>
              </a:defRPr>
            </a:lvl1pPr>
          </a:lstStyle>
          <a:p>
            <a:fld id="{F10973AC-957D-C346-BA56-D82065FA2AEB}" type="datetimeFigureOut">
              <a:rPr lang="nl-NL" smtClean="0"/>
              <a:pPr/>
              <a:t>6-7-2026</a:t>
            </a:fld>
            <a:endParaRPr lang="nl-NL" dirty="0"/>
          </a:p>
        </p:txBody>
      </p:sp>
      <p:sp>
        <p:nvSpPr>
          <p:cNvPr id="5" name="Tijdelijke aanduiding voor voettekst 4"/>
          <p:cNvSpPr>
            <a:spLocks noGrp="1"/>
          </p:cNvSpPr>
          <p:nvPr>
            <p:ph type="ftr" sz="quarter" idx="3"/>
          </p:nvPr>
        </p:nvSpPr>
        <p:spPr>
          <a:xfrm>
            <a:off x="1573200" y="4663178"/>
            <a:ext cx="5102920" cy="180285"/>
          </a:xfrm>
          <a:prstGeom prst="rect">
            <a:avLst/>
          </a:prstGeom>
        </p:spPr>
        <p:txBody>
          <a:bodyPr vert="horz" lIns="0" tIns="0" rIns="0" bIns="0" rtlCol="0" anchor="t" anchorCtr="0">
            <a:noAutofit/>
          </a:bodyPr>
          <a:lstStyle>
            <a:lvl1pPr algn="l">
              <a:defRPr sz="1000" b="0" i="0">
                <a:solidFill>
                  <a:schemeClr val="tx2"/>
                </a:solidFill>
                <a:latin typeface="+mn-lt"/>
                <a:cs typeface="Museo Sans 500"/>
              </a:defRPr>
            </a:lvl1pPr>
          </a:lstStyle>
          <a:p>
            <a:endParaRPr lang="nl-NL" dirty="0"/>
          </a:p>
        </p:txBody>
      </p:sp>
      <p:sp>
        <p:nvSpPr>
          <p:cNvPr id="6" name="Tijdelijke aanduiding voor dianummer 5"/>
          <p:cNvSpPr>
            <a:spLocks noGrp="1"/>
          </p:cNvSpPr>
          <p:nvPr>
            <p:ph type="sldNum" sz="quarter" idx="4"/>
          </p:nvPr>
        </p:nvSpPr>
        <p:spPr>
          <a:xfrm>
            <a:off x="491525" y="4663178"/>
            <a:ext cx="324000" cy="180285"/>
          </a:xfrm>
          <a:prstGeom prst="rect">
            <a:avLst/>
          </a:prstGeom>
        </p:spPr>
        <p:txBody>
          <a:bodyPr vert="horz" lIns="0" tIns="0" rIns="0" bIns="0" rtlCol="0" anchor="t" anchorCtr="0">
            <a:noAutofit/>
          </a:bodyPr>
          <a:lstStyle>
            <a:lvl1pPr algn="l">
              <a:defRPr sz="1000" b="0" i="0">
                <a:solidFill>
                  <a:schemeClr val="tx2"/>
                </a:solidFill>
                <a:latin typeface="+mn-lt"/>
                <a:cs typeface="Museo Sans 500"/>
              </a:defRPr>
            </a:lvl1pPr>
          </a:lstStyle>
          <a:p>
            <a:fld id="{8C6BC05E-DB9A-EB4A-A776-575FA40369A3}" type="slidenum">
              <a:rPr lang="nl-NL" smtClean="0"/>
              <a:pPr/>
              <a:t>‹#›</a:t>
            </a:fld>
            <a:endParaRPr lang="nl-NL" dirty="0"/>
          </a:p>
        </p:txBody>
      </p:sp>
    </p:spTree>
  </p:cSld>
  <p:clrMap bg1="lt1" tx1="dk1" bg2="lt2" tx2="dk2" accent1="accent1" accent2="accent2" accent3="accent3" accent4="accent4" accent5="accent5" accent6="accent6" hlink="hlink" folHlink="folHlink"/>
  <p:sldLayoutIdLst>
    <p:sldLayoutId id="2147483649" r:id="rId1"/>
    <p:sldLayoutId id="2147483662" r:id="rId2"/>
    <p:sldLayoutId id="2147483650" r:id="rId3"/>
    <p:sldLayoutId id="2147483659" r:id="rId4"/>
    <p:sldLayoutId id="2147483652" r:id="rId5"/>
    <p:sldLayoutId id="2147483653" r:id="rId6"/>
    <p:sldLayoutId id="2147483660" r:id="rId7"/>
    <p:sldLayoutId id="2147483661" r:id="rId8"/>
    <p:sldLayoutId id="2147483654" r:id="rId9"/>
    <p:sldLayoutId id="2147483655" r:id="rId10"/>
    <p:sldLayoutId id="2147483657" r:id="rId11"/>
  </p:sldLayoutIdLst>
  <p:txStyles>
    <p:titleStyle>
      <a:lvl1pPr algn="l" defTabSz="457200" rtl="0" eaLnBrk="1" latinLnBrk="0" hangingPunct="1">
        <a:lnSpc>
          <a:spcPts val="3200"/>
        </a:lnSpc>
        <a:spcBef>
          <a:spcPct val="0"/>
        </a:spcBef>
        <a:buNone/>
        <a:defRPr sz="2800" b="0" i="0" kern="1200">
          <a:solidFill>
            <a:schemeClr val="tx2"/>
          </a:solidFill>
          <a:latin typeface="+mj-lt"/>
          <a:ea typeface="+mj-ea"/>
          <a:cs typeface="Museo Sans 700"/>
        </a:defRPr>
      </a:lvl1pPr>
    </p:titleStyle>
    <p:body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1465942" y="1266914"/>
            <a:ext cx="5623379" cy="1224000"/>
          </a:xfrm>
        </p:spPr>
        <p:txBody>
          <a:bodyPr/>
          <a:lstStyle/>
          <a:p>
            <a:r>
              <a:rPr lang="en-US" b="1" dirty="0"/>
              <a:t>From Conceptions to Measurement: Dutch Perspectives and the WOOP Tool </a:t>
            </a:r>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el 3">
            <a:extLst>
              <a:ext uri="{FF2B5EF4-FFF2-40B4-BE49-F238E27FC236}">
                <a16:creationId xmlns:a16="http://schemas.microsoft.com/office/drawing/2014/main" id="{1D5117DE-CFD6-4A46-9339-CE3DE7F295D2}"/>
              </a:ext>
            </a:extLst>
          </p:cNvPr>
          <p:cNvSpPr>
            <a:spLocks noGrp="1"/>
          </p:cNvSpPr>
          <p:nvPr>
            <p:ph type="title"/>
          </p:nvPr>
        </p:nvSpPr>
        <p:spPr>
          <a:xfrm>
            <a:off x="491525" y="396000"/>
            <a:ext cx="8172000" cy="576000"/>
          </a:xfrm>
        </p:spPr>
        <p:txBody>
          <a:bodyPr/>
          <a:lstStyle/>
          <a:p>
            <a:r>
              <a:rPr lang="en-GB" b="1" noProof="1"/>
              <a:t>Disclosure slide</a:t>
            </a:r>
            <a:endParaRPr lang="en-GB" noProof="1"/>
          </a:p>
        </p:txBody>
      </p:sp>
      <p:sp>
        <p:nvSpPr>
          <p:cNvPr id="2" name="Content Placeholder 3">
            <a:extLst>
              <a:ext uri="{FF2B5EF4-FFF2-40B4-BE49-F238E27FC236}">
                <a16:creationId xmlns:a16="http://schemas.microsoft.com/office/drawing/2014/main" id="{C003D782-E2DA-9D28-8F20-838EC606C7AB}"/>
              </a:ext>
            </a:extLst>
          </p:cNvPr>
          <p:cNvSpPr txBox="1">
            <a:spLocks/>
          </p:cNvSpPr>
          <p:nvPr/>
        </p:nvSpPr>
        <p:spPr>
          <a:xfrm>
            <a:off x="491525" y="971999"/>
            <a:ext cx="3303235"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sz="1400" dirty="0"/>
              <a:t>No (potential) conflict of interests</a:t>
            </a:r>
            <a:endParaRPr lang="pt-BR" sz="1400" dirty="0"/>
          </a:p>
          <a:p>
            <a:endParaRPr lang="en-US" sz="1400" dirty="0"/>
          </a:p>
        </p:txBody>
      </p:sp>
    </p:spTree>
    <p:extLst>
      <p:ext uri="{BB962C8B-B14F-4D97-AF65-F5344CB8AC3E}">
        <p14:creationId xmlns:p14="http://schemas.microsoft.com/office/powerpoint/2010/main" val="3836588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1782424" y="1976520"/>
            <a:ext cx="5100975" cy="611472"/>
          </a:xfrm>
        </p:spPr>
        <p:txBody>
          <a:bodyPr/>
          <a:lstStyle/>
          <a:p>
            <a:r>
              <a:rPr lang="en-US" dirty="0"/>
              <a:t>Development of the WOOP</a:t>
            </a:r>
          </a:p>
        </p:txBody>
      </p:sp>
    </p:spTree>
    <p:extLst>
      <p:ext uri="{BB962C8B-B14F-4D97-AF65-F5344CB8AC3E}">
        <p14:creationId xmlns:p14="http://schemas.microsoft.com/office/powerpoint/2010/main" val="1508604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23DB9-AF47-D940-F6F5-DB96DFD0AD4D}"/>
            </a:ext>
          </a:extLst>
        </p:cNvPr>
        <p:cNvGrpSpPr/>
        <p:nvPr/>
      </p:nvGrpSpPr>
      <p:grpSpPr>
        <a:xfrm>
          <a:off x="0" y="0"/>
          <a:ext cx="0" cy="0"/>
          <a:chOff x="0" y="0"/>
          <a:chExt cx="0" cy="0"/>
        </a:xfrm>
      </p:grpSpPr>
      <p:pic>
        <p:nvPicPr>
          <p:cNvPr id="5" name="Afbeelding 4" descr="Afbeelding met elektronica, rekenmachine&#10;&#10;Automatisch gegenereerde beschrijving">
            <a:extLst>
              <a:ext uri="{FF2B5EF4-FFF2-40B4-BE49-F238E27FC236}">
                <a16:creationId xmlns:a16="http://schemas.microsoft.com/office/drawing/2014/main" id="{4CCB822D-43C4-1904-F445-15281F0901C1}"/>
              </a:ext>
            </a:extLst>
          </p:cNvPr>
          <p:cNvPicPr>
            <a:picLocks noChangeAspect="1"/>
          </p:cNvPicPr>
          <p:nvPr/>
        </p:nvPicPr>
        <p:blipFill rotWithShape="1">
          <a:blip r:embed="rId3">
            <a:grayscl/>
            <a:alphaModFix amt="85000"/>
          </a:blip>
          <a:srcRect l="8938" t="2312" r="3909" b="44691"/>
          <a:stretch/>
        </p:blipFill>
        <p:spPr>
          <a:xfrm>
            <a:off x="900649" y="1365668"/>
            <a:ext cx="7474117" cy="302994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9" name="Titel 3">
            <a:extLst>
              <a:ext uri="{FF2B5EF4-FFF2-40B4-BE49-F238E27FC236}">
                <a16:creationId xmlns:a16="http://schemas.microsoft.com/office/drawing/2014/main" id="{14B306C8-232F-B3D5-320D-0210CFAF5C6A}"/>
              </a:ext>
            </a:extLst>
          </p:cNvPr>
          <p:cNvSpPr>
            <a:spLocks noGrp="1"/>
          </p:cNvSpPr>
          <p:nvPr>
            <p:ph type="title"/>
          </p:nvPr>
        </p:nvSpPr>
        <p:spPr>
          <a:xfrm>
            <a:off x="491525" y="396000"/>
            <a:ext cx="8172000" cy="576000"/>
          </a:xfrm>
        </p:spPr>
        <p:txBody>
          <a:bodyPr/>
          <a:lstStyle/>
          <a:p>
            <a:r>
              <a:rPr lang="en-GB" b="1" noProof="1"/>
              <a:t>Views of older people in the Netherlands on wellbeing</a:t>
            </a:r>
            <a:endParaRPr lang="en-GB" noProof="1"/>
          </a:p>
        </p:txBody>
      </p:sp>
      <p:pic>
        <p:nvPicPr>
          <p:cNvPr id="2050" name="Picture 2" descr="Qsorter by unkown">
            <a:extLst>
              <a:ext uri="{FF2B5EF4-FFF2-40B4-BE49-F238E27FC236}">
                <a16:creationId xmlns:a16="http://schemas.microsoft.com/office/drawing/2014/main" id="{A1366810-23F8-8B48-E67F-5AD5DDCBCB8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1859" b="22859"/>
          <a:stretch/>
        </p:blipFill>
        <p:spPr bwMode="auto">
          <a:xfrm>
            <a:off x="5488870" y="3199409"/>
            <a:ext cx="3655130" cy="1855191"/>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3739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Afbeelding 7">
            <a:extLst>
              <a:ext uri="{FF2B5EF4-FFF2-40B4-BE49-F238E27FC236}">
                <a16:creationId xmlns:a16="http://schemas.microsoft.com/office/drawing/2014/main" id="{95535091-25E0-4CBC-93EA-A00896BA4B11}"/>
              </a:ext>
            </a:extLst>
          </p:cNvPr>
          <p:cNvPicPr>
            <a:picLocks noChangeAspect="1"/>
          </p:cNvPicPr>
          <p:nvPr/>
        </p:nvPicPr>
        <p:blipFill>
          <a:blip r:embed="rId3">
            <a:alphaModFix amt="35000"/>
            <a:extLst>
              <a:ext uri="{28A0092B-C50C-407E-A947-70E740481C1C}">
                <a14:useLocalDpi xmlns:a14="http://schemas.microsoft.com/office/drawing/2010/main" val="0"/>
              </a:ext>
            </a:extLst>
          </a:blip>
          <a:stretch>
            <a:fillRect/>
          </a:stretch>
        </p:blipFill>
        <p:spPr>
          <a:xfrm>
            <a:off x="2631736" y="1124796"/>
            <a:ext cx="3880527" cy="3783514"/>
          </a:xfrm>
          <a:prstGeom prst="rect">
            <a:avLst/>
          </a:prstGeom>
        </p:spPr>
      </p:pic>
      <p:sp>
        <p:nvSpPr>
          <p:cNvPr id="9" name="Tekstvak 8">
            <a:extLst>
              <a:ext uri="{FF2B5EF4-FFF2-40B4-BE49-F238E27FC236}">
                <a16:creationId xmlns:a16="http://schemas.microsoft.com/office/drawing/2014/main" id="{45004710-D484-4847-A374-D20301F656E1}"/>
              </a:ext>
            </a:extLst>
          </p:cNvPr>
          <p:cNvSpPr txBox="1"/>
          <p:nvPr/>
        </p:nvSpPr>
        <p:spPr>
          <a:xfrm>
            <a:off x="4453794" y="1897322"/>
            <a:ext cx="443346" cy="584775"/>
          </a:xfrm>
          <a:prstGeom prst="rect">
            <a:avLst/>
          </a:prstGeom>
          <a:noFill/>
        </p:spPr>
        <p:txBody>
          <a:bodyPr wrap="square" rtlCol="0">
            <a:spAutoFit/>
          </a:bodyPr>
          <a:lstStyle/>
          <a:p>
            <a:r>
              <a:rPr lang="nl-NL" sz="3200" b="1" dirty="0"/>
              <a:t>1</a:t>
            </a:r>
          </a:p>
        </p:txBody>
      </p:sp>
      <p:sp>
        <p:nvSpPr>
          <p:cNvPr id="10" name="Tekstvak 9">
            <a:extLst>
              <a:ext uri="{FF2B5EF4-FFF2-40B4-BE49-F238E27FC236}">
                <a16:creationId xmlns:a16="http://schemas.microsoft.com/office/drawing/2014/main" id="{BB1F962A-F647-42FB-99C8-D2FCD9B27A2D}"/>
              </a:ext>
            </a:extLst>
          </p:cNvPr>
          <p:cNvSpPr txBox="1"/>
          <p:nvPr/>
        </p:nvSpPr>
        <p:spPr>
          <a:xfrm>
            <a:off x="3507507" y="1001049"/>
            <a:ext cx="2128983" cy="923330"/>
          </a:xfrm>
          <a:prstGeom prst="rect">
            <a:avLst/>
          </a:prstGeom>
          <a:noFill/>
        </p:spPr>
        <p:txBody>
          <a:bodyPr wrap="square" rtlCol="0">
            <a:spAutoFit/>
          </a:bodyPr>
          <a:lstStyle/>
          <a:p>
            <a:pPr algn="ctr"/>
            <a:r>
              <a:rPr lang="nl-NL" dirty="0"/>
              <a:t>Health</a:t>
            </a:r>
          </a:p>
          <a:p>
            <a:pPr algn="ctr"/>
            <a:r>
              <a:rPr lang="nl-NL" dirty="0"/>
              <a:t>Financial security</a:t>
            </a:r>
          </a:p>
          <a:p>
            <a:pPr algn="ctr"/>
            <a:r>
              <a:rPr lang="nl-NL" dirty="0"/>
              <a:t>A life partner </a:t>
            </a:r>
          </a:p>
        </p:txBody>
      </p:sp>
      <p:sp>
        <p:nvSpPr>
          <p:cNvPr id="11" name="Tekstvak 10">
            <a:extLst>
              <a:ext uri="{FF2B5EF4-FFF2-40B4-BE49-F238E27FC236}">
                <a16:creationId xmlns:a16="http://schemas.microsoft.com/office/drawing/2014/main" id="{58C42100-2C94-43EE-900B-232E2200781B}"/>
              </a:ext>
            </a:extLst>
          </p:cNvPr>
          <p:cNvSpPr txBox="1"/>
          <p:nvPr/>
        </p:nvSpPr>
        <p:spPr>
          <a:xfrm>
            <a:off x="5719618" y="2680911"/>
            <a:ext cx="2602106" cy="923330"/>
          </a:xfrm>
          <a:prstGeom prst="rect">
            <a:avLst/>
          </a:prstGeom>
          <a:noFill/>
        </p:spPr>
        <p:txBody>
          <a:bodyPr wrap="square" rtlCol="0">
            <a:spAutoFit/>
          </a:bodyPr>
          <a:lstStyle/>
          <a:p>
            <a:r>
              <a:rPr lang="nl-NL" dirty="0" err="1"/>
              <a:t>Physical</a:t>
            </a:r>
            <a:r>
              <a:rPr lang="nl-NL" dirty="0"/>
              <a:t> </a:t>
            </a:r>
            <a:r>
              <a:rPr lang="nl-NL" dirty="0" err="1"/>
              <a:t>functioning</a:t>
            </a:r>
            <a:r>
              <a:rPr lang="nl-NL" dirty="0"/>
              <a:t> </a:t>
            </a:r>
          </a:p>
          <a:p>
            <a:r>
              <a:rPr lang="nl-NL" dirty="0"/>
              <a:t>Family</a:t>
            </a:r>
          </a:p>
          <a:p>
            <a:r>
              <a:rPr lang="nl-NL" dirty="0"/>
              <a:t>Support </a:t>
            </a:r>
          </a:p>
        </p:txBody>
      </p:sp>
      <p:sp>
        <p:nvSpPr>
          <p:cNvPr id="12" name="Tekstvak 11">
            <a:extLst>
              <a:ext uri="{FF2B5EF4-FFF2-40B4-BE49-F238E27FC236}">
                <a16:creationId xmlns:a16="http://schemas.microsoft.com/office/drawing/2014/main" id="{313747E2-B2C2-46AE-B41B-FF89C0CFAC10}"/>
              </a:ext>
            </a:extLst>
          </p:cNvPr>
          <p:cNvSpPr txBox="1"/>
          <p:nvPr/>
        </p:nvSpPr>
        <p:spPr>
          <a:xfrm>
            <a:off x="5388941" y="2597851"/>
            <a:ext cx="443346" cy="584775"/>
          </a:xfrm>
          <a:prstGeom prst="rect">
            <a:avLst/>
          </a:prstGeom>
          <a:noFill/>
        </p:spPr>
        <p:txBody>
          <a:bodyPr wrap="square" rtlCol="0">
            <a:spAutoFit/>
          </a:bodyPr>
          <a:lstStyle/>
          <a:p>
            <a:r>
              <a:rPr lang="nl-NL" sz="3200" b="1" dirty="0"/>
              <a:t>2</a:t>
            </a:r>
          </a:p>
        </p:txBody>
      </p:sp>
      <p:sp>
        <p:nvSpPr>
          <p:cNvPr id="13" name="Tekstvak 12">
            <a:extLst>
              <a:ext uri="{FF2B5EF4-FFF2-40B4-BE49-F238E27FC236}">
                <a16:creationId xmlns:a16="http://schemas.microsoft.com/office/drawing/2014/main" id="{1447A89B-CA3F-4733-8924-50D0CDE011E7}"/>
              </a:ext>
            </a:extLst>
          </p:cNvPr>
          <p:cNvSpPr txBox="1"/>
          <p:nvPr/>
        </p:nvSpPr>
        <p:spPr>
          <a:xfrm>
            <a:off x="5214839" y="3790762"/>
            <a:ext cx="2602106" cy="923330"/>
          </a:xfrm>
          <a:prstGeom prst="rect">
            <a:avLst/>
          </a:prstGeom>
          <a:noFill/>
        </p:spPr>
        <p:txBody>
          <a:bodyPr wrap="square" rtlCol="0">
            <a:spAutoFit/>
          </a:bodyPr>
          <a:lstStyle/>
          <a:p>
            <a:r>
              <a:rPr lang="nl-NL" dirty="0" err="1"/>
              <a:t>Autonomy</a:t>
            </a:r>
            <a:endParaRPr lang="nl-NL" dirty="0"/>
          </a:p>
          <a:p>
            <a:r>
              <a:rPr lang="nl-NL" dirty="0" err="1"/>
              <a:t>Mental</a:t>
            </a:r>
            <a:r>
              <a:rPr lang="nl-NL" dirty="0"/>
              <a:t> health</a:t>
            </a:r>
          </a:p>
          <a:p>
            <a:r>
              <a:rPr lang="nl-NL" dirty="0" err="1"/>
              <a:t>Helping</a:t>
            </a:r>
            <a:r>
              <a:rPr lang="nl-NL" dirty="0"/>
              <a:t> </a:t>
            </a:r>
            <a:r>
              <a:rPr lang="nl-NL" dirty="0" err="1"/>
              <a:t>others</a:t>
            </a:r>
            <a:endParaRPr lang="nl-NL" dirty="0"/>
          </a:p>
        </p:txBody>
      </p:sp>
      <p:sp>
        <p:nvSpPr>
          <p:cNvPr id="14" name="Tekstvak 13">
            <a:extLst>
              <a:ext uri="{FF2B5EF4-FFF2-40B4-BE49-F238E27FC236}">
                <a16:creationId xmlns:a16="http://schemas.microsoft.com/office/drawing/2014/main" id="{B534454F-D375-4073-9801-2E154605E148}"/>
              </a:ext>
            </a:extLst>
          </p:cNvPr>
          <p:cNvSpPr txBox="1"/>
          <p:nvPr/>
        </p:nvSpPr>
        <p:spPr>
          <a:xfrm>
            <a:off x="4908292" y="3707334"/>
            <a:ext cx="443346" cy="584775"/>
          </a:xfrm>
          <a:prstGeom prst="rect">
            <a:avLst/>
          </a:prstGeom>
          <a:noFill/>
        </p:spPr>
        <p:txBody>
          <a:bodyPr wrap="square" rtlCol="0">
            <a:spAutoFit/>
          </a:bodyPr>
          <a:lstStyle/>
          <a:p>
            <a:r>
              <a:rPr lang="nl-NL" sz="3200" b="1" dirty="0"/>
              <a:t>3</a:t>
            </a:r>
          </a:p>
        </p:txBody>
      </p:sp>
      <p:sp>
        <p:nvSpPr>
          <p:cNvPr id="15" name="Tekstvak 14">
            <a:extLst>
              <a:ext uri="{FF2B5EF4-FFF2-40B4-BE49-F238E27FC236}">
                <a16:creationId xmlns:a16="http://schemas.microsoft.com/office/drawing/2014/main" id="{D3091A17-C6EC-46A2-A49E-3B5EC0850E0C}"/>
              </a:ext>
            </a:extLst>
          </p:cNvPr>
          <p:cNvSpPr txBox="1"/>
          <p:nvPr/>
        </p:nvSpPr>
        <p:spPr>
          <a:xfrm>
            <a:off x="1195258" y="3680786"/>
            <a:ext cx="2602106" cy="923330"/>
          </a:xfrm>
          <a:prstGeom prst="rect">
            <a:avLst/>
          </a:prstGeom>
          <a:noFill/>
        </p:spPr>
        <p:txBody>
          <a:bodyPr wrap="square" rtlCol="0">
            <a:spAutoFit/>
          </a:bodyPr>
          <a:lstStyle/>
          <a:p>
            <a:pPr algn="r"/>
            <a:r>
              <a:rPr lang="nl-NL" dirty="0" err="1"/>
              <a:t>Mental</a:t>
            </a:r>
            <a:r>
              <a:rPr lang="nl-NL" dirty="0"/>
              <a:t> health</a:t>
            </a:r>
          </a:p>
          <a:p>
            <a:pPr algn="r"/>
            <a:r>
              <a:rPr lang="nl-NL" dirty="0" err="1"/>
              <a:t>Social</a:t>
            </a:r>
            <a:r>
              <a:rPr lang="nl-NL" dirty="0"/>
              <a:t> </a:t>
            </a:r>
            <a:r>
              <a:rPr lang="nl-NL" dirty="0" err="1"/>
              <a:t>network</a:t>
            </a:r>
            <a:endParaRPr lang="nl-NL" dirty="0"/>
          </a:p>
          <a:p>
            <a:pPr algn="r"/>
            <a:r>
              <a:rPr lang="nl-NL" dirty="0" err="1"/>
              <a:t>Religion</a:t>
            </a:r>
            <a:endParaRPr lang="nl-NL" dirty="0"/>
          </a:p>
        </p:txBody>
      </p:sp>
      <p:sp>
        <p:nvSpPr>
          <p:cNvPr id="16" name="Tekstvak 15">
            <a:extLst>
              <a:ext uri="{FF2B5EF4-FFF2-40B4-BE49-F238E27FC236}">
                <a16:creationId xmlns:a16="http://schemas.microsoft.com/office/drawing/2014/main" id="{6D2B56EB-E57E-4950-A10C-2EDEF9888F7A}"/>
              </a:ext>
            </a:extLst>
          </p:cNvPr>
          <p:cNvSpPr txBox="1"/>
          <p:nvPr/>
        </p:nvSpPr>
        <p:spPr>
          <a:xfrm>
            <a:off x="3732331" y="3604241"/>
            <a:ext cx="443346" cy="584775"/>
          </a:xfrm>
          <a:prstGeom prst="rect">
            <a:avLst/>
          </a:prstGeom>
          <a:noFill/>
        </p:spPr>
        <p:txBody>
          <a:bodyPr wrap="square" rtlCol="0">
            <a:spAutoFit/>
          </a:bodyPr>
          <a:lstStyle/>
          <a:p>
            <a:r>
              <a:rPr lang="nl-NL" sz="3200" b="1" dirty="0"/>
              <a:t>4</a:t>
            </a:r>
          </a:p>
        </p:txBody>
      </p:sp>
      <p:sp>
        <p:nvSpPr>
          <p:cNvPr id="17" name="Tekstvak 16">
            <a:extLst>
              <a:ext uri="{FF2B5EF4-FFF2-40B4-BE49-F238E27FC236}">
                <a16:creationId xmlns:a16="http://schemas.microsoft.com/office/drawing/2014/main" id="{DB6A8C3B-7601-4E6B-9EF4-75BFC8D683C4}"/>
              </a:ext>
            </a:extLst>
          </p:cNvPr>
          <p:cNvSpPr txBox="1"/>
          <p:nvPr/>
        </p:nvSpPr>
        <p:spPr>
          <a:xfrm>
            <a:off x="3392764" y="2448640"/>
            <a:ext cx="443346" cy="584775"/>
          </a:xfrm>
          <a:prstGeom prst="rect">
            <a:avLst/>
          </a:prstGeom>
          <a:noFill/>
        </p:spPr>
        <p:txBody>
          <a:bodyPr wrap="square" rtlCol="0">
            <a:spAutoFit/>
          </a:bodyPr>
          <a:lstStyle/>
          <a:p>
            <a:r>
              <a:rPr lang="nl-NL" sz="3200" b="1" dirty="0"/>
              <a:t>5</a:t>
            </a:r>
          </a:p>
        </p:txBody>
      </p:sp>
      <p:sp>
        <p:nvSpPr>
          <p:cNvPr id="18" name="Tekstvak 17">
            <a:extLst>
              <a:ext uri="{FF2B5EF4-FFF2-40B4-BE49-F238E27FC236}">
                <a16:creationId xmlns:a16="http://schemas.microsoft.com/office/drawing/2014/main" id="{7D0FD185-97E1-42B8-8916-B77024F32B4B}"/>
              </a:ext>
            </a:extLst>
          </p:cNvPr>
          <p:cNvSpPr txBox="1"/>
          <p:nvPr/>
        </p:nvSpPr>
        <p:spPr>
          <a:xfrm>
            <a:off x="273852" y="2482097"/>
            <a:ext cx="3200879" cy="923330"/>
          </a:xfrm>
          <a:prstGeom prst="rect">
            <a:avLst/>
          </a:prstGeom>
          <a:noFill/>
        </p:spPr>
        <p:txBody>
          <a:bodyPr wrap="square" rtlCol="0">
            <a:spAutoFit/>
          </a:bodyPr>
          <a:lstStyle/>
          <a:p>
            <a:pPr algn="r"/>
            <a:r>
              <a:rPr lang="nl-NL" dirty="0"/>
              <a:t>A life partner</a:t>
            </a:r>
          </a:p>
          <a:p>
            <a:pPr algn="r"/>
            <a:r>
              <a:rPr lang="nl-NL" dirty="0"/>
              <a:t>Living environment</a:t>
            </a:r>
          </a:p>
          <a:p>
            <a:pPr algn="r"/>
            <a:r>
              <a:rPr lang="nl-NL" dirty="0"/>
              <a:t>Adaptation</a:t>
            </a:r>
          </a:p>
        </p:txBody>
      </p:sp>
      <p:sp>
        <p:nvSpPr>
          <p:cNvPr id="22" name="Titel 3">
            <a:extLst>
              <a:ext uri="{FF2B5EF4-FFF2-40B4-BE49-F238E27FC236}">
                <a16:creationId xmlns:a16="http://schemas.microsoft.com/office/drawing/2014/main" id="{9AA1A4A6-8B9B-436F-9A51-CFA21C4F6593}"/>
              </a:ext>
            </a:extLst>
          </p:cNvPr>
          <p:cNvSpPr>
            <a:spLocks noGrp="1"/>
          </p:cNvSpPr>
          <p:nvPr>
            <p:ph type="title"/>
          </p:nvPr>
        </p:nvSpPr>
        <p:spPr>
          <a:xfrm>
            <a:off x="491525" y="396000"/>
            <a:ext cx="8172000" cy="576000"/>
          </a:xfrm>
        </p:spPr>
        <p:txBody>
          <a:bodyPr/>
          <a:lstStyle/>
          <a:p>
            <a:r>
              <a:rPr lang="en-GB" b="1" noProof="1"/>
              <a:t>Views of older people in the Netherlands on wellbeing</a:t>
            </a:r>
            <a:endParaRPr lang="nl-NL" dirty="0"/>
          </a:p>
        </p:txBody>
      </p:sp>
    </p:spTree>
    <p:extLst>
      <p:ext uri="{BB962C8B-B14F-4D97-AF65-F5344CB8AC3E}">
        <p14:creationId xmlns:p14="http://schemas.microsoft.com/office/powerpoint/2010/main" val="1036479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el 3">
            <a:extLst>
              <a:ext uri="{FF2B5EF4-FFF2-40B4-BE49-F238E27FC236}">
                <a16:creationId xmlns:a16="http://schemas.microsoft.com/office/drawing/2014/main" id="{9AA1A4A6-8B9B-436F-9A51-CFA21C4F6593}"/>
              </a:ext>
            </a:extLst>
          </p:cNvPr>
          <p:cNvSpPr>
            <a:spLocks noGrp="1"/>
          </p:cNvSpPr>
          <p:nvPr>
            <p:ph type="title"/>
          </p:nvPr>
        </p:nvSpPr>
        <p:spPr>
          <a:xfrm>
            <a:off x="385085" y="329234"/>
            <a:ext cx="3891170" cy="4144102"/>
          </a:xfrm>
        </p:spPr>
        <p:txBody>
          <a:bodyPr/>
          <a:lstStyle/>
          <a:p>
            <a:r>
              <a:rPr lang="en-GB" b="1" noProof="1"/>
              <a:t>Translating the views of older people into dimensions for a new measure of well-being</a:t>
            </a:r>
            <a:endParaRPr lang="nl-NL" b="1" dirty="0"/>
          </a:p>
        </p:txBody>
      </p:sp>
      <p:grpSp>
        <p:nvGrpSpPr>
          <p:cNvPr id="14" name="Groep 13">
            <a:extLst>
              <a:ext uri="{FF2B5EF4-FFF2-40B4-BE49-F238E27FC236}">
                <a16:creationId xmlns:a16="http://schemas.microsoft.com/office/drawing/2014/main" id="{6B25754E-929A-F5F7-EA6F-5CCDB437E3DF}"/>
              </a:ext>
            </a:extLst>
          </p:cNvPr>
          <p:cNvGrpSpPr/>
          <p:nvPr/>
        </p:nvGrpSpPr>
        <p:grpSpPr>
          <a:xfrm>
            <a:off x="4169814" y="343759"/>
            <a:ext cx="4904862" cy="4645453"/>
            <a:chOff x="4184378" y="226055"/>
            <a:chExt cx="4815811" cy="4763157"/>
          </a:xfrm>
        </p:grpSpPr>
        <p:sp>
          <p:nvSpPr>
            <p:cNvPr id="3" name="Rechthoek 2">
              <a:extLst>
                <a:ext uri="{FF2B5EF4-FFF2-40B4-BE49-F238E27FC236}">
                  <a16:creationId xmlns:a16="http://schemas.microsoft.com/office/drawing/2014/main" id="{6DC5A191-FC6C-4CCF-AB28-23384FE9FB6D}"/>
                </a:ext>
              </a:extLst>
            </p:cNvPr>
            <p:cNvSpPr/>
            <p:nvPr/>
          </p:nvSpPr>
          <p:spPr>
            <a:xfrm>
              <a:off x="7017488" y="4136065"/>
              <a:ext cx="1935126" cy="80807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600" dirty="0"/>
            </a:p>
          </p:txBody>
        </p:sp>
        <p:grpSp>
          <p:nvGrpSpPr>
            <p:cNvPr id="2" name="Groep 1">
              <a:extLst>
                <a:ext uri="{FF2B5EF4-FFF2-40B4-BE49-F238E27FC236}">
                  <a16:creationId xmlns:a16="http://schemas.microsoft.com/office/drawing/2014/main" id="{AA775F66-530B-7460-21AA-6087C47FD450}"/>
                </a:ext>
              </a:extLst>
            </p:cNvPr>
            <p:cNvGrpSpPr/>
            <p:nvPr/>
          </p:nvGrpSpPr>
          <p:grpSpPr>
            <a:xfrm>
              <a:off x="4184378" y="226055"/>
              <a:ext cx="4815811" cy="4763157"/>
              <a:chOff x="4184378" y="226055"/>
              <a:chExt cx="4815811" cy="4763157"/>
            </a:xfrm>
          </p:grpSpPr>
          <p:sp>
            <p:nvSpPr>
              <p:cNvPr id="4" name="Vrije vorm 3">
                <a:extLst>
                  <a:ext uri="{FF2B5EF4-FFF2-40B4-BE49-F238E27FC236}">
                    <a16:creationId xmlns:a16="http://schemas.microsoft.com/office/drawing/2014/main" id="{5FF7CBA2-3DA1-2792-BD65-66F4A9ADB1D2}"/>
                  </a:ext>
                </a:extLst>
              </p:cNvPr>
              <p:cNvSpPr/>
              <p:nvPr/>
            </p:nvSpPr>
            <p:spPr>
              <a:xfrm>
                <a:off x="5242333" y="1310744"/>
                <a:ext cx="2699901" cy="2699901"/>
              </a:xfrm>
              <a:custGeom>
                <a:avLst/>
                <a:gdLst>
                  <a:gd name="csX0" fmla="*/ 0 w 2699901"/>
                  <a:gd name="csY0" fmla="*/ 1349951 h 2699901"/>
                  <a:gd name="csX1" fmla="*/ 1349951 w 2699901"/>
                  <a:gd name="csY1" fmla="*/ 0 h 2699901"/>
                  <a:gd name="csX2" fmla="*/ 2699902 w 2699901"/>
                  <a:gd name="csY2" fmla="*/ 1349951 h 2699901"/>
                  <a:gd name="csX3" fmla="*/ 1349951 w 2699901"/>
                  <a:gd name="csY3" fmla="*/ 2699902 h 2699901"/>
                  <a:gd name="csX4" fmla="*/ 0 w 2699901"/>
                  <a:gd name="csY4" fmla="*/ 1349951 h 2699901"/>
                </a:gdLst>
                <a:ahLst/>
                <a:cxnLst>
                  <a:cxn ang="0">
                    <a:pos x="csX0" y="csY0"/>
                  </a:cxn>
                  <a:cxn ang="0">
                    <a:pos x="csX1" y="csY1"/>
                  </a:cxn>
                  <a:cxn ang="0">
                    <a:pos x="csX2" y="csY2"/>
                  </a:cxn>
                  <a:cxn ang="0">
                    <a:pos x="csX3" y="csY3"/>
                  </a:cxn>
                  <a:cxn ang="0">
                    <a:pos x="csX4" y="csY4"/>
                  </a:cxn>
                </a:cxnLst>
                <a:rect l="l" t="t" r="r" b="b"/>
                <a:pathLst>
                  <a:path w="2699901" h="2699901">
                    <a:moveTo>
                      <a:pt x="0" y="1349951"/>
                    </a:moveTo>
                    <a:cubicBezTo>
                      <a:pt x="0" y="604394"/>
                      <a:pt x="604394" y="0"/>
                      <a:pt x="1349951" y="0"/>
                    </a:cubicBezTo>
                    <a:cubicBezTo>
                      <a:pt x="2095508" y="0"/>
                      <a:pt x="2699902" y="604394"/>
                      <a:pt x="2699902" y="1349951"/>
                    </a:cubicBezTo>
                    <a:cubicBezTo>
                      <a:pt x="2699902" y="2095508"/>
                      <a:pt x="2095508" y="2699902"/>
                      <a:pt x="1349951" y="2699902"/>
                    </a:cubicBezTo>
                    <a:cubicBezTo>
                      <a:pt x="604394" y="2699902"/>
                      <a:pt x="0" y="2095508"/>
                      <a:pt x="0" y="1349951"/>
                    </a:cubicBezTo>
                    <a:close/>
                  </a:path>
                </a:pathLst>
              </a:custGeom>
              <a:noFill/>
              <a:ln w="19050" cap="flat" cmpd="sng" algn="ctr">
                <a:solidFill>
                  <a:sysClr val="window" lastClr="FFFFFF"/>
                </a:solidFill>
                <a:prstDash val="solid"/>
                <a:miter lim="800000"/>
              </a:ln>
              <a:effectLst/>
            </p:spPr>
            <p:style>
              <a:lnRef idx="3">
                <a:scrgbClr r="0" g="0" b="0"/>
              </a:lnRef>
              <a:fillRef idx="1">
                <a:scrgbClr r="0" g="0" b="0"/>
              </a:fillRef>
              <a:effectRef idx="0">
                <a:scrgbClr r="0" g="0" b="0"/>
              </a:effectRef>
              <a:fontRef idx="minor">
                <a:schemeClr val="tx1"/>
              </a:fontRef>
            </p:style>
            <p:txBody>
              <a:bodyPr spcFirstLastPara="0" vert="horz" wrap="square" lIns="463971" tIns="463971" rIns="463971" bIns="463971" numCol="1" spcCol="1270" anchor="ctr" anchorCtr="0">
                <a:noAutofit/>
              </a:bodyPr>
              <a:lstStyle/>
              <a:p>
                <a:pPr marL="0" lvl="0" indent="0" algn="ctr" defTabSz="2400300">
                  <a:lnSpc>
                    <a:spcPct val="90000"/>
                  </a:lnSpc>
                  <a:spcBef>
                    <a:spcPct val="0"/>
                  </a:spcBef>
                  <a:spcAft>
                    <a:spcPct val="35000"/>
                  </a:spcAft>
                  <a:buNone/>
                </a:pPr>
                <a:endParaRPr lang="en-GB" sz="1600" b="1" kern="1200" dirty="0">
                  <a:solidFill>
                    <a:sysClr val="window" lastClr="FFFFFF"/>
                  </a:solidFill>
                  <a:latin typeface="Arial Black" panose="020B0A04020102020204" pitchFamily="34" charset="0"/>
                  <a:ea typeface="+mn-ea"/>
                  <a:cs typeface="+mn-cs"/>
                </a:endParaRPr>
              </a:p>
            </p:txBody>
          </p:sp>
          <p:sp>
            <p:nvSpPr>
              <p:cNvPr id="5" name="Vrije vorm 4">
                <a:extLst>
                  <a:ext uri="{FF2B5EF4-FFF2-40B4-BE49-F238E27FC236}">
                    <a16:creationId xmlns:a16="http://schemas.microsoft.com/office/drawing/2014/main" id="{4262F0DD-01B5-F61C-3012-329A84993741}"/>
                  </a:ext>
                </a:extLst>
              </p:cNvPr>
              <p:cNvSpPr/>
              <p:nvPr/>
            </p:nvSpPr>
            <p:spPr>
              <a:xfrm>
                <a:off x="5917309" y="226055"/>
                <a:ext cx="1349950" cy="1349950"/>
              </a:xfrm>
              <a:custGeom>
                <a:avLst/>
                <a:gdLst>
                  <a:gd name="csX0" fmla="*/ 0 w 1349950"/>
                  <a:gd name="csY0" fmla="*/ 674975 h 1349950"/>
                  <a:gd name="csX1" fmla="*/ 674975 w 1349950"/>
                  <a:gd name="csY1" fmla="*/ 0 h 1349950"/>
                  <a:gd name="csX2" fmla="*/ 1349950 w 1349950"/>
                  <a:gd name="csY2" fmla="*/ 674975 h 1349950"/>
                  <a:gd name="csX3" fmla="*/ 674975 w 1349950"/>
                  <a:gd name="csY3" fmla="*/ 1349950 h 1349950"/>
                  <a:gd name="csX4" fmla="*/ 0 w 1349950"/>
                  <a:gd name="csY4" fmla="*/ 674975 h 1349950"/>
                </a:gdLst>
                <a:ahLst/>
                <a:cxnLst>
                  <a:cxn ang="0">
                    <a:pos x="csX0" y="csY0"/>
                  </a:cxn>
                  <a:cxn ang="0">
                    <a:pos x="csX1" y="csY1"/>
                  </a:cxn>
                  <a:cxn ang="0">
                    <a:pos x="csX2" y="csY2"/>
                  </a:cxn>
                  <a:cxn ang="0">
                    <a:pos x="csX3" y="csY3"/>
                  </a:cxn>
                  <a:cxn ang="0">
                    <a:pos x="csX4" y="csY4"/>
                  </a:cxn>
                </a:cxnLst>
                <a:rect l="l" t="t" r="r" b="b"/>
                <a:pathLst>
                  <a:path w="1349950" h="1349950">
                    <a:moveTo>
                      <a:pt x="0" y="674975"/>
                    </a:moveTo>
                    <a:cubicBezTo>
                      <a:pt x="0" y="302197"/>
                      <a:pt x="302197" y="0"/>
                      <a:pt x="674975" y="0"/>
                    </a:cubicBezTo>
                    <a:cubicBezTo>
                      <a:pt x="1047753" y="0"/>
                      <a:pt x="1349950" y="302197"/>
                      <a:pt x="1349950" y="674975"/>
                    </a:cubicBezTo>
                    <a:cubicBezTo>
                      <a:pt x="1349950" y="1047753"/>
                      <a:pt x="1047753" y="1349950"/>
                      <a:pt x="674975" y="1349950"/>
                    </a:cubicBezTo>
                    <a:cubicBezTo>
                      <a:pt x="302197" y="1349950"/>
                      <a:pt x="0" y="1047753"/>
                      <a:pt x="0" y="674975"/>
                    </a:cubicBezTo>
                    <a:close/>
                  </a:path>
                </a:pathLst>
              </a:custGeom>
              <a:solidFill>
                <a:srgbClr val="FFA100"/>
              </a:solidFill>
              <a:ln w="19050" cap="flat" cmpd="sng" algn="ctr">
                <a:noFill/>
                <a:prstDash val="solid"/>
                <a:miter lim="800000"/>
              </a:ln>
              <a:effectLst/>
            </p:spPr>
            <p:style>
              <a:lnRef idx="3">
                <a:scrgbClr r="0" g="0" b="0"/>
              </a:lnRef>
              <a:fillRef idx="1">
                <a:scrgbClr r="0" g="0" b="0"/>
              </a:fillRef>
              <a:effectRef idx="0">
                <a:scrgbClr r="0" g="0" b="0"/>
              </a:effectRef>
              <a:fontRef idx="minor">
                <a:schemeClr val="tx1"/>
              </a:fontRef>
            </p:style>
            <p:txBody>
              <a:bodyPr spcFirstLastPara="0" vert="horz" wrap="square" lIns="215476" tIns="215476" rIns="215476" bIns="215476" numCol="1" spcCol="1270" anchor="ctr" anchorCtr="0">
                <a:noAutofit/>
              </a:bodyPr>
              <a:lstStyle/>
              <a:p>
                <a:pPr marL="0" lvl="0" indent="0" algn="ctr" defTabSz="622300">
                  <a:lnSpc>
                    <a:spcPct val="90000"/>
                  </a:lnSpc>
                  <a:spcBef>
                    <a:spcPct val="0"/>
                  </a:spcBef>
                  <a:spcAft>
                    <a:spcPct val="35000"/>
                  </a:spcAft>
                  <a:buNone/>
                </a:pPr>
                <a:r>
                  <a:rPr lang="en-GB" sz="1600" b="1" kern="1200" dirty="0">
                    <a:solidFill>
                      <a:sysClr val="window" lastClr="FFFFFF"/>
                    </a:solidFill>
                    <a:latin typeface="+mj-lt"/>
                    <a:ea typeface="+mn-ea"/>
                    <a:cs typeface="Times New Roman" panose="02020603050405020304" pitchFamily="18" charset="0"/>
                  </a:rPr>
                  <a:t>Physical health</a:t>
                </a:r>
              </a:p>
            </p:txBody>
          </p:sp>
          <p:sp>
            <p:nvSpPr>
              <p:cNvPr id="6" name="Vrije vorm 5">
                <a:extLst>
                  <a:ext uri="{FF2B5EF4-FFF2-40B4-BE49-F238E27FC236}">
                    <a16:creationId xmlns:a16="http://schemas.microsoft.com/office/drawing/2014/main" id="{C622E3EE-FEAB-4106-8CFA-B4F2DCA08BD1}"/>
                  </a:ext>
                </a:extLst>
              </p:cNvPr>
              <p:cNvSpPr/>
              <p:nvPr/>
            </p:nvSpPr>
            <p:spPr>
              <a:xfrm>
                <a:off x="7048399" y="637738"/>
                <a:ext cx="1349950" cy="1349950"/>
              </a:xfrm>
              <a:custGeom>
                <a:avLst/>
                <a:gdLst>
                  <a:gd name="csX0" fmla="*/ 0 w 1349950"/>
                  <a:gd name="csY0" fmla="*/ 674975 h 1349950"/>
                  <a:gd name="csX1" fmla="*/ 674975 w 1349950"/>
                  <a:gd name="csY1" fmla="*/ 0 h 1349950"/>
                  <a:gd name="csX2" fmla="*/ 1349950 w 1349950"/>
                  <a:gd name="csY2" fmla="*/ 674975 h 1349950"/>
                  <a:gd name="csX3" fmla="*/ 674975 w 1349950"/>
                  <a:gd name="csY3" fmla="*/ 1349950 h 1349950"/>
                  <a:gd name="csX4" fmla="*/ 0 w 1349950"/>
                  <a:gd name="csY4" fmla="*/ 674975 h 1349950"/>
                </a:gdLst>
                <a:ahLst/>
                <a:cxnLst>
                  <a:cxn ang="0">
                    <a:pos x="csX0" y="csY0"/>
                  </a:cxn>
                  <a:cxn ang="0">
                    <a:pos x="csX1" y="csY1"/>
                  </a:cxn>
                  <a:cxn ang="0">
                    <a:pos x="csX2" y="csY2"/>
                  </a:cxn>
                  <a:cxn ang="0">
                    <a:pos x="csX3" y="csY3"/>
                  </a:cxn>
                  <a:cxn ang="0">
                    <a:pos x="csX4" y="csY4"/>
                  </a:cxn>
                </a:cxnLst>
                <a:rect l="l" t="t" r="r" b="b"/>
                <a:pathLst>
                  <a:path w="1349950" h="1349950">
                    <a:moveTo>
                      <a:pt x="0" y="674975"/>
                    </a:moveTo>
                    <a:cubicBezTo>
                      <a:pt x="0" y="302197"/>
                      <a:pt x="302197" y="0"/>
                      <a:pt x="674975" y="0"/>
                    </a:cubicBezTo>
                    <a:cubicBezTo>
                      <a:pt x="1047753" y="0"/>
                      <a:pt x="1349950" y="302197"/>
                      <a:pt x="1349950" y="674975"/>
                    </a:cubicBezTo>
                    <a:cubicBezTo>
                      <a:pt x="1349950" y="1047753"/>
                      <a:pt x="1047753" y="1349950"/>
                      <a:pt x="674975" y="1349950"/>
                    </a:cubicBezTo>
                    <a:cubicBezTo>
                      <a:pt x="302197" y="1349950"/>
                      <a:pt x="0" y="1047753"/>
                      <a:pt x="0" y="674975"/>
                    </a:cubicBezTo>
                    <a:close/>
                  </a:path>
                </a:pathLst>
              </a:custGeom>
              <a:solidFill>
                <a:srgbClr val="65005C">
                  <a:alpha val="50000"/>
                </a:srgbClr>
              </a:solidFill>
              <a:ln w="19050" cap="flat" cmpd="sng" algn="ctr">
                <a:noFill/>
                <a:prstDash val="solid"/>
                <a:miter lim="800000"/>
              </a:ln>
              <a:effectLst/>
            </p:spPr>
            <p:style>
              <a:lnRef idx="3">
                <a:scrgbClr r="0" g="0" b="0"/>
              </a:lnRef>
              <a:fillRef idx="1">
                <a:scrgbClr r="0" g="0" b="0"/>
              </a:fillRef>
              <a:effectRef idx="0">
                <a:scrgbClr r="0" g="0" b="0"/>
              </a:effectRef>
              <a:fontRef idx="minor">
                <a:schemeClr val="tx1"/>
              </a:fontRef>
            </p:style>
            <p:txBody>
              <a:bodyPr spcFirstLastPara="0" vert="horz" wrap="square" lIns="215476" tIns="215476" rIns="215476" bIns="215476" numCol="1" spcCol="1270" anchor="ctr" anchorCtr="0">
                <a:noAutofit/>
              </a:bodyPr>
              <a:lstStyle/>
              <a:p>
                <a:pPr marL="0" lvl="0" indent="0" algn="ctr" defTabSz="622300">
                  <a:lnSpc>
                    <a:spcPct val="90000"/>
                  </a:lnSpc>
                  <a:spcBef>
                    <a:spcPct val="0"/>
                  </a:spcBef>
                  <a:spcAft>
                    <a:spcPct val="35000"/>
                  </a:spcAft>
                  <a:buNone/>
                </a:pPr>
                <a:r>
                  <a:rPr lang="en-GB" sz="1600" b="1" kern="1200" dirty="0">
                    <a:solidFill>
                      <a:sysClr val="window" lastClr="FFFFFF"/>
                    </a:solidFill>
                    <a:latin typeface="+mj-lt"/>
                    <a:ea typeface="+mn-ea"/>
                    <a:cs typeface="+mn-cs"/>
                  </a:rPr>
                  <a:t>Mental health</a:t>
                </a:r>
              </a:p>
            </p:txBody>
          </p:sp>
          <p:sp>
            <p:nvSpPr>
              <p:cNvPr id="7" name="Vrije vorm 6">
                <a:extLst>
                  <a:ext uri="{FF2B5EF4-FFF2-40B4-BE49-F238E27FC236}">
                    <a16:creationId xmlns:a16="http://schemas.microsoft.com/office/drawing/2014/main" id="{A8848FD2-742A-8619-E237-99B0807752AF}"/>
                  </a:ext>
                </a:extLst>
              </p:cNvPr>
              <p:cNvSpPr/>
              <p:nvPr/>
            </p:nvSpPr>
            <p:spPr>
              <a:xfrm>
                <a:off x="7650239" y="1680157"/>
                <a:ext cx="1349950" cy="1349950"/>
              </a:xfrm>
              <a:custGeom>
                <a:avLst/>
                <a:gdLst>
                  <a:gd name="csX0" fmla="*/ 0 w 1349950"/>
                  <a:gd name="csY0" fmla="*/ 674975 h 1349950"/>
                  <a:gd name="csX1" fmla="*/ 674975 w 1349950"/>
                  <a:gd name="csY1" fmla="*/ 0 h 1349950"/>
                  <a:gd name="csX2" fmla="*/ 1349950 w 1349950"/>
                  <a:gd name="csY2" fmla="*/ 674975 h 1349950"/>
                  <a:gd name="csX3" fmla="*/ 674975 w 1349950"/>
                  <a:gd name="csY3" fmla="*/ 1349950 h 1349950"/>
                  <a:gd name="csX4" fmla="*/ 0 w 1349950"/>
                  <a:gd name="csY4" fmla="*/ 674975 h 1349950"/>
                </a:gdLst>
                <a:ahLst/>
                <a:cxnLst>
                  <a:cxn ang="0">
                    <a:pos x="csX0" y="csY0"/>
                  </a:cxn>
                  <a:cxn ang="0">
                    <a:pos x="csX1" y="csY1"/>
                  </a:cxn>
                  <a:cxn ang="0">
                    <a:pos x="csX2" y="csY2"/>
                  </a:cxn>
                  <a:cxn ang="0">
                    <a:pos x="csX3" y="csY3"/>
                  </a:cxn>
                  <a:cxn ang="0">
                    <a:pos x="csX4" y="csY4"/>
                  </a:cxn>
                </a:cxnLst>
                <a:rect l="l" t="t" r="r" b="b"/>
                <a:pathLst>
                  <a:path w="1349950" h="1349950">
                    <a:moveTo>
                      <a:pt x="0" y="674975"/>
                    </a:moveTo>
                    <a:cubicBezTo>
                      <a:pt x="0" y="302197"/>
                      <a:pt x="302197" y="0"/>
                      <a:pt x="674975" y="0"/>
                    </a:cubicBezTo>
                    <a:cubicBezTo>
                      <a:pt x="1047753" y="0"/>
                      <a:pt x="1349950" y="302197"/>
                      <a:pt x="1349950" y="674975"/>
                    </a:cubicBezTo>
                    <a:cubicBezTo>
                      <a:pt x="1349950" y="1047753"/>
                      <a:pt x="1047753" y="1349950"/>
                      <a:pt x="674975" y="1349950"/>
                    </a:cubicBezTo>
                    <a:cubicBezTo>
                      <a:pt x="302197" y="1349950"/>
                      <a:pt x="0" y="1047753"/>
                      <a:pt x="0" y="674975"/>
                    </a:cubicBezTo>
                    <a:close/>
                  </a:path>
                </a:pathLst>
              </a:custGeom>
              <a:solidFill>
                <a:srgbClr val="EC000F">
                  <a:alpha val="50000"/>
                </a:srgbClr>
              </a:solidFill>
              <a:ln w="19050" cap="flat" cmpd="sng" algn="ctr">
                <a:noFill/>
                <a:prstDash val="solid"/>
                <a:miter lim="800000"/>
              </a:ln>
              <a:effectLst/>
            </p:spPr>
            <p:style>
              <a:lnRef idx="3">
                <a:scrgbClr r="0" g="0" b="0"/>
              </a:lnRef>
              <a:fillRef idx="1">
                <a:scrgbClr r="0" g="0" b="0"/>
              </a:fillRef>
              <a:effectRef idx="0">
                <a:scrgbClr r="0" g="0" b="0"/>
              </a:effectRef>
              <a:fontRef idx="minor">
                <a:schemeClr val="tx1"/>
              </a:fontRef>
            </p:style>
            <p:txBody>
              <a:bodyPr spcFirstLastPara="0" vert="horz" wrap="square" lIns="218016" tIns="218016" rIns="218016" bIns="218016" numCol="1" spcCol="1270" anchor="ctr" anchorCtr="0">
                <a:noAutofit/>
              </a:bodyPr>
              <a:lstStyle/>
              <a:p>
                <a:pPr marL="0" lvl="0" indent="0" algn="ctr" defTabSz="711200">
                  <a:lnSpc>
                    <a:spcPct val="90000"/>
                  </a:lnSpc>
                  <a:spcBef>
                    <a:spcPct val="0"/>
                  </a:spcBef>
                  <a:spcAft>
                    <a:spcPct val="35000"/>
                  </a:spcAft>
                  <a:buNone/>
                </a:pPr>
                <a:r>
                  <a:rPr lang="en-GB" sz="1600" b="1" kern="1200" dirty="0">
                    <a:solidFill>
                      <a:sysClr val="window" lastClr="FFFFFF"/>
                    </a:solidFill>
                    <a:latin typeface="+mj-lt"/>
                    <a:ea typeface="+mn-ea"/>
                    <a:cs typeface="+mn-cs"/>
                  </a:rPr>
                  <a:t>Social contacts</a:t>
                </a:r>
              </a:p>
            </p:txBody>
          </p:sp>
          <p:sp>
            <p:nvSpPr>
              <p:cNvPr id="8" name="Vrije vorm 7">
                <a:extLst>
                  <a:ext uri="{FF2B5EF4-FFF2-40B4-BE49-F238E27FC236}">
                    <a16:creationId xmlns:a16="http://schemas.microsoft.com/office/drawing/2014/main" id="{55801AA0-CB92-CB7F-CBC5-9DC5A6947B44}"/>
                  </a:ext>
                </a:extLst>
              </p:cNvPr>
              <p:cNvSpPr/>
              <p:nvPr/>
            </p:nvSpPr>
            <p:spPr>
              <a:xfrm>
                <a:off x="7441222" y="2865551"/>
                <a:ext cx="1349950" cy="1349950"/>
              </a:xfrm>
              <a:custGeom>
                <a:avLst/>
                <a:gdLst>
                  <a:gd name="csX0" fmla="*/ 0 w 1349950"/>
                  <a:gd name="csY0" fmla="*/ 674975 h 1349950"/>
                  <a:gd name="csX1" fmla="*/ 674975 w 1349950"/>
                  <a:gd name="csY1" fmla="*/ 0 h 1349950"/>
                  <a:gd name="csX2" fmla="*/ 1349950 w 1349950"/>
                  <a:gd name="csY2" fmla="*/ 674975 h 1349950"/>
                  <a:gd name="csX3" fmla="*/ 674975 w 1349950"/>
                  <a:gd name="csY3" fmla="*/ 1349950 h 1349950"/>
                  <a:gd name="csX4" fmla="*/ 0 w 1349950"/>
                  <a:gd name="csY4" fmla="*/ 674975 h 1349950"/>
                </a:gdLst>
                <a:ahLst/>
                <a:cxnLst>
                  <a:cxn ang="0">
                    <a:pos x="csX0" y="csY0"/>
                  </a:cxn>
                  <a:cxn ang="0">
                    <a:pos x="csX1" y="csY1"/>
                  </a:cxn>
                  <a:cxn ang="0">
                    <a:pos x="csX2" y="csY2"/>
                  </a:cxn>
                  <a:cxn ang="0">
                    <a:pos x="csX3" y="csY3"/>
                  </a:cxn>
                  <a:cxn ang="0">
                    <a:pos x="csX4" y="csY4"/>
                  </a:cxn>
                </a:cxnLst>
                <a:rect l="l" t="t" r="r" b="b"/>
                <a:pathLst>
                  <a:path w="1349950" h="1349950">
                    <a:moveTo>
                      <a:pt x="0" y="674975"/>
                    </a:moveTo>
                    <a:cubicBezTo>
                      <a:pt x="0" y="302197"/>
                      <a:pt x="302197" y="0"/>
                      <a:pt x="674975" y="0"/>
                    </a:cubicBezTo>
                    <a:cubicBezTo>
                      <a:pt x="1047753" y="0"/>
                      <a:pt x="1349950" y="302197"/>
                      <a:pt x="1349950" y="674975"/>
                    </a:cubicBezTo>
                    <a:cubicBezTo>
                      <a:pt x="1349950" y="1047753"/>
                      <a:pt x="1047753" y="1349950"/>
                      <a:pt x="674975" y="1349950"/>
                    </a:cubicBezTo>
                    <a:cubicBezTo>
                      <a:pt x="302197" y="1349950"/>
                      <a:pt x="0" y="1047753"/>
                      <a:pt x="0" y="674975"/>
                    </a:cubicBezTo>
                    <a:close/>
                  </a:path>
                </a:pathLst>
              </a:custGeom>
              <a:solidFill>
                <a:srgbClr val="007E06">
                  <a:alpha val="50000"/>
                </a:srgbClr>
              </a:solidFill>
              <a:ln w="19050" cap="flat" cmpd="sng" algn="ctr">
                <a:noFill/>
                <a:prstDash val="solid"/>
                <a:miter lim="800000"/>
              </a:ln>
              <a:effectLst/>
            </p:spPr>
            <p:style>
              <a:lnRef idx="3">
                <a:scrgbClr r="0" g="0" b="0"/>
              </a:lnRef>
              <a:fillRef idx="1">
                <a:scrgbClr r="0" g="0" b="0"/>
              </a:fillRef>
              <a:effectRef idx="0">
                <a:scrgbClr r="0" g="0" b="0"/>
              </a:effectRef>
              <a:fontRef idx="minor">
                <a:schemeClr val="tx1"/>
              </a:fontRef>
            </p:style>
            <p:txBody>
              <a:bodyPr spcFirstLastPara="0" vert="horz" wrap="square" lIns="218016" tIns="218016" rIns="218016" bIns="218016" numCol="1" spcCol="1270" anchor="ctr" anchorCtr="0">
                <a:noAutofit/>
              </a:bodyPr>
              <a:lstStyle/>
              <a:p>
                <a:pPr marL="0" lvl="0" indent="0" algn="ctr" defTabSz="711200">
                  <a:lnSpc>
                    <a:spcPct val="90000"/>
                  </a:lnSpc>
                  <a:spcBef>
                    <a:spcPct val="0"/>
                  </a:spcBef>
                  <a:spcAft>
                    <a:spcPct val="35000"/>
                  </a:spcAft>
                  <a:buNone/>
                </a:pPr>
                <a:r>
                  <a:rPr lang="en-GB" sz="1600" b="1" kern="1200" dirty="0">
                    <a:solidFill>
                      <a:sysClr val="window" lastClr="FFFFFF"/>
                    </a:solidFill>
                    <a:latin typeface="+mj-lt"/>
                    <a:ea typeface="+mn-ea"/>
                    <a:cs typeface="+mn-cs"/>
                  </a:rPr>
                  <a:t>Receiving support</a:t>
                </a:r>
              </a:p>
            </p:txBody>
          </p:sp>
          <p:sp>
            <p:nvSpPr>
              <p:cNvPr id="9" name="Vrije vorm 8">
                <a:extLst>
                  <a:ext uri="{FF2B5EF4-FFF2-40B4-BE49-F238E27FC236}">
                    <a16:creationId xmlns:a16="http://schemas.microsoft.com/office/drawing/2014/main" id="{B32DA21C-587B-9A14-E06D-10A93B326F78}"/>
                  </a:ext>
                </a:extLst>
              </p:cNvPr>
              <p:cNvSpPr/>
              <p:nvPr/>
            </p:nvSpPr>
            <p:spPr>
              <a:xfrm>
                <a:off x="6519149" y="3639262"/>
                <a:ext cx="1349950" cy="1349950"/>
              </a:xfrm>
              <a:custGeom>
                <a:avLst/>
                <a:gdLst>
                  <a:gd name="csX0" fmla="*/ 0 w 1349950"/>
                  <a:gd name="csY0" fmla="*/ 674975 h 1349950"/>
                  <a:gd name="csX1" fmla="*/ 674975 w 1349950"/>
                  <a:gd name="csY1" fmla="*/ 0 h 1349950"/>
                  <a:gd name="csX2" fmla="*/ 1349950 w 1349950"/>
                  <a:gd name="csY2" fmla="*/ 674975 h 1349950"/>
                  <a:gd name="csX3" fmla="*/ 674975 w 1349950"/>
                  <a:gd name="csY3" fmla="*/ 1349950 h 1349950"/>
                  <a:gd name="csX4" fmla="*/ 0 w 1349950"/>
                  <a:gd name="csY4" fmla="*/ 674975 h 1349950"/>
                </a:gdLst>
                <a:ahLst/>
                <a:cxnLst>
                  <a:cxn ang="0">
                    <a:pos x="csX0" y="csY0"/>
                  </a:cxn>
                  <a:cxn ang="0">
                    <a:pos x="csX1" y="csY1"/>
                  </a:cxn>
                  <a:cxn ang="0">
                    <a:pos x="csX2" y="csY2"/>
                  </a:cxn>
                  <a:cxn ang="0">
                    <a:pos x="csX3" y="csY3"/>
                  </a:cxn>
                  <a:cxn ang="0">
                    <a:pos x="csX4" y="csY4"/>
                  </a:cxn>
                </a:cxnLst>
                <a:rect l="l" t="t" r="r" b="b"/>
                <a:pathLst>
                  <a:path w="1349950" h="1349950">
                    <a:moveTo>
                      <a:pt x="0" y="674975"/>
                    </a:moveTo>
                    <a:cubicBezTo>
                      <a:pt x="0" y="302197"/>
                      <a:pt x="302197" y="0"/>
                      <a:pt x="674975" y="0"/>
                    </a:cubicBezTo>
                    <a:cubicBezTo>
                      <a:pt x="1047753" y="0"/>
                      <a:pt x="1349950" y="302197"/>
                      <a:pt x="1349950" y="674975"/>
                    </a:cubicBezTo>
                    <a:cubicBezTo>
                      <a:pt x="1349950" y="1047753"/>
                      <a:pt x="1047753" y="1349950"/>
                      <a:pt x="674975" y="1349950"/>
                    </a:cubicBezTo>
                    <a:cubicBezTo>
                      <a:pt x="302197" y="1349950"/>
                      <a:pt x="0" y="1047753"/>
                      <a:pt x="0" y="674975"/>
                    </a:cubicBezTo>
                    <a:close/>
                  </a:path>
                </a:pathLst>
              </a:custGeom>
              <a:solidFill>
                <a:srgbClr val="ED7D31">
                  <a:alpha val="50000"/>
                  <a:hueOff val="0"/>
                  <a:satOff val="0"/>
                  <a:lumOff val="0"/>
                  <a:alphaOff val="0"/>
                </a:srgbClr>
              </a:solidFill>
              <a:ln w="19050" cap="flat" cmpd="sng" algn="ctr">
                <a:noFill/>
                <a:prstDash val="solid"/>
                <a:miter lim="800000"/>
              </a:ln>
              <a:effectLst/>
            </p:spPr>
            <p:style>
              <a:lnRef idx="3">
                <a:scrgbClr r="0" g="0" b="0"/>
              </a:lnRef>
              <a:fillRef idx="1">
                <a:scrgbClr r="0" g="0" b="0"/>
              </a:fillRef>
              <a:effectRef idx="0">
                <a:scrgbClr r="0" g="0" b="0"/>
              </a:effectRef>
              <a:fontRef idx="minor">
                <a:schemeClr val="tx1"/>
              </a:fontRef>
            </p:style>
            <p:txBody>
              <a:bodyPr spcFirstLastPara="0" vert="horz" wrap="square" lIns="108000" tIns="215476" rIns="108000" bIns="215476" numCol="1" spcCol="1270" anchor="ctr" anchorCtr="0">
                <a:noAutofit/>
              </a:bodyPr>
              <a:lstStyle/>
              <a:p>
                <a:pPr marL="0" lvl="0" indent="0" algn="ctr" defTabSz="622300">
                  <a:lnSpc>
                    <a:spcPct val="90000"/>
                  </a:lnSpc>
                  <a:spcBef>
                    <a:spcPct val="0"/>
                  </a:spcBef>
                  <a:spcAft>
                    <a:spcPct val="35000"/>
                  </a:spcAft>
                  <a:buNone/>
                </a:pPr>
                <a:r>
                  <a:rPr lang="en-GB" sz="1600" b="1" kern="1200" dirty="0">
                    <a:solidFill>
                      <a:sysClr val="window" lastClr="FFFFFF"/>
                    </a:solidFill>
                    <a:latin typeface="+mj-lt"/>
                    <a:ea typeface="+mn-ea"/>
                    <a:cs typeface="+mn-cs"/>
                  </a:rPr>
                  <a:t>Acceptance and resilience</a:t>
                </a:r>
              </a:p>
            </p:txBody>
          </p:sp>
          <p:sp>
            <p:nvSpPr>
              <p:cNvPr id="10" name="Vrije vorm 9">
                <a:extLst>
                  <a:ext uri="{FF2B5EF4-FFF2-40B4-BE49-F238E27FC236}">
                    <a16:creationId xmlns:a16="http://schemas.microsoft.com/office/drawing/2014/main" id="{4C3A655D-61A7-6B40-F23D-B004E837965A}"/>
                  </a:ext>
                </a:extLst>
              </p:cNvPr>
              <p:cNvSpPr/>
              <p:nvPr/>
            </p:nvSpPr>
            <p:spPr>
              <a:xfrm>
                <a:off x="5315468" y="3639262"/>
                <a:ext cx="1349950" cy="1349950"/>
              </a:xfrm>
              <a:custGeom>
                <a:avLst/>
                <a:gdLst>
                  <a:gd name="csX0" fmla="*/ 0 w 1349950"/>
                  <a:gd name="csY0" fmla="*/ 674975 h 1349950"/>
                  <a:gd name="csX1" fmla="*/ 674975 w 1349950"/>
                  <a:gd name="csY1" fmla="*/ 0 h 1349950"/>
                  <a:gd name="csX2" fmla="*/ 1349950 w 1349950"/>
                  <a:gd name="csY2" fmla="*/ 674975 h 1349950"/>
                  <a:gd name="csX3" fmla="*/ 674975 w 1349950"/>
                  <a:gd name="csY3" fmla="*/ 1349950 h 1349950"/>
                  <a:gd name="csX4" fmla="*/ 0 w 1349950"/>
                  <a:gd name="csY4" fmla="*/ 674975 h 1349950"/>
                </a:gdLst>
                <a:ahLst/>
                <a:cxnLst>
                  <a:cxn ang="0">
                    <a:pos x="csX0" y="csY0"/>
                  </a:cxn>
                  <a:cxn ang="0">
                    <a:pos x="csX1" y="csY1"/>
                  </a:cxn>
                  <a:cxn ang="0">
                    <a:pos x="csX2" y="csY2"/>
                  </a:cxn>
                  <a:cxn ang="0">
                    <a:pos x="csX3" y="csY3"/>
                  </a:cxn>
                  <a:cxn ang="0">
                    <a:pos x="csX4" y="csY4"/>
                  </a:cxn>
                </a:cxnLst>
                <a:rect l="l" t="t" r="r" b="b"/>
                <a:pathLst>
                  <a:path w="1349950" h="1349950">
                    <a:moveTo>
                      <a:pt x="0" y="674975"/>
                    </a:moveTo>
                    <a:cubicBezTo>
                      <a:pt x="0" y="302197"/>
                      <a:pt x="302197" y="0"/>
                      <a:pt x="674975" y="0"/>
                    </a:cubicBezTo>
                    <a:cubicBezTo>
                      <a:pt x="1047753" y="0"/>
                      <a:pt x="1349950" y="302197"/>
                      <a:pt x="1349950" y="674975"/>
                    </a:cubicBezTo>
                    <a:cubicBezTo>
                      <a:pt x="1349950" y="1047753"/>
                      <a:pt x="1047753" y="1349950"/>
                      <a:pt x="674975" y="1349950"/>
                    </a:cubicBezTo>
                    <a:cubicBezTo>
                      <a:pt x="302197" y="1349950"/>
                      <a:pt x="0" y="1047753"/>
                      <a:pt x="0" y="674975"/>
                    </a:cubicBezTo>
                    <a:close/>
                  </a:path>
                </a:pathLst>
              </a:custGeom>
              <a:solidFill>
                <a:srgbClr val="1A71F2">
                  <a:alpha val="50000"/>
                </a:srgbClr>
              </a:solidFill>
              <a:ln w="19050" cap="flat" cmpd="sng" algn="ctr">
                <a:noFill/>
                <a:prstDash val="solid"/>
                <a:miter lim="800000"/>
              </a:ln>
              <a:effectLst/>
            </p:spPr>
            <p:style>
              <a:lnRef idx="3">
                <a:scrgbClr r="0" g="0" b="0"/>
              </a:lnRef>
              <a:fillRef idx="1">
                <a:scrgbClr r="0" g="0" b="0"/>
              </a:fillRef>
              <a:effectRef idx="0">
                <a:scrgbClr r="0" g="0" b="0"/>
              </a:effectRef>
              <a:fontRef idx="minor">
                <a:schemeClr val="tx1"/>
              </a:fontRef>
            </p:style>
            <p:txBody>
              <a:bodyPr spcFirstLastPara="0" vert="horz" wrap="square" lIns="218016" tIns="218016" rIns="218016" bIns="218016" numCol="1" spcCol="1270" anchor="ctr" anchorCtr="0">
                <a:noAutofit/>
              </a:bodyPr>
              <a:lstStyle/>
              <a:p>
                <a:pPr marL="0" lvl="0" indent="0" algn="ctr" defTabSz="711200">
                  <a:lnSpc>
                    <a:spcPct val="90000"/>
                  </a:lnSpc>
                  <a:spcBef>
                    <a:spcPct val="0"/>
                  </a:spcBef>
                  <a:spcAft>
                    <a:spcPct val="35000"/>
                  </a:spcAft>
                  <a:buNone/>
                </a:pPr>
                <a:r>
                  <a:rPr lang="en-GB" sz="1600" b="1" kern="1200" dirty="0">
                    <a:solidFill>
                      <a:sysClr val="window" lastClr="FFFFFF"/>
                    </a:solidFill>
                    <a:latin typeface="+mj-lt"/>
                    <a:ea typeface="+mn-ea"/>
                    <a:cs typeface="+mn-cs"/>
                  </a:rPr>
                  <a:t>Feeling useful</a:t>
                </a:r>
              </a:p>
            </p:txBody>
          </p:sp>
          <p:sp>
            <p:nvSpPr>
              <p:cNvPr id="11" name="Vrije vorm 10">
                <a:extLst>
                  <a:ext uri="{FF2B5EF4-FFF2-40B4-BE49-F238E27FC236}">
                    <a16:creationId xmlns:a16="http://schemas.microsoft.com/office/drawing/2014/main" id="{B5445B8D-B8E4-6612-BB91-00E407C5704A}"/>
                  </a:ext>
                </a:extLst>
              </p:cNvPr>
              <p:cNvSpPr/>
              <p:nvPr/>
            </p:nvSpPr>
            <p:spPr>
              <a:xfrm>
                <a:off x="4393395" y="2865551"/>
                <a:ext cx="1349950" cy="1349950"/>
              </a:xfrm>
              <a:custGeom>
                <a:avLst/>
                <a:gdLst>
                  <a:gd name="csX0" fmla="*/ 0 w 1349950"/>
                  <a:gd name="csY0" fmla="*/ 674975 h 1349950"/>
                  <a:gd name="csX1" fmla="*/ 674975 w 1349950"/>
                  <a:gd name="csY1" fmla="*/ 0 h 1349950"/>
                  <a:gd name="csX2" fmla="*/ 1349950 w 1349950"/>
                  <a:gd name="csY2" fmla="*/ 674975 h 1349950"/>
                  <a:gd name="csX3" fmla="*/ 674975 w 1349950"/>
                  <a:gd name="csY3" fmla="*/ 1349950 h 1349950"/>
                  <a:gd name="csX4" fmla="*/ 0 w 1349950"/>
                  <a:gd name="csY4" fmla="*/ 674975 h 1349950"/>
                </a:gdLst>
                <a:ahLst/>
                <a:cxnLst>
                  <a:cxn ang="0">
                    <a:pos x="csX0" y="csY0"/>
                  </a:cxn>
                  <a:cxn ang="0">
                    <a:pos x="csX1" y="csY1"/>
                  </a:cxn>
                  <a:cxn ang="0">
                    <a:pos x="csX2" y="csY2"/>
                  </a:cxn>
                  <a:cxn ang="0">
                    <a:pos x="csX3" y="csY3"/>
                  </a:cxn>
                  <a:cxn ang="0">
                    <a:pos x="csX4" y="csY4"/>
                  </a:cxn>
                </a:cxnLst>
                <a:rect l="l" t="t" r="r" b="b"/>
                <a:pathLst>
                  <a:path w="1349950" h="1349950">
                    <a:moveTo>
                      <a:pt x="0" y="674975"/>
                    </a:moveTo>
                    <a:cubicBezTo>
                      <a:pt x="0" y="302197"/>
                      <a:pt x="302197" y="0"/>
                      <a:pt x="674975" y="0"/>
                    </a:cubicBezTo>
                    <a:cubicBezTo>
                      <a:pt x="1047753" y="0"/>
                      <a:pt x="1349950" y="302197"/>
                      <a:pt x="1349950" y="674975"/>
                    </a:cubicBezTo>
                    <a:cubicBezTo>
                      <a:pt x="1349950" y="1047753"/>
                      <a:pt x="1047753" y="1349950"/>
                      <a:pt x="674975" y="1349950"/>
                    </a:cubicBezTo>
                    <a:cubicBezTo>
                      <a:pt x="302197" y="1349950"/>
                      <a:pt x="0" y="1047753"/>
                      <a:pt x="0" y="674975"/>
                    </a:cubicBezTo>
                    <a:close/>
                  </a:path>
                </a:pathLst>
              </a:custGeom>
              <a:solidFill>
                <a:srgbClr val="A83E03">
                  <a:alpha val="50000"/>
                </a:srgbClr>
              </a:solidFill>
              <a:ln w="19050" cap="flat" cmpd="sng" algn="ctr">
                <a:noFill/>
                <a:prstDash val="solid"/>
                <a:miter lim="800000"/>
              </a:ln>
              <a:effectLst/>
            </p:spPr>
            <p:style>
              <a:lnRef idx="3">
                <a:scrgbClr r="0" g="0" b="0"/>
              </a:lnRef>
              <a:fillRef idx="1">
                <a:scrgbClr r="0" g="0" b="0"/>
              </a:fillRef>
              <a:effectRef idx="0">
                <a:scrgbClr r="0" g="0" b="0"/>
              </a:effectRef>
              <a:fontRef idx="minor">
                <a:schemeClr val="tx1"/>
              </a:fontRef>
            </p:style>
            <p:txBody>
              <a:bodyPr spcFirstLastPara="0" vert="horz" wrap="square" lIns="0" tIns="218016" rIns="0" bIns="218016" numCol="1" spcCol="1270" anchor="ctr" anchorCtr="0">
                <a:noAutofit/>
              </a:bodyPr>
              <a:lstStyle/>
              <a:p>
                <a:pPr marL="0" lvl="0" indent="0" algn="ctr" defTabSz="711200">
                  <a:lnSpc>
                    <a:spcPct val="90000"/>
                  </a:lnSpc>
                  <a:spcBef>
                    <a:spcPct val="0"/>
                  </a:spcBef>
                  <a:spcAft>
                    <a:spcPct val="35000"/>
                  </a:spcAft>
                  <a:buNone/>
                </a:pPr>
                <a:r>
                  <a:rPr lang="en-GB" sz="1600" b="1" kern="1200" dirty="0">
                    <a:solidFill>
                      <a:sysClr val="window" lastClr="FFFFFF"/>
                    </a:solidFill>
                    <a:latin typeface="+mj-lt"/>
                    <a:ea typeface="+mn-ea"/>
                    <a:cs typeface="+mn-cs"/>
                  </a:rPr>
                  <a:t>Independence</a:t>
                </a:r>
              </a:p>
            </p:txBody>
          </p:sp>
          <p:sp>
            <p:nvSpPr>
              <p:cNvPr id="12" name="Vrije vorm 11">
                <a:extLst>
                  <a:ext uri="{FF2B5EF4-FFF2-40B4-BE49-F238E27FC236}">
                    <a16:creationId xmlns:a16="http://schemas.microsoft.com/office/drawing/2014/main" id="{9F0C3619-3B13-6F96-727A-42C9EBD7505B}"/>
                  </a:ext>
                </a:extLst>
              </p:cNvPr>
              <p:cNvSpPr/>
              <p:nvPr/>
            </p:nvSpPr>
            <p:spPr>
              <a:xfrm>
                <a:off x="4184378" y="1680157"/>
                <a:ext cx="1349950" cy="1349950"/>
              </a:xfrm>
              <a:custGeom>
                <a:avLst/>
                <a:gdLst>
                  <a:gd name="csX0" fmla="*/ 0 w 1349950"/>
                  <a:gd name="csY0" fmla="*/ 674975 h 1349950"/>
                  <a:gd name="csX1" fmla="*/ 674975 w 1349950"/>
                  <a:gd name="csY1" fmla="*/ 0 h 1349950"/>
                  <a:gd name="csX2" fmla="*/ 1349950 w 1349950"/>
                  <a:gd name="csY2" fmla="*/ 674975 h 1349950"/>
                  <a:gd name="csX3" fmla="*/ 674975 w 1349950"/>
                  <a:gd name="csY3" fmla="*/ 1349950 h 1349950"/>
                  <a:gd name="csX4" fmla="*/ 0 w 1349950"/>
                  <a:gd name="csY4" fmla="*/ 674975 h 1349950"/>
                </a:gdLst>
                <a:ahLst/>
                <a:cxnLst>
                  <a:cxn ang="0">
                    <a:pos x="csX0" y="csY0"/>
                  </a:cxn>
                  <a:cxn ang="0">
                    <a:pos x="csX1" y="csY1"/>
                  </a:cxn>
                  <a:cxn ang="0">
                    <a:pos x="csX2" y="csY2"/>
                  </a:cxn>
                  <a:cxn ang="0">
                    <a:pos x="csX3" y="csY3"/>
                  </a:cxn>
                  <a:cxn ang="0">
                    <a:pos x="csX4" y="csY4"/>
                  </a:cxn>
                </a:cxnLst>
                <a:rect l="l" t="t" r="r" b="b"/>
                <a:pathLst>
                  <a:path w="1349950" h="1349950">
                    <a:moveTo>
                      <a:pt x="0" y="674975"/>
                    </a:moveTo>
                    <a:cubicBezTo>
                      <a:pt x="0" y="302197"/>
                      <a:pt x="302197" y="0"/>
                      <a:pt x="674975" y="0"/>
                    </a:cubicBezTo>
                    <a:cubicBezTo>
                      <a:pt x="1047753" y="0"/>
                      <a:pt x="1349950" y="302197"/>
                      <a:pt x="1349950" y="674975"/>
                    </a:cubicBezTo>
                    <a:cubicBezTo>
                      <a:pt x="1349950" y="1047753"/>
                      <a:pt x="1047753" y="1349950"/>
                      <a:pt x="674975" y="1349950"/>
                    </a:cubicBezTo>
                    <a:cubicBezTo>
                      <a:pt x="302197" y="1349950"/>
                      <a:pt x="0" y="1047753"/>
                      <a:pt x="0" y="674975"/>
                    </a:cubicBezTo>
                    <a:close/>
                  </a:path>
                </a:pathLst>
              </a:custGeom>
              <a:solidFill>
                <a:srgbClr val="E9BAF4">
                  <a:alpha val="50000"/>
                </a:srgbClr>
              </a:solidFill>
              <a:ln w="19050" cap="flat" cmpd="sng" algn="ctr">
                <a:noFill/>
                <a:prstDash val="solid"/>
                <a:miter lim="800000"/>
              </a:ln>
              <a:effectLst/>
            </p:spPr>
            <p:style>
              <a:lnRef idx="3">
                <a:scrgbClr r="0" g="0" b="0"/>
              </a:lnRef>
              <a:fillRef idx="1">
                <a:scrgbClr r="0" g="0" b="0"/>
              </a:fillRef>
              <a:effectRef idx="0">
                <a:scrgbClr r="0" g="0" b="0"/>
              </a:effectRef>
              <a:fontRef idx="minor">
                <a:schemeClr val="tx1"/>
              </a:fontRef>
            </p:style>
            <p:txBody>
              <a:bodyPr spcFirstLastPara="0" vert="horz" wrap="square" lIns="216000" tIns="215476" rIns="216000" bIns="215476" numCol="1" spcCol="1270" anchor="ctr" anchorCtr="0">
                <a:noAutofit/>
              </a:bodyPr>
              <a:lstStyle/>
              <a:p>
                <a:pPr marL="0" lvl="0" indent="0" algn="ctr" defTabSz="622300">
                  <a:lnSpc>
                    <a:spcPct val="90000"/>
                  </a:lnSpc>
                  <a:spcBef>
                    <a:spcPct val="0"/>
                  </a:spcBef>
                  <a:spcAft>
                    <a:spcPct val="35000"/>
                  </a:spcAft>
                  <a:buNone/>
                </a:pPr>
                <a:r>
                  <a:rPr lang="en-GB" sz="1600" b="1" kern="1200" noProof="1">
                    <a:solidFill>
                      <a:sysClr val="window" lastClr="FFFFFF"/>
                    </a:solidFill>
                    <a:latin typeface="+mj-lt"/>
                    <a:ea typeface="+mn-ea"/>
                    <a:cs typeface="+mn-cs"/>
                  </a:rPr>
                  <a:t>Being able to make ends meet</a:t>
                </a:r>
              </a:p>
            </p:txBody>
          </p:sp>
          <p:sp>
            <p:nvSpPr>
              <p:cNvPr id="13" name="Vrije vorm 12">
                <a:extLst>
                  <a:ext uri="{FF2B5EF4-FFF2-40B4-BE49-F238E27FC236}">
                    <a16:creationId xmlns:a16="http://schemas.microsoft.com/office/drawing/2014/main" id="{91F7543F-FAAA-4085-36C1-9014D8ADBE14}"/>
                  </a:ext>
                </a:extLst>
              </p:cNvPr>
              <p:cNvSpPr/>
              <p:nvPr/>
            </p:nvSpPr>
            <p:spPr>
              <a:xfrm>
                <a:off x="4720691" y="631190"/>
                <a:ext cx="1349950" cy="1349950"/>
              </a:xfrm>
              <a:custGeom>
                <a:avLst/>
                <a:gdLst>
                  <a:gd name="csX0" fmla="*/ 0 w 1349950"/>
                  <a:gd name="csY0" fmla="*/ 674975 h 1349950"/>
                  <a:gd name="csX1" fmla="*/ 674975 w 1349950"/>
                  <a:gd name="csY1" fmla="*/ 0 h 1349950"/>
                  <a:gd name="csX2" fmla="*/ 1349950 w 1349950"/>
                  <a:gd name="csY2" fmla="*/ 674975 h 1349950"/>
                  <a:gd name="csX3" fmla="*/ 674975 w 1349950"/>
                  <a:gd name="csY3" fmla="*/ 1349950 h 1349950"/>
                  <a:gd name="csX4" fmla="*/ 0 w 1349950"/>
                  <a:gd name="csY4" fmla="*/ 674975 h 1349950"/>
                </a:gdLst>
                <a:ahLst/>
                <a:cxnLst>
                  <a:cxn ang="0">
                    <a:pos x="csX0" y="csY0"/>
                  </a:cxn>
                  <a:cxn ang="0">
                    <a:pos x="csX1" y="csY1"/>
                  </a:cxn>
                  <a:cxn ang="0">
                    <a:pos x="csX2" y="csY2"/>
                  </a:cxn>
                  <a:cxn ang="0">
                    <a:pos x="csX3" y="csY3"/>
                  </a:cxn>
                  <a:cxn ang="0">
                    <a:pos x="csX4" y="csY4"/>
                  </a:cxn>
                </a:cxnLst>
                <a:rect l="l" t="t" r="r" b="b"/>
                <a:pathLst>
                  <a:path w="1349950" h="1349950">
                    <a:moveTo>
                      <a:pt x="0" y="674975"/>
                    </a:moveTo>
                    <a:cubicBezTo>
                      <a:pt x="0" y="302197"/>
                      <a:pt x="302197" y="0"/>
                      <a:pt x="674975" y="0"/>
                    </a:cubicBezTo>
                    <a:cubicBezTo>
                      <a:pt x="1047753" y="0"/>
                      <a:pt x="1349950" y="302197"/>
                      <a:pt x="1349950" y="674975"/>
                    </a:cubicBezTo>
                    <a:cubicBezTo>
                      <a:pt x="1349950" y="1047753"/>
                      <a:pt x="1047753" y="1349950"/>
                      <a:pt x="674975" y="1349950"/>
                    </a:cubicBezTo>
                    <a:cubicBezTo>
                      <a:pt x="302197" y="1349950"/>
                      <a:pt x="0" y="1047753"/>
                      <a:pt x="0" y="674975"/>
                    </a:cubicBezTo>
                    <a:close/>
                  </a:path>
                </a:pathLst>
              </a:custGeom>
              <a:solidFill>
                <a:srgbClr val="003E25">
                  <a:alpha val="50000"/>
                </a:srgbClr>
              </a:solidFill>
              <a:ln w="19050" cap="flat" cmpd="sng" algn="ctr">
                <a:noFill/>
                <a:prstDash val="solid"/>
                <a:miter lim="800000"/>
              </a:ln>
              <a:effectLst/>
            </p:spPr>
            <p:style>
              <a:lnRef idx="3">
                <a:scrgbClr r="0" g="0" b="0"/>
              </a:lnRef>
              <a:fillRef idx="1">
                <a:scrgbClr r="0" g="0" b="0"/>
              </a:fillRef>
              <a:effectRef idx="0">
                <a:scrgbClr r="0" g="0" b="0"/>
              </a:effectRef>
              <a:fontRef idx="minor">
                <a:schemeClr val="tx1"/>
              </a:fontRef>
            </p:style>
            <p:txBody>
              <a:bodyPr spcFirstLastPara="0" vert="horz" wrap="square" lIns="218016" tIns="218016" rIns="218016" bIns="218016" numCol="1" spcCol="1270" anchor="ctr" anchorCtr="0">
                <a:noAutofit/>
              </a:bodyPr>
              <a:lstStyle/>
              <a:p>
                <a:pPr marL="0" lvl="0" indent="0" algn="ctr" defTabSz="711200">
                  <a:lnSpc>
                    <a:spcPct val="90000"/>
                  </a:lnSpc>
                  <a:spcBef>
                    <a:spcPct val="0"/>
                  </a:spcBef>
                  <a:spcAft>
                    <a:spcPct val="35000"/>
                  </a:spcAft>
                  <a:buNone/>
                </a:pPr>
                <a:r>
                  <a:rPr lang="en-GB" sz="1600" b="1" kern="1200" dirty="0">
                    <a:solidFill>
                      <a:sysClr val="window" lastClr="FFFFFF"/>
                    </a:solidFill>
                    <a:latin typeface="+mj-lt"/>
                    <a:ea typeface="+mn-ea"/>
                    <a:cs typeface="+mn-cs"/>
                  </a:rPr>
                  <a:t>Living situation</a:t>
                </a:r>
              </a:p>
            </p:txBody>
          </p:sp>
        </p:grpSp>
        <p:sp>
          <p:nvSpPr>
            <p:cNvPr id="21" name="Tekstvak 20">
              <a:extLst>
                <a:ext uri="{FF2B5EF4-FFF2-40B4-BE49-F238E27FC236}">
                  <a16:creationId xmlns:a16="http://schemas.microsoft.com/office/drawing/2014/main" id="{9FBEA67A-6268-4DB6-BF2A-15CDEE667E3F}"/>
                </a:ext>
              </a:extLst>
            </p:cNvPr>
            <p:cNvSpPr txBox="1"/>
            <p:nvPr/>
          </p:nvSpPr>
          <p:spPr>
            <a:xfrm>
              <a:off x="5564945" y="2335714"/>
              <a:ext cx="2054678" cy="923330"/>
            </a:xfrm>
            <a:prstGeom prst="rect">
              <a:avLst/>
            </a:prstGeom>
            <a:noFill/>
          </p:spPr>
          <p:txBody>
            <a:bodyPr wrap="square" lIns="0" rIns="0" rtlCol="0">
              <a:spAutoFit/>
            </a:bodyPr>
            <a:lstStyle/>
            <a:p>
              <a:pPr algn="ctr"/>
              <a:r>
                <a:rPr lang="en-GB" b="1" dirty="0"/>
                <a:t>Well-being of </a:t>
              </a:r>
            </a:p>
            <a:p>
              <a:pPr algn="ctr"/>
              <a:r>
                <a:rPr lang="en-GB" b="1" dirty="0"/>
                <a:t>Older People (WOOP)</a:t>
              </a:r>
            </a:p>
          </p:txBody>
        </p:sp>
      </p:grpSp>
      <p:pic>
        <p:nvPicPr>
          <p:cNvPr id="16" name="Afbeelding 15">
            <a:extLst>
              <a:ext uri="{FF2B5EF4-FFF2-40B4-BE49-F238E27FC236}">
                <a16:creationId xmlns:a16="http://schemas.microsoft.com/office/drawing/2014/main" id="{C67B815E-5ED6-24EF-0D8E-E9AEDB469343}"/>
              </a:ext>
            </a:extLst>
          </p:cNvPr>
          <p:cNvPicPr>
            <a:picLocks noChangeAspect="1"/>
          </p:cNvPicPr>
          <p:nvPr/>
        </p:nvPicPr>
        <p:blipFill>
          <a:blip r:embed="rId3"/>
          <a:stretch>
            <a:fillRect/>
          </a:stretch>
        </p:blipFill>
        <p:spPr>
          <a:xfrm>
            <a:off x="386910" y="2143142"/>
            <a:ext cx="3401565" cy="1692000"/>
          </a:xfrm>
          <a:prstGeom prst="rect">
            <a:avLst/>
          </a:prstGeom>
          <a:effectLst>
            <a:outerShdw blurRad="63500" sx="102000" sy="102000" algn="ctr" rotWithShape="0">
              <a:prstClr val="black">
                <a:alpha val="40000"/>
              </a:prstClr>
            </a:outerShdw>
          </a:effectLst>
        </p:spPr>
      </p:pic>
      <p:pic>
        <p:nvPicPr>
          <p:cNvPr id="18" name="Afbeelding 17">
            <a:extLst>
              <a:ext uri="{FF2B5EF4-FFF2-40B4-BE49-F238E27FC236}">
                <a16:creationId xmlns:a16="http://schemas.microsoft.com/office/drawing/2014/main" id="{C5E5ADD1-CCEE-E6E3-7125-7A35CE3ABF96}"/>
              </a:ext>
            </a:extLst>
          </p:cNvPr>
          <p:cNvPicPr>
            <a:picLocks noChangeAspect="1"/>
          </p:cNvPicPr>
          <p:nvPr/>
        </p:nvPicPr>
        <p:blipFill>
          <a:blip r:embed="rId4"/>
          <a:stretch>
            <a:fillRect/>
          </a:stretch>
        </p:blipFill>
        <p:spPr>
          <a:xfrm>
            <a:off x="752069" y="3510266"/>
            <a:ext cx="3588182" cy="1478946"/>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040233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B64E3-361E-9BEE-DD1B-6CE2FE415E4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F65EE90-EDA4-DC48-48C5-2853C6D07E10}"/>
              </a:ext>
            </a:extLst>
          </p:cNvPr>
          <p:cNvSpPr>
            <a:spLocks noGrp="1"/>
          </p:cNvSpPr>
          <p:nvPr>
            <p:ph type="ctrTitle"/>
          </p:nvPr>
        </p:nvSpPr>
        <p:spPr>
          <a:xfrm>
            <a:off x="1782424" y="1976520"/>
            <a:ext cx="5100975" cy="611472"/>
          </a:xfrm>
        </p:spPr>
        <p:txBody>
          <a:bodyPr/>
          <a:lstStyle/>
          <a:p>
            <a:r>
              <a:rPr lang="en-US" dirty="0"/>
              <a:t>Performance of the WOOP</a:t>
            </a:r>
          </a:p>
        </p:txBody>
      </p:sp>
    </p:spTree>
    <p:extLst>
      <p:ext uri="{BB962C8B-B14F-4D97-AF65-F5344CB8AC3E}">
        <p14:creationId xmlns:p14="http://schemas.microsoft.com/office/powerpoint/2010/main" val="2364115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F29CD-245F-DF93-9DE8-D50AF5D204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60135D-07D1-F348-A372-F69AA061DF94}"/>
              </a:ext>
            </a:extLst>
          </p:cNvPr>
          <p:cNvSpPr>
            <a:spLocks noGrp="1"/>
          </p:cNvSpPr>
          <p:nvPr>
            <p:ph type="title"/>
          </p:nvPr>
        </p:nvSpPr>
        <p:spPr>
          <a:xfrm>
            <a:off x="491525" y="396000"/>
            <a:ext cx="8172000" cy="576000"/>
          </a:xfrm>
        </p:spPr>
        <p:txBody>
          <a:bodyPr anchor="t">
            <a:normAutofit/>
          </a:bodyPr>
          <a:lstStyle/>
          <a:p>
            <a:r>
              <a:rPr lang="en-GB" dirty="0"/>
              <a:t>Convergent validity</a:t>
            </a:r>
            <a:endParaRPr lang="LID4096" dirty="0"/>
          </a:p>
        </p:txBody>
      </p:sp>
      <p:sp>
        <p:nvSpPr>
          <p:cNvPr id="8" name="Tijdelijke aanduiding voor inhoud 5">
            <a:extLst>
              <a:ext uri="{FF2B5EF4-FFF2-40B4-BE49-F238E27FC236}">
                <a16:creationId xmlns:a16="http://schemas.microsoft.com/office/drawing/2014/main" id="{D1268A7E-AE7A-9970-33CA-E4656FC51927}"/>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pic>
        <p:nvPicPr>
          <p:cNvPr id="12" name="Picture 11">
            <a:extLst>
              <a:ext uri="{FF2B5EF4-FFF2-40B4-BE49-F238E27FC236}">
                <a16:creationId xmlns:a16="http://schemas.microsoft.com/office/drawing/2014/main" id="{F570B821-79AB-2CDF-A163-7FF0884748E6}"/>
              </a:ext>
            </a:extLst>
          </p:cNvPr>
          <p:cNvPicPr>
            <a:picLocks noChangeAspect="1"/>
          </p:cNvPicPr>
          <p:nvPr/>
        </p:nvPicPr>
        <p:blipFill>
          <a:blip r:embed="rId3"/>
          <a:srcRect t="21554"/>
          <a:stretch>
            <a:fillRect/>
          </a:stretch>
        </p:blipFill>
        <p:spPr>
          <a:xfrm>
            <a:off x="4345118" y="597296"/>
            <a:ext cx="4613251" cy="4484327"/>
          </a:xfrm>
          <a:prstGeom prst="rect">
            <a:avLst/>
          </a:prstGeom>
        </p:spPr>
      </p:pic>
      <p:sp>
        <p:nvSpPr>
          <p:cNvPr id="13" name="Content Placeholder 3">
            <a:extLst>
              <a:ext uri="{FF2B5EF4-FFF2-40B4-BE49-F238E27FC236}">
                <a16:creationId xmlns:a16="http://schemas.microsoft.com/office/drawing/2014/main" id="{3DFAE245-0713-8806-CAD5-0B27C2EBF63F}"/>
              </a:ext>
            </a:extLst>
          </p:cNvPr>
          <p:cNvSpPr txBox="1">
            <a:spLocks/>
          </p:cNvSpPr>
          <p:nvPr/>
        </p:nvSpPr>
        <p:spPr>
          <a:xfrm>
            <a:off x="491525" y="971999"/>
            <a:ext cx="3406707"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sz="1400" dirty="0"/>
              <a:t>All well-being instruments showed strong correlations among them</a:t>
            </a:r>
          </a:p>
          <a:p>
            <a:r>
              <a:rPr lang="en-GB" sz="1400" dirty="0"/>
              <a:t>EQ-HWB-9 was more strongly correlated with EQ-5D-5L</a:t>
            </a:r>
          </a:p>
          <a:p>
            <a:r>
              <a:rPr lang="en-GB" sz="1400" dirty="0"/>
              <a:t>WOOP presented the strongest correlations with the other wellbeing instruments and general well-being questionnaires</a:t>
            </a:r>
            <a:endParaRPr lang="pt-BR" sz="1400" dirty="0"/>
          </a:p>
          <a:p>
            <a:endParaRPr lang="en-US" sz="1400" dirty="0"/>
          </a:p>
        </p:txBody>
      </p:sp>
      <p:sp>
        <p:nvSpPr>
          <p:cNvPr id="3" name="Rectangle 2">
            <a:extLst>
              <a:ext uri="{FF2B5EF4-FFF2-40B4-BE49-F238E27FC236}">
                <a16:creationId xmlns:a16="http://schemas.microsoft.com/office/drawing/2014/main" id="{9A8987EE-CAAA-F0B3-3766-3922377CE950}"/>
              </a:ext>
            </a:extLst>
          </p:cNvPr>
          <p:cNvSpPr/>
          <p:nvPr/>
        </p:nvSpPr>
        <p:spPr>
          <a:xfrm>
            <a:off x="5050221" y="2391103"/>
            <a:ext cx="2044262" cy="320565"/>
          </a:xfrm>
          <a:prstGeom prst="rect">
            <a:avLst/>
          </a:prstGeom>
          <a:noFill/>
          <a:ln w="19050"/>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
        <p:nvSpPr>
          <p:cNvPr id="4" name="Rectangle 3">
            <a:extLst>
              <a:ext uri="{FF2B5EF4-FFF2-40B4-BE49-F238E27FC236}">
                <a16:creationId xmlns:a16="http://schemas.microsoft.com/office/drawing/2014/main" id="{CC800F9A-1C00-1DC5-819F-FFAA6B7C9D55}"/>
              </a:ext>
            </a:extLst>
          </p:cNvPr>
          <p:cNvSpPr/>
          <p:nvPr/>
        </p:nvSpPr>
        <p:spPr>
          <a:xfrm rot="5400000">
            <a:off x="5875282" y="3186184"/>
            <a:ext cx="2044262" cy="320565"/>
          </a:xfrm>
          <a:prstGeom prst="rect">
            <a:avLst/>
          </a:prstGeom>
          <a:noFill/>
          <a:ln w="19050"/>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1890494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821B4-D3DB-99EE-4E21-EF56224266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3E65D2-3101-B3DD-E161-C98E1A5BDAF8}"/>
              </a:ext>
            </a:extLst>
          </p:cNvPr>
          <p:cNvSpPr>
            <a:spLocks noGrp="1"/>
          </p:cNvSpPr>
          <p:nvPr>
            <p:ph type="title"/>
          </p:nvPr>
        </p:nvSpPr>
        <p:spPr>
          <a:xfrm>
            <a:off x="491525" y="396000"/>
            <a:ext cx="8172000" cy="576000"/>
          </a:xfrm>
        </p:spPr>
        <p:txBody>
          <a:bodyPr anchor="t">
            <a:normAutofit/>
          </a:bodyPr>
          <a:lstStyle/>
          <a:p>
            <a:r>
              <a:rPr lang="en-GB" dirty="0"/>
              <a:t>Known-group validity</a:t>
            </a:r>
            <a:endParaRPr lang="LID4096" dirty="0"/>
          </a:p>
        </p:txBody>
      </p:sp>
      <p:sp>
        <p:nvSpPr>
          <p:cNvPr id="8" name="Tijdelijke aanduiding voor inhoud 5">
            <a:extLst>
              <a:ext uri="{FF2B5EF4-FFF2-40B4-BE49-F238E27FC236}">
                <a16:creationId xmlns:a16="http://schemas.microsoft.com/office/drawing/2014/main" id="{DB44CE21-FD8A-2661-BD32-2471305C5CA4}"/>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9" name="Rectangle 8">
            <a:extLst>
              <a:ext uri="{FF2B5EF4-FFF2-40B4-BE49-F238E27FC236}">
                <a16:creationId xmlns:a16="http://schemas.microsoft.com/office/drawing/2014/main" id="{9A5F05C3-FC82-FDA3-593C-EE22A7D3FF38}"/>
              </a:ext>
            </a:extLst>
          </p:cNvPr>
          <p:cNvSpPr/>
          <p:nvPr/>
        </p:nvSpPr>
        <p:spPr>
          <a:xfrm>
            <a:off x="6861438" y="4243810"/>
            <a:ext cx="2062556" cy="596586"/>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graphicFrame>
        <p:nvGraphicFramePr>
          <p:cNvPr id="7" name="Table 6">
            <a:extLst>
              <a:ext uri="{FF2B5EF4-FFF2-40B4-BE49-F238E27FC236}">
                <a16:creationId xmlns:a16="http://schemas.microsoft.com/office/drawing/2014/main" id="{0698F77C-0B02-DEA4-4A80-7A98ED5C88AD}"/>
              </a:ext>
            </a:extLst>
          </p:cNvPr>
          <p:cNvGraphicFramePr>
            <a:graphicFrameLocks noGrp="1"/>
          </p:cNvGraphicFramePr>
          <p:nvPr>
            <p:extLst>
              <p:ext uri="{D42A27DB-BD31-4B8C-83A1-F6EECF244321}">
                <p14:modId xmlns:p14="http://schemas.microsoft.com/office/powerpoint/2010/main" val="1741240184"/>
              </p:ext>
            </p:extLst>
          </p:nvPr>
        </p:nvGraphicFramePr>
        <p:xfrm>
          <a:off x="3139439" y="1100580"/>
          <a:ext cx="5784555" cy="3250439"/>
        </p:xfrm>
        <a:graphic>
          <a:graphicData uri="http://schemas.openxmlformats.org/drawingml/2006/table">
            <a:tbl>
              <a:tblPr firstRow="1" firstCol="1" bandRow="1"/>
              <a:tblGrid>
                <a:gridCol w="1248410">
                  <a:extLst>
                    <a:ext uri="{9D8B030D-6E8A-4147-A177-3AD203B41FA5}">
                      <a16:colId xmlns:a16="http://schemas.microsoft.com/office/drawing/2014/main" val="2691473734"/>
                    </a:ext>
                  </a:extLst>
                </a:gridCol>
                <a:gridCol w="637135">
                  <a:extLst>
                    <a:ext uri="{9D8B030D-6E8A-4147-A177-3AD203B41FA5}">
                      <a16:colId xmlns:a16="http://schemas.microsoft.com/office/drawing/2014/main" val="2011143558"/>
                    </a:ext>
                  </a:extLst>
                </a:gridCol>
                <a:gridCol w="649835">
                  <a:extLst>
                    <a:ext uri="{9D8B030D-6E8A-4147-A177-3AD203B41FA5}">
                      <a16:colId xmlns:a16="http://schemas.microsoft.com/office/drawing/2014/main" val="1479163861"/>
                    </a:ext>
                  </a:extLst>
                </a:gridCol>
                <a:gridCol w="649835">
                  <a:extLst>
                    <a:ext uri="{9D8B030D-6E8A-4147-A177-3AD203B41FA5}">
                      <a16:colId xmlns:a16="http://schemas.microsoft.com/office/drawing/2014/main" val="80781516"/>
                    </a:ext>
                  </a:extLst>
                </a:gridCol>
                <a:gridCol w="649835">
                  <a:extLst>
                    <a:ext uri="{9D8B030D-6E8A-4147-A177-3AD203B41FA5}">
                      <a16:colId xmlns:a16="http://schemas.microsoft.com/office/drawing/2014/main" val="3322537241"/>
                    </a:ext>
                  </a:extLst>
                </a:gridCol>
                <a:gridCol w="649835">
                  <a:extLst>
                    <a:ext uri="{9D8B030D-6E8A-4147-A177-3AD203B41FA5}">
                      <a16:colId xmlns:a16="http://schemas.microsoft.com/office/drawing/2014/main" val="2380445824"/>
                    </a:ext>
                  </a:extLst>
                </a:gridCol>
                <a:gridCol w="649835">
                  <a:extLst>
                    <a:ext uri="{9D8B030D-6E8A-4147-A177-3AD203B41FA5}">
                      <a16:colId xmlns:a16="http://schemas.microsoft.com/office/drawing/2014/main" val="3013557673"/>
                    </a:ext>
                  </a:extLst>
                </a:gridCol>
                <a:gridCol w="649835">
                  <a:extLst>
                    <a:ext uri="{9D8B030D-6E8A-4147-A177-3AD203B41FA5}">
                      <a16:colId xmlns:a16="http://schemas.microsoft.com/office/drawing/2014/main" val="2536469207"/>
                    </a:ext>
                  </a:extLst>
                </a:gridCol>
              </a:tblGrid>
              <a:tr h="88524">
                <a:tc>
                  <a:txBody>
                    <a:bodyPr/>
                    <a:lstStyle/>
                    <a:p>
                      <a:pPr algn="ctr">
                        <a:lnSpc>
                          <a:spcPct val="107000"/>
                        </a:lnSpc>
                        <a:spcAft>
                          <a:spcPts val="800"/>
                        </a:spcAft>
                        <a:buNone/>
                      </a:pPr>
                      <a:r>
                        <a:rPr lang="en-US" sz="700" b="1">
                          <a:solidFill>
                            <a:srgbClr val="FFFFFF"/>
                          </a:solidFill>
                          <a:effectLst/>
                          <a:latin typeface="Aptos" panose="020B0004020202020204" pitchFamily="34" charset="0"/>
                          <a:ea typeface="Aptos" panose="020B0004020202020204" pitchFamily="34" charset="0"/>
                          <a:cs typeface="Arial" panose="020B0604020202020204" pitchFamily="34" charset="0"/>
                        </a:rPr>
                        <a:t>Group</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31974" marR="31974"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marL="0" algn="ctr" defTabSz="457200" rtl="0" eaLnBrk="1" latinLnBrk="0" hangingPunct="1">
                        <a:lnSpc>
                          <a:spcPct val="107000"/>
                        </a:lnSpc>
                        <a:spcAft>
                          <a:spcPts val="800"/>
                        </a:spcAft>
                        <a:buNone/>
                      </a:pPr>
                      <a:r>
                        <a:rPr lang="en-US" sz="700" b="1" kern="1200" dirty="0">
                          <a:solidFill>
                            <a:schemeClr val="bg1"/>
                          </a:solidFill>
                          <a:effectLst/>
                          <a:latin typeface="Aptos" panose="020B0004020202020204" pitchFamily="34" charset="0"/>
                          <a:ea typeface="Aptos" panose="020B0004020202020204" pitchFamily="34" charset="0"/>
                          <a:cs typeface="Arial" panose="020B0604020202020204" pitchFamily="34" charset="0"/>
                        </a:rPr>
                        <a:t>EQ-5D-5L</a:t>
                      </a:r>
                    </a:p>
                  </a:txBody>
                  <a:tcPr marL="31974" marR="3197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marL="0" algn="ctr" defTabSz="457200" rtl="0" eaLnBrk="1" latinLnBrk="0" hangingPunct="1">
                        <a:lnSpc>
                          <a:spcPct val="107000"/>
                        </a:lnSpc>
                        <a:spcAft>
                          <a:spcPts val="800"/>
                        </a:spcAft>
                        <a:buNone/>
                      </a:pPr>
                      <a:r>
                        <a:rPr lang="en-US" sz="700" b="1" kern="1200" dirty="0">
                          <a:solidFill>
                            <a:schemeClr val="bg1"/>
                          </a:solidFill>
                          <a:effectLst/>
                          <a:latin typeface="Aptos" panose="020B0004020202020204" pitchFamily="34" charset="0"/>
                          <a:ea typeface="Aptos" panose="020B0004020202020204" pitchFamily="34" charset="0"/>
                          <a:cs typeface="Arial" panose="020B0604020202020204" pitchFamily="34" charset="0"/>
                        </a:rPr>
                        <a:t>EQ-HWB-9</a:t>
                      </a:r>
                    </a:p>
                  </a:txBody>
                  <a:tcPr marL="31974" marR="3197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marL="0" algn="ctr" defTabSz="457200" rtl="0" eaLnBrk="1" latinLnBrk="0" hangingPunct="1">
                        <a:lnSpc>
                          <a:spcPct val="107000"/>
                        </a:lnSpc>
                        <a:spcAft>
                          <a:spcPts val="800"/>
                        </a:spcAft>
                        <a:buNone/>
                      </a:pPr>
                      <a:r>
                        <a:rPr lang="en-US" sz="700" b="1" kern="1200" dirty="0">
                          <a:solidFill>
                            <a:schemeClr val="bg1"/>
                          </a:solidFill>
                          <a:effectLst/>
                          <a:latin typeface="Aptos" panose="020B0004020202020204" pitchFamily="34" charset="0"/>
                          <a:ea typeface="Aptos" panose="020B0004020202020204" pitchFamily="34" charset="0"/>
                          <a:cs typeface="Arial" panose="020B0604020202020204" pitchFamily="34" charset="0"/>
                        </a:rPr>
                        <a:t>ICECAP-A</a:t>
                      </a:r>
                    </a:p>
                  </a:txBody>
                  <a:tcPr marL="31974" marR="3197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marL="0" algn="ctr" defTabSz="457200" rtl="0" eaLnBrk="1" latinLnBrk="0" hangingPunct="1">
                        <a:lnSpc>
                          <a:spcPct val="107000"/>
                        </a:lnSpc>
                        <a:spcAft>
                          <a:spcPts val="800"/>
                        </a:spcAft>
                        <a:buNone/>
                      </a:pPr>
                      <a:r>
                        <a:rPr lang="en-US" sz="700" b="1" kern="1200" dirty="0">
                          <a:solidFill>
                            <a:schemeClr val="bg1"/>
                          </a:solidFill>
                          <a:effectLst/>
                          <a:latin typeface="Aptos" panose="020B0004020202020204" pitchFamily="34" charset="0"/>
                          <a:ea typeface="Aptos" panose="020B0004020202020204" pitchFamily="34" charset="0"/>
                          <a:cs typeface="Arial" panose="020B0604020202020204" pitchFamily="34" charset="0"/>
                        </a:rPr>
                        <a:t>ICECAP-O</a:t>
                      </a:r>
                    </a:p>
                  </a:txBody>
                  <a:tcPr marL="31974" marR="3197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marL="0" algn="ctr" defTabSz="457200" rtl="0" eaLnBrk="1" latinLnBrk="0" hangingPunct="1">
                        <a:lnSpc>
                          <a:spcPct val="107000"/>
                        </a:lnSpc>
                        <a:spcAft>
                          <a:spcPts val="800"/>
                        </a:spcAft>
                        <a:buNone/>
                      </a:pPr>
                      <a:r>
                        <a:rPr lang="en-US" sz="700" b="1" kern="1200" dirty="0">
                          <a:solidFill>
                            <a:schemeClr val="bg1"/>
                          </a:solidFill>
                          <a:effectLst/>
                          <a:latin typeface="Aptos" panose="020B0004020202020204" pitchFamily="34" charset="0"/>
                          <a:ea typeface="Aptos" panose="020B0004020202020204" pitchFamily="34" charset="0"/>
                          <a:cs typeface="Arial" panose="020B0604020202020204" pitchFamily="34" charset="0"/>
                        </a:rPr>
                        <a:t>SWB-5D</a:t>
                      </a:r>
                    </a:p>
                  </a:txBody>
                  <a:tcPr marL="31974" marR="3197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marL="0" algn="ctr" defTabSz="457200" rtl="0" eaLnBrk="1" latinLnBrk="0" hangingPunct="1">
                        <a:lnSpc>
                          <a:spcPct val="107000"/>
                        </a:lnSpc>
                        <a:spcAft>
                          <a:spcPts val="800"/>
                        </a:spcAft>
                        <a:buNone/>
                      </a:pPr>
                      <a:r>
                        <a:rPr lang="en-US" sz="700" b="1" kern="1200" dirty="0">
                          <a:solidFill>
                            <a:schemeClr val="bg1"/>
                          </a:solidFill>
                          <a:effectLst/>
                          <a:latin typeface="Aptos" panose="020B0004020202020204" pitchFamily="34" charset="0"/>
                          <a:ea typeface="Aptos" panose="020B0004020202020204" pitchFamily="34" charset="0"/>
                          <a:cs typeface="Arial" panose="020B0604020202020204" pitchFamily="34" charset="0"/>
                        </a:rPr>
                        <a:t>WiX</a:t>
                      </a:r>
                    </a:p>
                  </a:txBody>
                  <a:tcPr marL="31974" marR="31974" marT="0" marB="0" anchor="ctr">
                    <a:lnL>
                      <a:noFill/>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marL="0" algn="ctr" defTabSz="457200" rtl="0" eaLnBrk="1" latinLnBrk="0" hangingPunct="1">
                        <a:lnSpc>
                          <a:spcPct val="107000"/>
                        </a:lnSpc>
                        <a:spcAft>
                          <a:spcPts val="800"/>
                        </a:spcAft>
                        <a:buNone/>
                      </a:pPr>
                      <a:r>
                        <a:rPr lang="en-US" sz="700" b="1" kern="1200" dirty="0">
                          <a:solidFill>
                            <a:schemeClr val="bg1"/>
                          </a:solidFill>
                          <a:effectLst/>
                          <a:latin typeface="Aptos" panose="020B0004020202020204" pitchFamily="34" charset="0"/>
                          <a:ea typeface="Aptos" panose="020B0004020202020204" pitchFamily="34" charset="0"/>
                          <a:cs typeface="Arial" panose="020B0604020202020204" pitchFamily="34" charset="0"/>
                        </a:rPr>
                        <a:t>WOOP</a:t>
                      </a:r>
                    </a:p>
                  </a:txBody>
                  <a:tcPr marL="31974" marR="31974"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674956645"/>
                  </a:ext>
                </a:extLst>
              </a:tr>
              <a:tr h="126463">
                <a:tc>
                  <a:txBody>
                    <a:bodyPr/>
                    <a:lstStyle/>
                    <a:p>
                      <a:pPr>
                        <a:lnSpc>
                          <a:spcPct val="107000"/>
                        </a:lnSpc>
                        <a:spcAft>
                          <a:spcPts val="800"/>
                        </a:spcAft>
                        <a:buNone/>
                      </a:pPr>
                      <a:r>
                        <a:rPr lang="en-US" sz="600" b="1" dirty="0">
                          <a:effectLst/>
                          <a:latin typeface="Aptos" panose="020B0004020202020204" pitchFamily="34" charset="0"/>
                          <a:ea typeface="Aptos" panose="020B0004020202020204" pitchFamily="34" charset="0"/>
                          <a:cs typeface="Arial" panose="020B0604020202020204" pitchFamily="34" charset="0"/>
                        </a:rPr>
                        <a:t>Arthritis</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dirty="0">
                          <a:effectLst/>
                          <a:latin typeface="Aptos" panose="020B0004020202020204" pitchFamily="34" charset="0"/>
                          <a:ea typeface="Aptos" panose="020B0004020202020204" pitchFamily="34" charset="0"/>
                          <a:cs typeface="Arial" panose="020B0604020202020204" pitchFamily="34" charset="0"/>
                        </a:rPr>
                        <a:t> </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nSpc>
                          <a:spcPct val="107000"/>
                        </a:lnSpc>
                        <a:spcAft>
                          <a:spcPts val="800"/>
                        </a:spcAft>
                        <a:buNone/>
                      </a:pP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nSpc>
                          <a:spcPct val="107000"/>
                        </a:lnSpc>
                        <a:spcAft>
                          <a:spcPts val="800"/>
                        </a:spcAft>
                        <a:buNone/>
                      </a:pP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1970326285"/>
                  </a:ext>
                </a:extLst>
              </a:tr>
              <a:tr h="126463">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 Clinical (n=104) </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66.59 (14.83)</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66.59 (17.10)</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60.32 (17.04)</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56.79 (16.80)</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58.94 (11.36)</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65.67 (14.57)</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64.08 (13.09)</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8900071"/>
                  </a:ext>
                </a:extLst>
              </a:tr>
              <a:tr h="126463">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 Non-clinical (n=116)</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87.07 (8.47)</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87.00 (8.76)</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78.10 (13.41)</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73.51 (13.66)</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73.71 (13.42)</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81.53 (9.83)</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80.75 (10.88)</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2703291864"/>
                  </a:ext>
                </a:extLst>
              </a:tr>
              <a:tr h="154458">
                <a:tc>
                  <a:txBody>
                    <a:bodyPr/>
                    <a:lstStyle/>
                    <a:p>
                      <a:pPr>
                        <a:lnSpc>
                          <a:spcPct val="107000"/>
                        </a:lnSpc>
                        <a:spcAft>
                          <a:spcPts val="800"/>
                        </a:spcAft>
                        <a:buNone/>
                      </a:pPr>
                      <a:r>
                        <a:rPr lang="en-US" sz="600" dirty="0">
                          <a:solidFill>
                            <a:srgbClr val="000000"/>
                          </a:solidFill>
                          <a:effectLst/>
                          <a:latin typeface="Aptos" panose="020B0004020202020204" pitchFamily="34" charset="0"/>
                          <a:ea typeface="Aptos" panose="020B0004020202020204" pitchFamily="34" charset="0"/>
                          <a:cs typeface="Arial" panose="020B0604020202020204" pitchFamily="34" charset="0"/>
                        </a:rPr>
                        <a:t>Mann-Whitney U results – U (p) [r]</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1209 (&lt;0.001) [0.69]</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1414 (&lt;0.001) [0.66]</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2463.5 (&lt;0.001) [0.51]</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2753 (&lt;0.001) [0.47]</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2344.5 (&lt;0.001) [0.53]</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2142.5 (&lt;0.001) [0.56]</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1991 (&lt;0.001) [0.58]</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3469516616"/>
                  </a:ext>
                </a:extLst>
              </a:tr>
              <a:tr h="126463">
                <a:tc>
                  <a:txBody>
                    <a:bodyPr/>
                    <a:lstStyle/>
                    <a:p>
                      <a:pPr>
                        <a:lnSpc>
                          <a:spcPct val="107000"/>
                        </a:lnSpc>
                        <a:spcAft>
                          <a:spcPts val="800"/>
                        </a:spcAft>
                        <a:buNone/>
                      </a:pPr>
                      <a:r>
                        <a:rPr lang="en-US" sz="600" b="1" dirty="0">
                          <a:effectLst/>
                          <a:latin typeface="Aptos" panose="020B0004020202020204" pitchFamily="34" charset="0"/>
                          <a:ea typeface="Aptos" panose="020B0004020202020204" pitchFamily="34" charset="0"/>
                          <a:cs typeface="Arial" panose="020B0604020202020204" pitchFamily="34" charset="0"/>
                        </a:rPr>
                        <a:t>Heart</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dirty="0">
                          <a:effectLst/>
                          <a:latin typeface="Aptos" panose="020B0004020202020204" pitchFamily="34" charset="0"/>
                          <a:ea typeface="Aptos" panose="020B0004020202020204" pitchFamily="34" charset="0"/>
                          <a:cs typeface="Arial" panose="020B0604020202020204" pitchFamily="34" charset="0"/>
                        </a:rPr>
                        <a:t> </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3258679529"/>
                  </a:ext>
                </a:extLst>
              </a:tr>
              <a:tr h="126463">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 Clinical (n=177) </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71.61 (15.48)</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69.10 (16.68)</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62.41 (17.90)</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57.21 (17.36)</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59.24 (14.36)</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65.30 (14.85)</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65.24 (14.87)</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3587729"/>
                  </a:ext>
                </a:extLst>
              </a:tr>
              <a:tr h="126463">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 Non-clinical (n=280)</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91.04 (9.05)</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89.77 (9.36)</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79.43 (13.49)</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75.71 (14.48)</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76.45 (12.49)</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82.77 (10.12)</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82.53 (10.87)</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511946463"/>
                  </a:ext>
                </a:extLst>
              </a:tr>
              <a:tr h="154458">
                <a:tc>
                  <a:txBody>
                    <a:bodyPr/>
                    <a:lstStyle/>
                    <a:p>
                      <a:pPr>
                        <a:lnSpc>
                          <a:spcPct val="107000"/>
                        </a:lnSpc>
                        <a:spcAft>
                          <a:spcPts val="800"/>
                        </a:spcAft>
                        <a:buNone/>
                      </a:pPr>
                      <a:r>
                        <a:rPr lang="en-US" sz="600" dirty="0">
                          <a:solidFill>
                            <a:srgbClr val="000000"/>
                          </a:solidFill>
                          <a:effectLst/>
                          <a:latin typeface="Aptos" panose="020B0004020202020204" pitchFamily="34" charset="0"/>
                          <a:ea typeface="Aptos" panose="020B0004020202020204" pitchFamily="34" charset="0"/>
                          <a:cs typeface="Arial" panose="020B0604020202020204" pitchFamily="34" charset="0"/>
                        </a:rPr>
                        <a:t>Mann-Whitney U results – U (p) [r]</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6000 (&lt;0.001) [0.64]</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5696.5 (&lt;0.001) [0.65]</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11369.5</a:t>
                      </a:r>
                      <a:r>
                        <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 </a:t>
                      </a: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(&lt;0.001) [0.46]</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9972.5 (&lt;0.001) [0.51]</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8942.5 (&lt;0.001) [0.54]</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7771.5</a:t>
                      </a:r>
                      <a:r>
                        <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 </a:t>
                      </a: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(&lt;0.001) [0.58]</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8414 (&lt;0.001) [0.56]</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4231622503"/>
                  </a:ext>
                </a:extLst>
              </a:tr>
              <a:tr h="126463">
                <a:tc>
                  <a:txBody>
                    <a:bodyPr/>
                    <a:lstStyle/>
                    <a:p>
                      <a:pPr>
                        <a:lnSpc>
                          <a:spcPct val="107000"/>
                        </a:lnSpc>
                        <a:spcAft>
                          <a:spcPts val="800"/>
                        </a:spcAft>
                        <a:buNone/>
                      </a:pPr>
                      <a:r>
                        <a:rPr lang="en-US" sz="600" b="1" dirty="0">
                          <a:effectLst/>
                          <a:latin typeface="Aptos" panose="020B0004020202020204" pitchFamily="34" charset="0"/>
                          <a:ea typeface="Aptos" panose="020B0004020202020204" pitchFamily="34" charset="0"/>
                          <a:cs typeface="Arial" panose="020B0604020202020204" pitchFamily="34" charset="0"/>
                        </a:rPr>
                        <a:t>General Health</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dirty="0">
                          <a:effectLst/>
                          <a:latin typeface="Aptos" panose="020B0004020202020204" pitchFamily="34" charset="0"/>
                          <a:ea typeface="Aptos" panose="020B0004020202020204" pitchFamily="34" charset="0"/>
                          <a:cs typeface="Arial" panose="020B0604020202020204" pitchFamily="34" charset="0"/>
                        </a:rPr>
                        <a:t> </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541685599"/>
                  </a:ext>
                </a:extLst>
              </a:tr>
              <a:tr h="126463">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 Poor health (n=</a:t>
                      </a:r>
                      <a:r>
                        <a:rPr lang="en-GB"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1,011</a:t>
                      </a: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77.91 (15.25)</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76.35 (17.08)</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66.97 (17.75)</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62.39 (17.77)</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64.74 (15.32)</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71.18 (14.93)</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70.55 (14.91)</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1518601130"/>
                  </a:ext>
                </a:extLst>
              </a:tr>
              <a:tr h="126463">
                <a:tc>
                  <a:txBody>
                    <a:bodyPr/>
                    <a:lstStyle/>
                    <a:p>
                      <a:pPr marL="0" algn="ctr" defTabSz="457200" rtl="0" eaLnBrk="1" latinLnBrk="0" hangingPunct="1">
                        <a:lnSpc>
                          <a:spcPct val="107000"/>
                        </a:lnSpc>
                        <a:spcAft>
                          <a:spcPts val="800"/>
                        </a:spcAft>
                        <a:buNone/>
                      </a:pPr>
                      <a:r>
                        <a:rPr lang="it-IT"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Good health (n=1,133)</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93.00 (7.55)</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91.65 (8.64)</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81.17 (13.70)</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77.51 (14.27)</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79.56 (12.84)</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84.52 (10.14)</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84.95 (10.23)</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1382976774"/>
                  </a:ext>
                </a:extLst>
              </a:tr>
              <a:tr h="154458">
                <a:tc>
                  <a:txBody>
                    <a:bodyPr/>
                    <a:lstStyle/>
                    <a:p>
                      <a:pPr>
                        <a:lnSpc>
                          <a:spcPct val="107000"/>
                        </a:lnSpc>
                        <a:spcAft>
                          <a:spcPts val="800"/>
                        </a:spcAft>
                        <a:buNone/>
                      </a:pPr>
                      <a:r>
                        <a:rPr lang="en-US" sz="600" dirty="0">
                          <a:solidFill>
                            <a:srgbClr val="000000"/>
                          </a:solidFill>
                          <a:effectLst/>
                          <a:latin typeface="Aptos" panose="020B0004020202020204" pitchFamily="34" charset="0"/>
                          <a:ea typeface="Aptos" panose="020B0004020202020204" pitchFamily="34" charset="0"/>
                          <a:cs typeface="Arial" panose="020B0604020202020204" pitchFamily="34" charset="0"/>
                        </a:rPr>
                        <a:t>Mann-Whitney U results – U (p) [r]</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952308 (&lt;0.001) [0.58]</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926789 (&lt;0.001) [0.54] </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835787 (&lt;0.001) [0.40]</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850306 (&lt;0.001) [0.42]</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884557.5 (&lt;0.001) [0.47]</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884057 (&lt;0.001) [0.47]</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902868 (&lt;0.001) [0.50]</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1335919259"/>
                  </a:ext>
                </a:extLst>
              </a:tr>
              <a:tr h="94981">
                <a:tc>
                  <a:txBody>
                    <a:bodyPr/>
                    <a:lstStyle/>
                    <a:p>
                      <a:pPr>
                        <a:lnSpc>
                          <a:spcPct val="107000"/>
                        </a:lnSpc>
                        <a:spcAft>
                          <a:spcPts val="800"/>
                        </a:spcAft>
                        <a:buNone/>
                      </a:pPr>
                      <a:r>
                        <a:rPr lang="en-US" sz="600" b="1" dirty="0">
                          <a:solidFill>
                            <a:schemeClr val="tx1"/>
                          </a:solidFill>
                          <a:effectLst/>
                          <a:latin typeface="Aptos" panose="020B0004020202020204" pitchFamily="34" charset="0"/>
                          <a:ea typeface="Aptos" panose="020B0004020202020204" pitchFamily="34" charset="0"/>
                          <a:cs typeface="Arial" panose="020B0604020202020204" pitchFamily="34" charset="0"/>
                        </a:rPr>
                        <a:t>Income</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b="1">
                          <a:solidFill>
                            <a:srgbClr val="FFFFFF"/>
                          </a:solidFill>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b="1">
                          <a:solidFill>
                            <a:srgbClr val="FFFFFF"/>
                          </a:solidFill>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b="1">
                          <a:solidFill>
                            <a:srgbClr val="FFFFFF"/>
                          </a:solidFill>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b="1">
                          <a:solidFill>
                            <a:srgbClr val="FFFFFF"/>
                          </a:solidFill>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1642827908"/>
                  </a:ext>
                </a:extLst>
              </a:tr>
              <a:tr h="126463">
                <a:tc>
                  <a:txBody>
                    <a:bodyPr/>
                    <a:lstStyle/>
                    <a:p>
                      <a:pPr marL="0" algn="ctr" defTabSz="457200" rtl="0" eaLnBrk="1" latinLnBrk="0" hangingPunct="1">
                        <a:lnSpc>
                          <a:spcPct val="107000"/>
                        </a:lnSpc>
                        <a:spcAft>
                          <a:spcPts val="800"/>
                        </a:spcAft>
                        <a:buNone/>
                      </a:pPr>
                      <a:r>
                        <a:rPr lang="en-US" sz="600" i="1" kern="1200">
                          <a:solidFill>
                            <a:srgbClr val="000000"/>
                          </a:solidFill>
                          <a:effectLst/>
                          <a:latin typeface="Aptos" panose="020B0004020202020204" pitchFamily="34" charset="0"/>
                          <a:ea typeface="Aptos" panose="020B0004020202020204" pitchFamily="34" charset="0"/>
                          <a:cs typeface="Arial" panose="020B0604020202020204" pitchFamily="34" charset="0"/>
                        </a:rPr>
                        <a:t>Low (n=522)</a:t>
                      </a:r>
                      <a:endParaRPr lang="" sz="600" i="1"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82.39 (15.77)</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80.28 (17.60)</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69.91 (19.52)</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66.37 (19.85)</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70.13 (16.47)</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73.54 (16.22)</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72.82 (16.19)</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631046792"/>
                  </a:ext>
                </a:extLst>
              </a:tr>
              <a:tr h="126463">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Medium (n=774)</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85.87</a:t>
                      </a:r>
                      <a:r>
                        <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 </a:t>
                      </a: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(13.76)</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84.47 (14.85)</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74.50 (16.23)</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70.34 (16.64)</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72.25 (15.74)</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78.18 (13.29)</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78.33 (13.60)</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3188921865"/>
                  </a:ext>
                </a:extLst>
              </a:tr>
              <a:tr h="126463">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High (n=681)</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89.05 (11.65)</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88.30 (12.38)</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78.98 (15.62)</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74.29 (16.26)</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75.70 (15.16)</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82.65 (12.62)</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82.85 (12.75)</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1367672026"/>
                  </a:ext>
                </a:extLst>
              </a:tr>
              <a:tr h="154458">
                <a:tc>
                  <a:txBody>
                    <a:bodyPr/>
                    <a:lstStyle/>
                    <a:p>
                      <a:pPr>
                        <a:lnSpc>
                          <a:spcPct val="107000"/>
                        </a:lnSpc>
                        <a:spcAft>
                          <a:spcPts val="800"/>
                        </a:spcAft>
                        <a:buNone/>
                      </a:pPr>
                      <a:r>
                        <a:rPr lang="en-US" sz="600" dirty="0">
                          <a:solidFill>
                            <a:srgbClr val="000000"/>
                          </a:solidFill>
                          <a:effectLst/>
                          <a:latin typeface="Aptos" panose="020B0004020202020204" pitchFamily="34" charset="0"/>
                          <a:ea typeface="Aptos" panose="020B0004020202020204" pitchFamily="34" charset="0"/>
                          <a:cs typeface="Arial" panose="020B0604020202020204" pitchFamily="34" charset="0"/>
                        </a:rPr>
                        <a:t>Kruskal-Wallis results – H (p) [</a:t>
                      </a:r>
                      <a:r>
                        <a:rPr lang="el-GR" sz="600" dirty="0">
                          <a:solidFill>
                            <a:srgbClr val="000000"/>
                          </a:solidFill>
                          <a:effectLst/>
                          <a:latin typeface="Aptos" panose="020B0004020202020204" pitchFamily="34" charset="0"/>
                          <a:ea typeface="Aptos" panose="020B0004020202020204" pitchFamily="34" charset="0"/>
                          <a:cs typeface="Arial" panose="020B0604020202020204" pitchFamily="34" charset="0"/>
                        </a:rPr>
                        <a:t>η</a:t>
                      </a:r>
                      <a:r>
                        <a:rPr lang="el-GR" sz="600" baseline="30000" dirty="0">
                          <a:solidFill>
                            <a:srgbClr val="000000"/>
                          </a:solidFill>
                          <a:effectLst/>
                          <a:latin typeface="Aptos" panose="020B0004020202020204" pitchFamily="34" charset="0"/>
                          <a:ea typeface="Aptos" panose="020B0004020202020204" pitchFamily="34" charset="0"/>
                          <a:cs typeface="Arial" panose="020B0604020202020204" pitchFamily="34" charset="0"/>
                        </a:rPr>
                        <a:t>2</a:t>
                      </a:r>
                      <a:r>
                        <a:rPr lang="el-GR" sz="600" dirty="0">
                          <a:solidFill>
                            <a:srgbClr val="000000"/>
                          </a:solidFill>
                          <a:effectLst/>
                          <a:latin typeface="Aptos" panose="020B0004020202020204" pitchFamily="34" charset="0"/>
                          <a:ea typeface="Aptos" panose="020B0004020202020204" pitchFamily="34" charset="0"/>
                          <a:cs typeface="Arial" panose="020B0604020202020204" pitchFamily="34" charset="0"/>
                        </a:rPr>
                        <a:t>]</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62.9 (&lt;0.001) [0.03] </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78.6</a:t>
                      </a:r>
                      <a:r>
                        <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 </a:t>
                      </a: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(&lt;0.001) [0.04]</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74.3 (&lt;0.001) [0.04]</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55.5 (&lt;0.001) [0.03] </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40.0 (&lt;0.001) [0.02]</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117 (&lt;0.001) [0.06]</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84E290"/>
                    </a:solid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137 (&lt;0.001) [0.07]</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84E290"/>
                    </a:solidFill>
                  </a:tcPr>
                </a:tc>
                <a:extLst>
                  <a:ext uri="{0D108BD9-81ED-4DB2-BD59-A6C34878D82A}">
                    <a16:rowId xmlns:a16="http://schemas.microsoft.com/office/drawing/2014/main" val="3379625300"/>
                  </a:ext>
                </a:extLst>
              </a:tr>
              <a:tr h="126463">
                <a:tc>
                  <a:txBody>
                    <a:bodyPr/>
                    <a:lstStyle/>
                    <a:p>
                      <a:pPr marL="0" marR="0" lvl="0" indent="0" algn="l" defTabSz="457200" rtl="0" eaLnBrk="1" fontAlgn="auto" latinLnBrk="0" hangingPunct="1">
                        <a:lnSpc>
                          <a:spcPct val="107000"/>
                        </a:lnSpc>
                        <a:spcBef>
                          <a:spcPts val="0"/>
                        </a:spcBef>
                        <a:spcAft>
                          <a:spcPts val="800"/>
                        </a:spcAft>
                        <a:buClrTx/>
                        <a:buSzTx/>
                        <a:buFontTx/>
                        <a:buNone/>
                        <a:tabLst/>
                        <a:defRPr/>
                      </a:pPr>
                      <a:r>
                        <a:rPr lang="en-US" sz="600" b="1" dirty="0">
                          <a:solidFill>
                            <a:schemeClr val="tx1"/>
                          </a:solidFill>
                          <a:effectLst/>
                          <a:latin typeface="Aptos" panose="020B0004020202020204" pitchFamily="34" charset="0"/>
                          <a:ea typeface="Aptos" panose="020B0004020202020204" pitchFamily="34" charset="0"/>
                          <a:cs typeface="Arial" panose="020B0604020202020204" pitchFamily="34" charset="0"/>
                        </a:rPr>
                        <a:t>Relationship</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extLst>
                  <a:ext uri="{0D108BD9-81ED-4DB2-BD59-A6C34878D82A}">
                    <a16:rowId xmlns:a16="http://schemas.microsoft.com/office/drawing/2014/main" val="1597600676"/>
                  </a:ext>
                </a:extLst>
              </a:tr>
              <a:tr h="126463">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 Not in a relationship (n=</a:t>
                      </a:r>
                      <a:r>
                        <a:rPr lang="en-GB"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703</a:t>
                      </a: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84.10 (14.39)</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81.38 (16.84)</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70.67 (18.40)</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66.47 (18.95)</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69.63 (16.82)</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74.50 (15.38)</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74.08 (15.82)</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3091352847"/>
                  </a:ext>
                </a:extLst>
              </a:tr>
              <a:tr h="126463">
                <a:tc>
                  <a:txBody>
                    <a:bodyPr/>
                    <a:lstStyle/>
                    <a:p>
                      <a:pPr marL="0" algn="ctr" defTabSz="457200" rtl="0" eaLnBrk="1" latinLnBrk="0" hangingPunct="1">
                        <a:lnSpc>
                          <a:spcPct val="107000"/>
                        </a:lnSpc>
                        <a:spcAft>
                          <a:spcPts val="800"/>
                        </a:spcAft>
                        <a:buNone/>
                      </a:pPr>
                      <a:r>
                        <a:rPr lang="it-IT"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In a relationship (n=1,441)</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86.76 (13.75)</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85.93 (14.32)</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r>
                        <a:rPr lang="en-US" sz="600" kern="1200">
                          <a:solidFill>
                            <a:srgbClr val="000000"/>
                          </a:solidFill>
                          <a:effectLst/>
                          <a:latin typeface="Aptos" panose="020B0004020202020204" pitchFamily="34" charset="0"/>
                          <a:ea typeface="Aptos" panose="020B0004020202020204" pitchFamily="34" charset="0"/>
                          <a:cs typeface="Arial" panose="020B0604020202020204" pitchFamily="34" charset="0"/>
                        </a:rPr>
                        <a:t>76.33 (16.36)</a:t>
                      </a:r>
                      <a:endParaRPr lang="" sz="600" kern="120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72.29 (16.74)</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74.00 (15.22)</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80.05 (13.34)</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r>
                        <a:rPr lang="en-US"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80.15 (13.45)</a:t>
                      </a:r>
                      <a:endParaRPr lang="" sz="600"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extLst>
                  <a:ext uri="{0D108BD9-81ED-4DB2-BD59-A6C34878D82A}">
                    <a16:rowId xmlns:a16="http://schemas.microsoft.com/office/drawing/2014/main" val="1661082591"/>
                  </a:ext>
                </a:extLst>
              </a:tr>
              <a:tr h="126463">
                <a:tc>
                  <a:txBody>
                    <a:bodyPr/>
                    <a:lstStyle/>
                    <a:p>
                      <a:pPr>
                        <a:lnSpc>
                          <a:spcPct val="107000"/>
                        </a:lnSpc>
                        <a:spcAft>
                          <a:spcPts val="800"/>
                        </a:spcAft>
                        <a:buNone/>
                      </a:pPr>
                      <a:r>
                        <a:rPr lang="en-US" sz="600" dirty="0">
                          <a:solidFill>
                            <a:srgbClr val="000000"/>
                          </a:solidFill>
                          <a:effectLst/>
                          <a:latin typeface="Aptos" panose="020B0004020202020204" pitchFamily="34" charset="0"/>
                          <a:ea typeface="Aptos" panose="020B0004020202020204" pitchFamily="34" charset="0"/>
                          <a:cs typeface="Arial" panose="020B0604020202020204" pitchFamily="34" charset="0"/>
                        </a:rPr>
                        <a:t>Mann-Whitney U results – U (p) [r]</a:t>
                      </a:r>
                      <a:endParaRPr lang="el-GR"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445769.5 (&lt;0.001) [0.10]</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420269.5</a:t>
                      </a:r>
                      <a:r>
                        <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 </a:t>
                      </a: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(&lt;0.001) [0.14]</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418009 (&lt;0.001) [0.14] </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417754.5</a:t>
                      </a:r>
                      <a:r>
                        <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 </a:t>
                      </a: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(&lt;0.001) [0.14]</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429657 (&lt;0.001) [0.12) </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394679.5</a:t>
                      </a:r>
                      <a:r>
                        <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 </a:t>
                      </a: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(&lt;0.001) [0.18]</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marL="0" algn="ctr" defTabSz="457200" rtl="0" eaLnBrk="1" latinLnBrk="0" hangingPunct="1">
                        <a:lnSpc>
                          <a:spcPct val="107000"/>
                        </a:lnSpc>
                        <a:spcAft>
                          <a:spcPts val="800"/>
                        </a:spcAft>
                        <a:buNone/>
                      </a:pPr>
                      <a:r>
                        <a:rPr lang="en-US"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390115.5 (&lt;0.001) [0.19]</a:t>
                      </a:r>
                      <a:endParaRPr lang="" sz="600" i="1" kern="1200" dirty="0">
                        <a:solidFill>
                          <a:srgbClr val="0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extLst>
                  <a:ext uri="{0D108BD9-81ED-4DB2-BD59-A6C34878D82A}">
                    <a16:rowId xmlns:a16="http://schemas.microsoft.com/office/drawing/2014/main" val="2317271821"/>
                  </a:ext>
                </a:extLst>
              </a:tr>
            </a:tbl>
          </a:graphicData>
        </a:graphic>
      </p:graphicFrame>
      <p:sp>
        <p:nvSpPr>
          <p:cNvPr id="10" name="Content Placeholder 3">
            <a:extLst>
              <a:ext uri="{FF2B5EF4-FFF2-40B4-BE49-F238E27FC236}">
                <a16:creationId xmlns:a16="http://schemas.microsoft.com/office/drawing/2014/main" id="{201027CE-6C07-7351-66D1-4C341F66CA6D}"/>
              </a:ext>
            </a:extLst>
          </p:cNvPr>
          <p:cNvSpPr txBox="1">
            <a:spLocks/>
          </p:cNvSpPr>
          <p:nvPr/>
        </p:nvSpPr>
        <p:spPr>
          <a:xfrm>
            <a:off x="491525" y="971999"/>
            <a:ext cx="2396129"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sz="1400" dirty="0"/>
              <a:t>All well-being instruments were able to distinguish between clinical and demographic groups</a:t>
            </a:r>
          </a:p>
          <a:p>
            <a:r>
              <a:rPr lang="en-GB" sz="1400" dirty="0"/>
              <a:t>EQ-5D-5L, EQ-HWB-9 and SWB-5D showed higher detection in clinical groups</a:t>
            </a:r>
          </a:p>
          <a:p>
            <a:r>
              <a:rPr lang="en-GB" sz="1400" dirty="0"/>
              <a:t>WOOP and WiX showed better detection in demographic groups</a:t>
            </a:r>
            <a:endParaRPr lang="en-US" sz="1400" dirty="0"/>
          </a:p>
        </p:txBody>
      </p:sp>
      <p:sp>
        <p:nvSpPr>
          <p:cNvPr id="14" name="TextBox 13">
            <a:extLst>
              <a:ext uri="{FF2B5EF4-FFF2-40B4-BE49-F238E27FC236}">
                <a16:creationId xmlns:a16="http://schemas.microsoft.com/office/drawing/2014/main" id="{F14CDF7E-99F3-541C-F632-4C464C172CEE}"/>
              </a:ext>
            </a:extLst>
          </p:cNvPr>
          <p:cNvSpPr txBox="1"/>
          <p:nvPr/>
        </p:nvSpPr>
        <p:spPr>
          <a:xfrm>
            <a:off x="3052822" y="4387266"/>
            <a:ext cx="6046728" cy="184666"/>
          </a:xfrm>
          <a:prstGeom prst="rect">
            <a:avLst/>
          </a:prstGeom>
          <a:noFill/>
        </p:spPr>
        <p:txBody>
          <a:bodyPr wrap="square">
            <a:spAutoFit/>
          </a:bodyPr>
          <a:lstStyle/>
          <a:p>
            <a:r>
              <a:rPr lang="en-US" sz="600" i="1" dirty="0">
                <a:effectLst/>
                <a:latin typeface="Aptos" panose="020B0004020202020204" pitchFamily="34" charset="0"/>
                <a:ea typeface="Aptos" panose="020B0004020202020204" pitchFamily="34" charset="0"/>
                <a:cs typeface="Arial" panose="020B0604020202020204" pitchFamily="34" charset="0"/>
              </a:rPr>
              <a:t>Effect size interpretation: </a:t>
            </a: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small</a:t>
            </a:r>
            <a:r>
              <a:rPr lang="en-US" sz="600" i="1" dirty="0">
                <a:effectLst/>
                <a:latin typeface="Aptos" panose="020B0004020202020204" pitchFamily="34" charset="0"/>
                <a:ea typeface="Aptos" panose="020B0004020202020204" pitchFamily="34" charset="0"/>
                <a:cs typeface="Arial" panose="020B0604020202020204" pitchFamily="34" charset="0"/>
              </a:rPr>
              <a:t> (0.01 ≤ </a:t>
            </a:r>
            <a:r>
              <a:rPr lang="el-GR" sz="600" dirty="0">
                <a:solidFill>
                  <a:srgbClr val="000000"/>
                </a:solidFill>
                <a:latin typeface="Aptos" panose="020B0004020202020204" pitchFamily="34" charset="0"/>
                <a:ea typeface="Aptos" panose="020B0004020202020204" pitchFamily="34" charset="0"/>
                <a:cs typeface="Arial" panose="020B0604020202020204" pitchFamily="34" charset="0"/>
              </a:rPr>
              <a:t>η</a:t>
            </a:r>
            <a:r>
              <a:rPr lang="el-GR" sz="600" baseline="30000" dirty="0">
                <a:solidFill>
                  <a:srgbClr val="000000"/>
                </a:solidFill>
                <a:latin typeface="Aptos" panose="020B0004020202020204" pitchFamily="34" charset="0"/>
                <a:ea typeface="Aptos" panose="020B0004020202020204" pitchFamily="34" charset="0"/>
                <a:cs typeface="Arial" panose="020B0604020202020204" pitchFamily="34" charset="0"/>
              </a:rPr>
              <a:t>2</a:t>
            </a:r>
            <a:r>
              <a:rPr lang="en-US" sz="600" i="1" dirty="0">
                <a:effectLst/>
                <a:latin typeface="Aptos" panose="020B0004020202020204" pitchFamily="34" charset="0"/>
                <a:ea typeface="Aptos" panose="020B0004020202020204" pitchFamily="34" charset="0"/>
                <a:cs typeface="Arial" panose="020B0604020202020204" pitchFamily="34" charset="0"/>
              </a:rPr>
              <a:t> &lt; 0.06, 0.1 ≤ r &lt; 0.24); </a:t>
            </a: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moderate</a:t>
            </a:r>
            <a:r>
              <a:rPr lang="en-US" sz="600" i="1" dirty="0">
                <a:effectLst/>
                <a:latin typeface="Aptos" panose="020B0004020202020204" pitchFamily="34" charset="0"/>
                <a:ea typeface="Aptos" panose="020B0004020202020204" pitchFamily="34" charset="0"/>
                <a:cs typeface="Arial" panose="020B0604020202020204" pitchFamily="34" charset="0"/>
              </a:rPr>
              <a:t> (.06 ≤ </a:t>
            </a:r>
            <a:r>
              <a:rPr lang="el-GR" sz="600" dirty="0">
                <a:solidFill>
                  <a:srgbClr val="000000"/>
                </a:solidFill>
                <a:latin typeface="Aptos" panose="020B0004020202020204" pitchFamily="34" charset="0"/>
                <a:ea typeface="Aptos" panose="020B0004020202020204" pitchFamily="34" charset="0"/>
                <a:cs typeface="Arial" panose="020B0604020202020204" pitchFamily="34" charset="0"/>
              </a:rPr>
              <a:t>η</a:t>
            </a:r>
            <a:r>
              <a:rPr lang="el-GR" sz="600" baseline="30000" dirty="0">
                <a:solidFill>
                  <a:srgbClr val="000000"/>
                </a:solidFill>
                <a:latin typeface="Aptos" panose="020B0004020202020204" pitchFamily="34" charset="0"/>
                <a:ea typeface="Aptos" panose="020B0004020202020204" pitchFamily="34" charset="0"/>
                <a:cs typeface="Arial" panose="020B0604020202020204" pitchFamily="34" charset="0"/>
              </a:rPr>
              <a:t>2</a:t>
            </a:r>
            <a:r>
              <a:rPr lang="en-US" sz="600" i="1" dirty="0">
                <a:effectLst/>
                <a:latin typeface="Aptos" panose="020B0004020202020204" pitchFamily="34" charset="0"/>
                <a:ea typeface="Aptos" panose="020B0004020202020204" pitchFamily="34" charset="0"/>
                <a:cs typeface="Arial" panose="020B0604020202020204" pitchFamily="34" charset="0"/>
              </a:rPr>
              <a:t> &lt; 0.14, 0.24 ≤ r &lt; 0.37); </a:t>
            </a: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strong</a:t>
            </a:r>
            <a:r>
              <a:rPr lang="en-US" sz="600" i="1" dirty="0">
                <a:effectLst/>
                <a:latin typeface="Aptos" panose="020B0004020202020204" pitchFamily="34" charset="0"/>
                <a:ea typeface="Aptos" panose="020B0004020202020204" pitchFamily="34" charset="0"/>
                <a:cs typeface="Arial" panose="020B0604020202020204" pitchFamily="34" charset="0"/>
              </a:rPr>
              <a:t> (</a:t>
            </a:r>
            <a:r>
              <a:rPr lang="el-GR" sz="600" dirty="0">
                <a:solidFill>
                  <a:srgbClr val="000000"/>
                </a:solidFill>
                <a:latin typeface="Aptos" panose="020B0004020202020204" pitchFamily="34" charset="0"/>
                <a:ea typeface="Aptos" panose="020B0004020202020204" pitchFamily="34" charset="0"/>
                <a:cs typeface="Arial" panose="020B0604020202020204" pitchFamily="34" charset="0"/>
              </a:rPr>
              <a:t>η</a:t>
            </a:r>
            <a:r>
              <a:rPr lang="el-GR" sz="600" baseline="30000" dirty="0">
                <a:solidFill>
                  <a:srgbClr val="000000"/>
                </a:solidFill>
                <a:latin typeface="Aptos" panose="020B0004020202020204" pitchFamily="34" charset="0"/>
                <a:ea typeface="Aptos" panose="020B0004020202020204" pitchFamily="34" charset="0"/>
                <a:cs typeface="Arial" panose="020B0604020202020204" pitchFamily="34" charset="0"/>
              </a:rPr>
              <a:t>2</a:t>
            </a:r>
            <a:r>
              <a:rPr lang="en-US" sz="600" i="1" dirty="0">
                <a:effectLst/>
                <a:latin typeface="Aptos" panose="020B0004020202020204" pitchFamily="34" charset="0"/>
                <a:ea typeface="Aptos" panose="020B0004020202020204" pitchFamily="34" charset="0"/>
                <a:cs typeface="Arial" panose="020B0604020202020204" pitchFamily="34" charset="0"/>
              </a:rPr>
              <a:t>≥ 0.14, r ≥ 0.37) </a:t>
            </a:r>
            <a:endParaRPr lang="LID4096" sz="600" i="1" dirty="0"/>
          </a:p>
        </p:txBody>
      </p:sp>
      <p:sp>
        <p:nvSpPr>
          <p:cNvPr id="3" name="Rectangle 2">
            <a:extLst>
              <a:ext uri="{FF2B5EF4-FFF2-40B4-BE49-F238E27FC236}">
                <a16:creationId xmlns:a16="http://schemas.microsoft.com/office/drawing/2014/main" id="{2455CFB5-A8CA-6B2A-11CE-3115F4BD0150}"/>
              </a:ext>
            </a:extLst>
          </p:cNvPr>
          <p:cNvSpPr/>
          <p:nvPr/>
        </p:nvSpPr>
        <p:spPr>
          <a:xfrm rot="5400000">
            <a:off x="6892157" y="2356944"/>
            <a:ext cx="3410607" cy="735724"/>
          </a:xfrm>
          <a:prstGeom prst="rect">
            <a:avLst/>
          </a:prstGeom>
          <a:noFill/>
          <a:ln w="19050"/>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2253594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DBFF2-7CCE-BAC2-8811-717F658BC7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BF6A3E-D3D6-658C-5BF1-660E94582126}"/>
              </a:ext>
            </a:extLst>
          </p:cNvPr>
          <p:cNvSpPr>
            <a:spLocks noGrp="1"/>
          </p:cNvSpPr>
          <p:nvPr>
            <p:ph type="title"/>
          </p:nvPr>
        </p:nvSpPr>
        <p:spPr>
          <a:xfrm>
            <a:off x="491525" y="396000"/>
            <a:ext cx="8172000" cy="576000"/>
          </a:xfrm>
        </p:spPr>
        <p:txBody>
          <a:bodyPr anchor="t">
            <a:normAutofit/>
          </a:bodyPr>
          <a:lstStyle/>
          <a:p>
            <a:r>
              <a:rPr lang="en-GB" dirty="0"/>
              <a:t>Test-retest reliability</a:t>
            </a:r>
            <a:endParaRPr lang="LID4096" dirty="0"/>
          </a:p>
        </p:txBody>
      </p:sp>
      <p:sp>
        <p:nvSpPr>
          <p:cNvPr id="8" name="Tijdelijke aanduiding voor inhoud 5">
            <a:extLst>
              <a:ext uri="{FF2B5EF4-FFF2-40B4-BE49-F238E27FC236}">
                <a16:creationId xmlns:a16="http://schemas.microsoft.com/office/drawing/2014/main" id="{336515EB-7016-89DC-04E1-F18D8F4A8301}"/>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9" name="Rectangle 8">
            <a:extLst>
              <a:ext uri="{FF2B5EF4-FFF2-40B4-BE49-F238E27FC236}">
                <a16:creationId xmlns:a16="http://schemas.microsoft.com/office/drawing/2014/main" id="{03148EE3-724D-61AB-C226-F321AEBFDB90}"/>
              </a:ext>
            </a:extLst>
          </p:cNvPr>
          <p:cNvSpPr/>
          <p:nvPr/>
        </p:nvSpPr>
        <p:spPr>
          <a:xfrm>
            <a:off x="6861438" y="4243810"/>
            <a:ext cx="2062556" cy="596586"/>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
        <p:nvSpPr>
          <p:cNvPr id="10" name="Content Placeholder 3">
            <a:extLst>
              <a:ext uri="{FF2B5EF4-FFF2-40B4-BE49-F238E27FC236}">
                <a16:creationId xmlns:a16="http://schemas.microsoft.com/office/drawing/2014/main" id="{A3E3AD6F-F97B-E798-8A97-FBE049D0C939}"/>
              </a:ext>
            </a:extLst>
          </p:cNvPr>
          <p:cNvSpPr txBox="1">
            <a:spLocks/>
          </p:cNvSpPr>
          <p:nvPr/>
        </p:nvSpPr>
        <p:spPr>
          <a:xfrm>
            <a:off x="491525" y="827603"/>
            <a:ext cx="7222436"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sz="1400" dirty="0"/>
              <a:t>All well-being instruments showed reliable assessment over time (ICC&gt;0.70)</a:t>
            </a:r>
            <a:endParaRPr lang="en-US" sz="1400" dirty="0"/>
          </a:p>
        </p:txBody>
      </p:sp>
      <p:graphicFrame>
        <p:nvGraphicFramePr>
          <p:cNvPr id="4" name="Table 3">
            <a:extLst>
              <a:ext uri="{FF2B5EF4-FFF2-40B4-BE49-F238E27FC236}">
                <a16:creationId xmlns:a16="http://schemas.microsoft.com/office/drawing/2014/main" id="{D5E11C39-405D-807D-AC54-4E9A8F7D6023}"/>
              </a:ext>
            </a:extLst>
          </p:cNvPr>
          <p:cNvGraphicFramePr>
            <a:graphicFrameLocks noGrp="1"/>
          </p:cNvGraphicFramePr>
          <p:nvPr>
            <p:extLst>
              <p:ext uri="{D42A27DB-BD31-4B8C-83A1-F6EECF244321}">
                <p14:modId xmlns:p14="http://schemas.microsoft.com/office/powerpoint/2010/main" val="3784846359"/>
              </p:ext>
            </p:extLst>
          </p:nvPr>
        </p:nvGraphicFramePr>
        <p:xfrm>
          <a:off x="1058053" y="1297053"/>
          <a:ext cx="7027893" cy="3462323"/>
        </p:xfrm>
        <a:graphic>
          <a:graphicData uri="http://schemas.openxmlformats.org/drawingml/2006/table">
            <a:tbl>
              <a:tblPr firstRow="1" firstCol="1" bandRow="1"/>
              <a:tblGrid>
                <a:gridCol w="2458095">
                  <a:extLst>
                    <a:ext uri="{9D8B030D-6E8A-4147-A177-3AD203B41FA5}">
                      <a16:colId xmlns:a16="http://schemas.microsoft.com/office/drawing/2014/main" val="2677218948"/>
                    </a:ext>
                  </a:extLst>
                </a:gridCol>
                <a:gridCol w="1523266">
                  <a:extLst>
                    <a:ext uri="{9D8B030D-6E8A-4147-A177-3AD203B41FA5}">
                      <a16:colId xmlns:a16="http://schemas.microsoft.com/office/drawing/2014/main" val="3664814905"/>
                    </a:ext>
                  </a:extLst>
                </a:gridCol>
                <a:gridCol w="1523266">
                  <a:extLst>
                    <a:ext uri="{9D8B030D-6E8A-4147-A177-3AD203B41FA5}">
                      <a16:colId xmlns:a16="http://schemas.microsoft.com/office/drawing/2014/main" val="1847699376"/>
                    </a:ext>
                  </a:extLst>
                </a:gridCol>
                <a:gridCol w="1523266">
                  <a:extLst>
                    <a:ext uri="{9D8B030D-6E8A-4147-A177-3AD203B41FA5}">
                      <a16:colId xmlns:a16="http://schemas.microsoft.com/office/drawing/2014/main" val="557067900"/>
                    </a:ext>
                  </a:extLst>
                </a:gridCol>
              </a:tblGrid>
              <a:tr h="390821">
                <a:tc>
                  <a:txBody>
                    <a:bodyPr/>
                    <a:lstStyle/>
                    <a:p>
                      <a:pPr algn="ctr">
                        <a:lnSpc>
                          <a:spcPct val="107000"/>
                        </a:lnSpc>
                        <a:spcAft>
                          <a:spcPts val="800"/>
                        </a:spcAft>
                        <a:buNone/>
                      </a:pPr>
                      <a:r>
                        <a:rPr lang="en-US" sz="800" b="1">
                          <a:solidFill>
                            <a:srgbClr val="FFFFFF"/>
                          </a:solidFill>
                          <a:effectLst/>
                          <a:latin typeface="Aptos" panose="020B0004020202020204" pitchFamily="34" charset="0"/>
                          <a:ea typeface="Aptos" panose="020B0004020202020204" pitchFamily="34" charset="0"/>
                          <a:cs typeface="Arial" panose="020B0604020202020204" pitchFamily="34" charset="0"/>
                        </a:rPr>
                        <a:t>Instrument</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65512" marR="65512" marT="0" marB="0" anchor="ctr">
                    <a:lnL w="12700" cap="flat" cmpd="sng" algn="ctr">
                      <a:no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800" b="1" dirty="0">
                          <a:solidFill>
                            <a:srgbClr val="FFFFFF"/>
                          </a:solidFill>
                          <a:effectLst/>
                          <a:latin typeface="Aptos" panose="020B0004020202020204" pitchFamily="34" charset="0"/>
                          <a:ea typeface="Aptos" panose="020B0004020202020204" pitchFamily="34" charset="0"/>
                          <a:cs typeface="Arial" panose="020B0604020202020204" pitchFamily="34" charset="0"/>
                        </a:rPr>
                        <a:t>Correlations main and retest sample</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65512" marR="65512"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800" b="1">
                          <a:solidFill>
                            <a:srgbClr val="FFFFFF"/>
                          </a:solidFill>
                          <a:effectLst/>
                          <a:latin typeface="Aptos" panose="020B0004020202020204" pitchFamily="34" charset="0"/>
                          <a:ea typeface="Aptos" panose="020B0004020202020204" pitchFamily="34" charset="0"/>
                          <a:cs typeface="Arial" panose="020B0604020202020204" pitchFamily="34" charset="0"/>
                        </a:rPr>
                        <a:t>Complete agreement</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65512" marR="65512"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800" b="1" dirty="0">
                          <a:solidFill>
                            <a:srgbClr val="FFFFFF"/>
                          </a:solidFill>
                          <a:effectLst/>
                          <a:latin typeface="Aptos" panose="020B0004020202020204" pitchFamily="34" charset="0"/>
                          <a:ea typeface="Aptos" panose="020B0004020202020204" pitchFamily="34" charset="0"/>
                          <a:cs typeface="Arial" panose="020B0604020202020204" pitchFamily="34" charset="0"/>
                        </a:rPr>
                        <a:t>ICC (95% CI)</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65512" marR="65512"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2046869756"/>
                  </a:ext>
                </a:extLst>
              </a:tr>
              <a:tr h="192023">
                <a:tc>
                  <a:txBody>
                    <a:bodyPr/>
                    <a:lstStyle/>
                    <a:p>
                      <a:pPr>
                        <a:lnSpc>
                          <a:spcPct val="107000"/>
                        </a:lnSpc>
                        <a:spcAft>
                          <a:spcPts val="800"/>
                        </a:spcAft>
                        <a:buNone/>
                      </a:pPr>
                      <a:r>
                        <a:rPr lang="en-US" sz="800" b="1" dirty="0">
                          <a:solidFill>
                            <a:schemeClr val="tx1"/>
                          </a:solidFill>
                          <a:effectLst/>
                          <a:latin typeface="Aptos" panose="020B0004020202020204" pitchFamily="34" charset="0"/>
                          <a:ea typeface="Aptos" panose="020B0004020202020204" pitchFamily="34" charset="0"/>
                          <a:cs typeface="Arial" panose="020B0604020202020204" pitchFamily="34" charset="0"/>
                        </a:rPr>
                        <a:t>No change in health (n=392)</a:t>
                      </a:r>
                      <a:endParaRPr lang="en-US" sz="1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2594524877"/>
                  </a:ext>
                </a:extLst>
              </a:tr>
              <a:tr h="192023">
                <a:tc>
                  <a:txBody>
                    <a:bodyPr/>
                    <a:lstStyle/>
                    <a:p>
                      <a:pPr marL="0" algn="l" defTabSz="457200" rtl="0" eaLnBrk="1" latinLnBrk="0" hangingPunct="1">
                        <a:lnSpc>
                          <a:spcPct val="107000"/>
                        </a:lnSpc>
                        <a:spcAft>
                          <a:spcPts val="800"/>
                        </a:spcAft>
                        <a:buNone/>
                      </a:pPr>
                      <a:r>
                        <a:rPr lang="en-US" sz="80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rPr>
                        <a:t>EQ-5D-5L</a:t>
                      </a: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rPr>
                        <a:t>0.78</a:t>
                      </a:r>
                      <a:endParaRPr lang=""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rPr>
                        <a:t>37.76%</a:t>
                      </a:r>
                      <a:endParaRPr lang=""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rPr>
                        <a:t>0.85 (0.82 – 0.88)</a:t>
                      </a:r>
                      <a:endParaRPr lang=""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1245617926"/>
                  </a:ext>
                </a:extLst>
              </a:tr>
              <a:tr h="191157">
                <a:tc>
                  <a:txBody>
                    <a:bodyPr/>
                    <a:lstStyle/>
                    <a:p>
                      <a:pPr marL="0" algn="l" defTabSz="457200" rtl="0" eaLnBrk="1" latinLnBrk="0" hangingPunct="1">
                        <a:lnSpc>
                          <a:spcPct val="107000"/>
                        </a:lnSpc>
                        <a:spcAft>
                          <a:spcPts val="800"/>
                        </a:spcAft>
                        <a:buNone/>
                      </a:pPr>
                      <a:r>
                        <a:rPr lang="en-US" sz="80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rPr>
                        <a:t>EQ-HWB-9</a:t>
                      </a: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rPr>
                        <a:t>0.80</a:t>
                      </a:r>
                      <a:endParaRPr lang=""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rPr>
                        <a:t>23.21%</a:t>
                      </a:r>
                      <a:endParaRPr lang=""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rPr>
                        <a:t>0.79 (0.75 -0.83)</a:t>
                      </a:r>
                      <a:endParaRPr lang=""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4000190704"/>
                  </a:ext>
                </a:extLst>
              </a:tr>
              <a:tr h="192023">
                <a:tc>
                  <a:txBody>
                    <a:bodyPr/>
                    <a:lstStyle/>
                    <a:p>
                      <a:pPr marL="0" algn="l" defTabSz="457200" rtl="0" eaLnBrk="1" latinLnBrk="0" hangingPunct="1">
                        <a:lnSpc>
                          <a:spcPct val="107000"/>
                        </a:lnSpc>
                        <a:spcAft>
                          <a:spcPts val="800"/>
                        </a:spcAft>
                        <a:buNone/>
                      </a:pPr>
                      <a:r>
                        <a:rPr lang="en-US" sz="80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rPr>
                        <a:t>ICECAP-A</a:t>
                      </a: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rPr>
                        <a:t>0.70</a:t>
                      </a:r>
                      <a:endParaRPr lang=""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rPr>
                        <a:t>26.53%</a:t>
                      </a:r>
                      <a:endParaRPr lang=""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rPr>
                        <a:t>0.71 (0.66 - 0.76)</a:t>
                      </a:r>
                      <a:endParaRPr lang=""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3686951440"/>
                  </a:ext>
                </a:extLst>
              </a:tr>
              <a:tr h="192023">
                <a:tc>
                  <a:txBody>
                    <a:bodyPr/>
                    <a:lstStyle/>
                    <a:p>
                      <a:pPr marL="0" algn="l" defTabSz="457200" rtl="0" eaLnBrk="1" latinLnBrk="0" hangingPunct="1">
                        <a:lnSpc>
                          <a:spcPct val="107000"/>
                        </a:lnSpc>
                        <a:spcAft>
                          <a:spcPts val="800"/>
                        </a:spcAft>
                        <a:buNone/>
                      </a:pPr>
                      <a:r>
                        <a:rPr lang="en-US" sz="80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rPr>
                        <a:t>ICECAP-O</a:t>
                      </a: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rPr>
                        <a:t>0.69</a:t>
                      </a:r>
                      <a:endParaRPr lang=""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rPr>
                        <a:t>28.57%</a:t>
                      </a:r>
                      <a:endParaRPr lang=""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rPr>
                        <a:t>0.73 (0.67 – 0.77)</a:t>
                      </a:r>
                      <a:endParaRPr lang=""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3450385461"/>
                  </a:ext>
                </a:extLst>
              </a:tr>
              <a:tr h="192023">
                <a:tc>
                  <a:txBody>
                    <a:bodyPr/>
                    <a:lstStyle/>
                    <a:p>
                      <a:pPr marL="0" algn="l" defTabSz="457200" rtl="0" eaLnBrk="1" latinLnBrk="0" hangingPunct="1">
                        <a:lnSpc>
                          <a:spcPct val="107000"/>
                        </a:lnSpc>
                        <a:spcAft>
                          <a:spcPts val="800"/>
                        </a:spcAft>
                        <a:buNone/>
                      </a:pPr>
                      <a:r>
                        <a:rPr lang="en-US" sz="80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rPr>
                        <a:t>SWB-5D</a:t>
                      </a: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rPr>
                        <a:t>0.73</a:t>
                      </a:r>
                      <a:endParaRPr lang=""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rPr>
                        <a:t>26.02%</a:t>
                      </a:r>
                      <a:endParaRPr lang=""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rPr>
                        <a:t>0.76 (0.71 - 0.80)</a:t>
                      </a:r>
                      <a:endParaRPr lang=""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43121561"/>
                  </a:ext>
                </a:extLst>
              </a:tr>
              <a:tr h="192023">
                <a:tc>
                  <a:txBody>
                    <a:bodyPr/>
                    <a:lstStyle/>
                    <a:p>
                      <a:pPr marL="0" algn="l" defTabSz="457200" rtl="0" eaLnBrk="1" latinLnBrk="0" hangingPunct="1">
                        <a:lnSpc>
                          <a:spcPct val="107000"/>
                        </a:lnSpc>
                        <a:spcAft>
                          <a:spcPts val="800"/>
                        </a:spcAft>
                        <a:buNone/>
                      </a:pPr>
                      <a:r>
                        <a:rPr lang="en-US" sz="80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rPr>
                        <a:t>WiX</a:t>
                      </a: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rPr>
                        <a:t>0.79</a:t>
                      </a:r>
                      <a:endParaRPr lang=""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rPr>
                        <a:t>16.07%</a:t>
                      </a:r>
                      <a:endParaRPr lang=""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rPr>
                        <a:t>0.81 (0.78 - 0.84)</a:t>
                      </a:r>
                      <a:endParaRPr lang=""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2319234667"/>
                  </a:ext>
                </a:extLst>
              </a:tr>
              <a:tr h="192023">
                <a:tc>
                  <a:txBody>
                    <a:bodyPr/>
                    <a:lstStyle/>
                    <a:p>
                      <a:pPr marL="0" algn="l" defTabSz="457200" rtl="0" eaLnBrk="1" latinLnBrk="0" hangingPunct="1">
                        <a:lnSpc>
                          <a:spcPct val="107000"/>
                        </a:lnSpc>
                        <a:spcAft>
                          <a:spcPts val="800"/>
                        </a:spcAft>
                        <a:buNone/>
                      </a:pPr>
                      <a:r>
                        <a:rPr lang="en-US" sz="80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rPr>
                        <a:t>WOOP</a:t>
                      </a: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rPr>
                        <a:t>0.81</a:t>
                      </a:r>
                      <a:endParaRPr lang=""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rPr>
                        <a:t>18.37%</a:t>
                      </a:r>
                      <a:endParaRPr lang=""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rPr>
                        <a:t>0.82 (0.78 – 0.85)</a:t>
                      </a:r>
                      <a:endParaRPr lang=""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2398386445"/>
                  </a:ext>
                </a:extLst>
              </a:tr>
              <a:tr h="192023">
                <a:tc>
                  <a:txBody>
                    <a:bodyPr/>
                    <a:lstStyle/>
                    <a:p>
                      <a:pPr>
                        <a:lnSpc>
                          <a:spcPct val="107000"/>
                        </a:lnSpc>
                        <a:spcAft>
                          <a:spcPts val="800"/>
                        </a:spcAft>
                        <a:buNone/>
                      </a:pPr>
                      <a:r>
                        <a:rPr lang="en-US" sz="800" b="1" dirty="0">
                          <a:solidFill>
                            <a:schemeClr val="tx1"/>
                          </a:solidFill>
                          <a:effectLst/>
                          <a:latin typeface="Aptos" panose="020B0004020202020204" pitchFamily="34" charset="0"/>
                          <a:ea typeface="Aptos" panose="020B0004020202020204" pitchFamily="34" charset="0"/>
                          <a:cs typeface="Arial" panose="020B0604020202020204" pitchFamily="34" charset="0"/>
                        </a:rPr>
                        <a:t>No change in well-being (n=383)</a:t>
                      </a:r>
                      <a:endParaRPr lang="en-US" sz="1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dirty="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dirty="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dirty="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1309257924"/>
                  </a:ext>
                </a:extLst>
              </a:tr>
              <a:tr h="192023">
                <a:tc>
                  <a:txBody>
                    <a:bodyPr/>
                    <a:lstStyle/>
                    <a:p>
                      <a:pPr marL="0" algn="l" defTabSz="457200" rtl="0" eaLnBrk="1" latinLnBrk="0" hangingPunct="1">
                        <a:lnSpc>
                          <a:spcPct val="107000"/>
                        </a:lnSpc>
                        <a:spcAft>
                          <a:spcPts val="800"/>
                        </a:spcAft>
                        <a:buNone/>
                      </a:pPr>
                      <a:r>
                        <a:rPr lang="en-US" sz="80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rPr>
                        <a:t>EQ-5D-5L</a:t>
                      </a: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rPr>
                        <a:t>0.79</a:t>
                      </a:r>
                      <a:endParaRPr lang=""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rPr>
                        <a:t>37.86%</a:t>
                      </a:r>
                      <a:endParaRPr lang=""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rPr>
                        <a:t>0.84 (0.81 – 0.87)</a:t>
                      </a:r>
                      <a:endParaRPr lang=""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863286090"/>
                  </a:ext>
                </a:extLst>
              </a:tr>
              <a:tr h="192023">
                <a:tc>
                  <a:txBody>
                    <a:bodyPr/>
                    <a:lstStyle/>
                    <a:p>
                      <a:pPr marL="0" algn="l" defTabSz="457200" rtl="0" eaLnBrk="1" latinLnBrk="0" hangingPunct="1">
                        <a:lnSpc>
                          <a:spcPct val="107000"/>
                        </a:lnSpc>
                        <a:spcAft>
                          <a:spcPts val="800"/>
                        </a:spcAft>
                        <a:buNone/>
                      </a:pPr>
                      <a:r>
                        <a:rPr lang="en-US" sz="80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rPr>
                        <a:t>EQ-HWB-9</a:t>
                      </a: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rPr>
                        <a:t>0.81</a:t>
                      </a:r>
                      <a:endParaRPr lang=""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rPr>
                        <a:t>23.50%</a:t>
                      </a:r>
                      <a:endParaRPr lang=""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rPr>
                        <a:t>0.80 (0.77 - 0.84)</a:t>
                      </a:r>
                      <a:endParaRPr lang=""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3274983640"/>
                  </a:ext>
                </a:extLst>
              </a:tr>
              <a:tr h="192023">
                <a:tc>
                  <a:txBody>
                    <a:bodyPr/>
                    <a:lstStyle/>
                    <a:p>
                      <a:pPr marL="0" algn="l" defTabSz="457200" rtl="0" eaLnBrk="1" latinLnBrk="0" hangingPunct="1">
                        <a:lnSpc>
                          <a:spcPct val="107000"/>
                        </a:lnSpc>
                        <a:spcAft>
                          <a:spcPts val="800"/>
                        </a:spcAft>
                        <a:buNone/>
                      </a:pPr>
                      <a:r>
                        <a:rPr lang="en-US" sz="80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rPr>
                        <a:t>ICECAP-A</a:t>
                      </a: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rPr>
                        <a:t>0.69</a:t>
                      </a:r>
                      <a:endParaRPr lang=""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rPr>
                        <a:t>25.33%</a:t>
                      </a:r>
                      <a:endParaRPr lang=""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rPr>
                        <a:t>0.70 (0.65 - 0.75)</a:t>
                      </a:r>
                      <a:endParaRPr lang=""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1377807787"/>
                  </a:ext>
                </a:extLst>
              </a:tr>
              <a:tr h="192023">
                <a:tc>
                  <a:txBody>
                    <a:bodyPr/>
                    <a:lstStyle/>
                    <a:p>
                      <a:pPr marL="0" algn="l" defTabSz="457200" rtl="0" eaLnBrk="1" latinLnBrk="0" hangingPunct="1">
                        <a:lnSpc>
                          <a:spcPct val="107000"/>
                        </a:lnSpc>
                        <a:spcAft>
                          <a:spcPts val="800"/>
                        </a:spcAft>
                        <a:buNone/>
                      </a:pPr>
                      <a:r>
                        <a:rPr lang="en-US" sz="80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rPr>
                        <a:t>ICECAP-O</a:t>
                      </a: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rPr>
                        <a:t>0.69</a:t>
                      </a:r>
                      <a:endParaRPr lang=""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rPr>
                        <a:t>29.50%</a:t>
                      </a:r>
                      <a:endParaRPr lang=""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rPr>
                        <a:t>0.72 (0.67 – 0.76)</a:t>
                      </a:r>
                      <a:endParaRPr lang=""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404944245"/>
                  </a:ext>
                </a:extLst>
              </a:tr>
              <a:tr h="192023">
                <a:tc>
                  <a:txBody>
                    <a:bodyPr/>
                    <a:lstStyle/>
                    <a:p>
                      <a:pPr marL="0" algn="l" defTabSz="457200" rtl="0" eaLnBrk="1" latinLnBrk="0" hangingPunct="1">
                        <a:lnSpc>
                          <a:spcPct val="107000"/>
                        </a:lnSpc>
                        <a:spcAft>
                          <a:spcPts val="800"/>
                        </a:spcAft>
                        <a:buNone/>
                      </a:pPr>
                      <a:r>
                        <a:rPr lang="en-US" sz="80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rPr>
                        <a:t>SWB-5D</a:t>
                      </a: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rPr>
                        <a:t>0.73</a:t>
                      </a:r>
                      <a:endParaRPr lang=""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rPr>
                        <a:t>26.11%</a:t>
                      </a:r>
                      <a:endParaRPr lang=""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rPr>
                        <a:t>0.75 (0.71 – 0.79)</a:t>
                      </a:r>
                      <a:endParaRPr lang=""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1367169202"/>
                  </a:ext>
                </a:extLst>
              </a:tr>
              <a:tr h="192023">
                <a:tc>
                  <a:txBody>
                    <a:bodyPr/>
                    <a:lstStyle/>
                    <a:p>
                      <a:pPr marL="0" algn="l" defTabSz="457200" rtl="0" eaLnBrk="1" latinLnBrk="0" hangingPunct="1">
                        <a:lnSpc>
                          <a:spcPct val="107000"/>
                        </a:lnSpc>
                        <a:spcAft>
                          <a:spcPts val="800"/>
                        </a:spcAft>
                        <a:buNone/>
                      </a:pPr>
                      <a:r>
                        <a:rPr lang="en-US" sz="80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rPr>
                        <a:t>WiX</a:t>
                      </a: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rPr>
                        <a:t>0.78</a:t>
                      </a:r>
                      <a:endParaRPr lang="" sz="800" b="0" i="1" kern="12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rPr>
                        <a:t>15.41%</a:t>
                      </a:r>
                      <a:endParaRPr lang=""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0" algn="ctr" defTabSz="457200" rtl="0" eaLnBrk="1" latinLnBrk="0" hangingPunct="1">
                        <a:lnSpc>
                          <a:spcPct val="107000"/>
                        </a:lnSpc>
                        <a:spcAft>
                          <a:spcPts val="800"/>
                        </a:spcAft>
                        <a:buNone/>
                      </a:pPr>
                      <a:r>
                        <a:rPr lang="en-US"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rPr>
                        <a:t>0.81 (0.77 - 0.84)</a:t>
                      </a:r>
                      <a:endParaRPr lang=""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484707710"/>
                  </a:ext>
                </a:extLst>
              </a:tr>
              <a:tr h="192023">
                <a:tc>
                  <a:txBody>
                    <a:bodyPr/>
                    <a:lstStyle/>
                    <a:p>
                      <a:pPr marL="0" algn="l" defTabSz="457200" rtl="0" eaLnBrk="1" latinLnBrk="0" hangingPunct="1">
                        <a:lnSpc>
                          <a:spcPct val="107000"/>
                        </a:lnSpc>
                        <a:spcAft>
                          <a:spcPts val="800"/>
                        </a:spcAft>
                        <a:buNone/>
                      </a:pPr>
                      <a:r>
                        <a:rPr lang="en-US" sz="80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rPr>
                        <a:t>WOOP</a:t>
                      </a: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rPr>
                        <a:t>0.81</a:t>
                      </a:r>
                      <a:endParaRPr lang=""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rPr>
                        <a:t>17.75%</a:t>
                      </a:r>
                      <a:endParaRPr lang=""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marL="0" algn="ctr" defTabSz="457200" rtl="0" eaLnBrk="1" latinLnBrk="0" hangingPunct="1">
                        <a:lnSpc>
                          <a:spcPct val="107000"/>
                        </a:lnSpc>
                        <a:spcAft>
                          <a:spcPts val="800"/>
                        </a:spcAft>
                        <a:buNone/>
                      </a:pPr>
                      <a:r>
                        <a:rPr lang="en-US"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rPr>
                        <a:t>0.81 (0.77 – 0.84)</a:t>
                      </a:r>
                      <a:endParaRPr lang="" sz="800" b="0" i="1" kern="12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23499789"/>
                  </a:ext>
                </a:extLst>
              </a:tr>
            </a:tbl>
          </a:graphicData>
        </a:graphic>
      </p:graphicFrame>
      <p:sp>
        <p:nvSpPr>
          <p:cNvPr id="3" name="Rectangle 2">
            <a:extLst>
              <a:ext uri="{FF2B5EF4-FFF2-40B4-BE49-F238E27FC236}">
                <a16:creationId xmlns:a16="http://schemas.microsoft.com/office/drawing/2014/main" id="{5014A42B-2C3B-9427-03E0-55ED8C854E69}"/>
              </a:ext>
            </a:extLst>
          </p:cNvPr>
          <p:cNvSpPr/>
          <p:nvPr/>
        </p:nvSpPr>
        <p:spPr>
          <a:xfrm>
            <a:off x="1013699" y="2975978"/>
            <a:ext cx="6958397" cy="271720"/>
          </a:xfrm>
          <a:prstGeom prst="rect">
            <a:avLst/>
          </a:prstGeom>
          <a:noFill/>
          <a:ln w="19050"/>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
        <p:nvSpPr>
          <p:cNvPr id="5" name="Rectangle 4">
            <a:extLst>
              <a:ext uri="{FF2B5EF4-FFF2-40B4-BE49-F238E27FC236}">
                <a16:creationId xmlns:a16="http://schemas.microsoft.com/office/drawing/2014/main" id="{A3F6B281-548B-9455-3F86-C4FB9791C107}"/>
              </a:ext>
            </a:extLst>
          </p:cNvPr>
          <p:cNvSpPr/>
          <p:nvPr/>
        </p:nvSpPr>
        <p:spPr>
          <a:xfrm>
            <a:off x="1013698" y="4535055"/>
            <a:ext cx="6958397" cy="271720"/>
          </a:xfrm>
          <a:prstGeom prst="rect">
            <a:avLst/>
          </a:prstGeom>
          <a:noFill/>
          <a:ln w="19050"/>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3757150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9B3C4-841B-05A4-3B36-8381790E51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A418F0-8231-6C33-A976-0444105C6D0F}"/>
              </a:ext>
            </a:extLst>
          </p:cNvPr>
          <p:cNvSpPr>
            <a:spLocks noGrp="1"/>
          </p:cNvSpPr>
          <p:nvPr>
            <p:ph type="title"/>
          </p:nvPr>
        </p:nvSpPr>
        <p:spPr>
          <a:xfrm>
            <a:off x="491525" y="396000"/>
            <a:ext cx="8172000" cy="576000"/>
          </a:xfrm>
        </p:spPr>
        <p:txBody>
          <a:bodyPr anchor="t">
            <a:normAutofit/>
          </a:bodyPr>
          <a:lstStyle/>
          <a:p>
            <a:r>
              <a:rPr lang="en-GB" dirty="0"/>
              <a:t>Conclusion</a:t>
            </a:r>
            <a:endParaRPr lang="LID4096" dirty="0"/>
          </a:p>
        </p:txBody>
      </p:sp>
      <p:graphicFrame>
        <p:nvGraphicFramePr>
          <p:cNvPr id="11" name="Content Placeholder 2">
            <a:extLst>
              <a:ext uri="{FF2B5EF4-FFF2-40B4-BE49-F238E27FC236}">
                <a16:creationId xmlns:a16="http://schemas.microsoft.com/office/drawing/2014/main" id="{2D107F7E-4944-58AF-7DD4-38B1F0D9D710}"/>
              </a:ext>
            </a:extLst>
          </p:cNvPr>
          <p:cNvGraphicFramePr>
            <a:graphicFrameLocks noGrp="1"/>
          </p:cNvGraphicFramePr>
          <p:nvPr>
            <p:ph idx="1"/>
            <p:extLst>
              <p:ext uri="{D42A27DB-BD31-4B8C-83A1-F6EECF244321}">
                <p14:modId xmlns:p14="http://schemas.microsoft.com/office/powerpoint/2010/main" val="1147766379"/>
              </p:ext>
            </p:extLst>
          </p:nvPr>
        </p:nvGraphicFramePr>
        <p:xfrm>
          <a:off x="491524" y="971551"/>
          <a:ext cx="8172000" cy="334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43516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F94C0-DBCB-8E48-147A-A0F424FF703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BCAE122-4BD6-3A82-424E-F2D17F9A6BC5}"/>
              </a:ext>
            </a:extLst>
          </p:cNvPr>
          <p:cNvSpPr>
            <a:spLocks noGrp="1"/>
          </p:cNvSpPr>
          <p:nvPr>
            <p:ph type="ctrTitle"/>
          </p:nvPr>
        </p:nvSpPr>
        <p:spPr>
          <a:xfrm>
            <a:off x="1782424" y="1976520"/>
            <a:ext cx="5100975" cy="611472"/>
          </a:xfrm>
        </p:spPr>
        <p:txBody>
          <a:bodyPr/>
          <a:lstStyle/>
          <a:p>
            <a:r>
              <a:rPr lang="en-US" dirty="0"/>
              <a:t>Thank you!</a:t>
            </a:r>
          </a:p>
        </p:txBody>
      </p:sp>
    </p:spTree>
    <p:extLst>
      <p:ext uri="{BB962C8B-B14F-4D97-AF65-F5344CB8AC3E}">
        <p14:creationId xmlns:p14="http://schemas.microsoft.com/office/powerpoint/2010/main" val="33227692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CD37B-429A-BC62-2816-DE412DD75EF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C121C2D-03AC-10DE-5ED4-29650D488DDB}"/>
              </a:ext>
            </a:extLst>
          </p:cNvPr>
          <p:cNvSpPr>
            <a:spLocks noGrp="1"/>
          </p:cNvSpPr>
          <p:nvPr>
            <p:ph type="ctrTitle"/>
          </p:nvPr>
        </p:nvSpPr>
        <p:spPr>
          <a:xfrm>
            <a:off x="1782424" y="1976520"/>
            <a:ext cx="5100975" cy="611472"/>
          </a:xfrm>
        </p:spPr>
        <p:txBody>
          <a:bodyPr/>
          <a:lstStyle/>
          <a:p>
            <a:r>
              <a:rPr lang="en-US" dirty="0"/>
              <a:t>Appendix</a:t>
            </a:r>
          </a:p>
        </p:txBody>
      </p:sp>
    </p:spTree>
    <p:extLst>
      <p:ext uri="{BB962C8B-B14F-4D97-AF65-F5344CB8AC3E}">
        <p14:creationId xmlns:p14="http://schemas.microsoft.com/office/powerpoint/2010/main" val="135554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a:xfrm>
            <a:off x="491525" y="396000"/>
            <a:ext cx="8172000" cy="576000"/>
          </a:xfrm>
        </p:spPr>
        <p:txBody>
          <a:bodyPr anchor="t">
            <a:normAutofit/>
          </a:bodyPr>
          <a:lstStyle/>
          <a:p>
            <a:r>
              <a:rPr lang="en-US" dirty="0"/>
              <a:t>The W-MIC study</a:t>
            </a:r>
          </a:p>
        </p:txBody>
      </p:sp>
      <p:graphicFrame>
        <p:nvGraphicFramePr>
          <p:cNvPr id="12" name="Tijdelijke aanduiding voor inhoud 5">
            <a:extLst>
              <a:ext uri="{FF2B5EF4-FFF2-40B4-BE49-F238E27FC236}">
                <a16:creationId xmlns:a16="http://schemas.microsoft.com/office/drawing/2014/main" id="{F305CB87-A94A-D280-24C7-D6606C0B983C}"/>
              </a:ext>
            </a:extLst>
          </p:cNvPr>
          <p:cNvGraphicFramePr>
            <a:graphicFrameLocks noGrp="1"/>
          </p:cNvGraphicFramePr>
          <p:nvPr>
            <p:ph idx="1"/>
          </p:nvPr>
        </p:nvGraphicFramePr>
        <p:xfrm>
          <a:off x="337795" y="971551"/>
          <a:ext cx="8468409" cy="334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extBox 1">
            <a:extLst>
              <a:ext uri="{FF2B5EF4-FFF2-40B4-BE49-F238E27FC236}">
                <a16:creationId xmlns:a16="http://schemas.microsoft.com/office/drawing/2014/main" id="{9CBA48AD-BF37-A4CF-0C1B-C9A3425BBABE}"/>
              </a:ext>
            </a:extLst>
          </p:cNvPr>
          <p:cNvSpPr txBox="1"/>
          <p:nvPr/>
        </p:nvSpPr>
        <p:spPr>
          <a:xfrm>
            <a:off x="534230" y="2644155"/>
            <a:ext cx="1293707" cy="276999"/>
          </a:xfrm>
          <a:prstGeom prst="rect">
            <a:avLst/>
          </a:prstGeom>
          <a:noFill/>
        </p:spPr>
        <p:txBody>
          <a:bodyPr wrap="square" rtlCol="0">
            <a:spAutoFit/>
          </a:bodyPr>
          <a:lstStyle/>
          <a:p>
            <a:pPr algn="ctr"/>
            <a:r>
              <a:rPr lang="en-US" sz="1200" b="1" dirty="0"/>
              <a:t>Study design</a:t>
            </a:r>
          </a:p>
        </p:txBody>
      </p:sp>
      <p:sp>
        <p:nvSpPr>
          <p:cNvPr id="3" name="TextBox 2">
            <a:extLst>
              <a:ext uri="{FF2B5EF4-FFF2-40B4-BE49-F238E27FC236}">
                <a16:creationId xmlns:a16="http://schemas.microsoft.com/office/drawing/2014/main" id="{6EC9AC52-07F3-39D2-E07E-15F48AC5AE79}"/>
              </a:ext>
            </a:extLst>
          </p:cNvPr>
          <p:cNvSpPr txBox="1"/>
          <p:nvPr/>
        </p:nvSpPr>
        <p:spPr>
          <a:xfrm>
            <a:off x="2665535" y="2644155"/>
            <a:ext cx="1293707" cy="276999"/>
          </a:xfrm>
          <a:prstGeom prst="rect">
            <a:avLst/>
          </a:prstGeom>
          <a:noFill/>
        </p:spPr>
        <p:txBody>
          <a:bodyPr wrap="square" rtlCol="0">
            <a:spAutoFit/>
          </a:bodyPr>
          <a:lstStyle/>
          <a:p>
            <a:pPr algn="ctr"/>
            <a:r>
              <a:rPr lang="en-US" sz="1200" b="1" dirty="0"/>
              <a:t>Population</a:t>
            </a:r>
          </a:p>
        </p:txBody>
      </p:sp>
      <p:sp>
        <p:nvSpPr>
          <p:cNvPr id="4" name="TextBox 3">
            <a:extLst>
              <a:ext uri="{FF2B5EF4-FFF2-40B4-BE49-F238E27FC236}">
                <a16:creationId xmlns:a16="http://schemas.microsoft.com/office/drawing/2014/main" id="{CE0A5B97-0C69-3A9F-F7C9-D39DC7B4EB5B}"/>
              </a:ext>
            </a:extLst>
          </p:cNvPr>
          <p:cNvSpPr txBox="1"/>
          <p:nvPr/>
        </p:nvSpPr>
        <p:spPr>
          <a:xfrm>
            <a:off x="4942673" y="2640779"/>
            <a:ext cx="1293707" cy="276999"/>
          </a:xfrm>
          <a:prstGeom prst="rect">
            <a:avLst/>
          </a:prstGeom>
          <a:noFill/>
        </p:spPr>
        <p:txBody>
          <a:bodyPr wrap="square" rtlCol="0">
            <a:spAutoFit/>
          </a:bodyPr>
          <a:lstStyle/>
          <a:p>
            <a:pPr algn="ctr"/>
            <a:r>
              <a:rPr lang="en-US" sz="1200" b="1" dirty="0"/>
              <a:t>Measures</a:t>
            </a:r>
          </a:p>
        </p:txBody>
      </p:sp>
      <p:sp>
        <p:nvSpPr>
          <p:cNvPr id="6" name="TextBox 5">
            <a:extLst>
              <a:ext uri="{FF2B5EF4-FFF2-40B4-BE49-F238E27FC236}">
                <a16:creationId xmlns:a16="http://schemas.microsoft.com/office/drawing/2014/main" id="{BCA72E37-3700-2540-6EC8-65E9AB37609C}"/>
              </a:ext>
            </a:extLst>
          </p:cNvPr>
          <p:cNvSpPr txBox="1"/>
          <p:nvPr/>
        </p:nvSpPr>
        <p:spPr>
          <a:xfrm>
            <a:off x="7219811" y="2644155"/>
            <a:ext cx="1389959" cy="276999"/>
          </a:xfrm>
          <a:prstGeom prst="rect">
            <a:avLst/>
          </a:prstGeom>
          <a:noFill/>
        </p:spPr>
        <p:txBody>
          <a:bodyPr wrap="square" rtlCol="0">
            <a:spAutoFit/>
          </a:bodyPr>
          <a:lstStyle/>
          <a:p>
            <a:pPr algn="ctr"/>
            <a:r>
              <a:rPr lang="en-US" sz="1200" b="1" dirty="0"/>
              <a:t>Data collection</a:t>
            </a:r>
          </a:p>
        </p:txBody>
      </p:sp>
    </p:spTree>
    <p:extLst>
      <p:ext uri="{BB962C8B-B14F-4D97-AF65-F5344CB8AC3E}">
        <p14:creationId xmlns:p14="http://schemas.microsoft.com/office/powerpoint/2010/main" val="9144496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1FD77-29AE-BBEF-6628-D8204A34CE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F8F80B-3B46-5922-166E-6F7A4C29AF6F}"/>
              </a:ext>
            </a:extLst>
          </p:cNvPr>
          <p:cNvSpPr>
            <a:spLocks noGrp="1"/>
          </p:cNvSpPr>
          <p:nvPr>
            <p:ph type="title"/>
          </p:nvPr>
        </p:nvSpPr>
        <p:spPr>
          <a:xfrm>
            <a:off x="491525" y="396000"/>
            <a:ext cx="8172000" cy="576000"/>
          </a:xfrm>
        </p:spPr>
        <p:txBody>
          <a:bodyPr anchor="t">
            <a:normAutofit/>
          </a:bodyPr>
          <a:lstStyle/>
          <a:p>
            <a:r>
              <a:rPr lang="en-GB" dirty="0"/>
              <a:t>In-survey quality checks</a:t>
            </a:r>
            <a:endParaRPr lang="LID4096" dirty="0"/>
          </a:p>
        </p:txBody>
      </p:sp>
      <p:sp>
        <p:nvSpPr>
          <p:cNvPr id="9" name="Content Placeholder 2">
            <a:extLst>
              <a:ext uri="{FF2B5EF4-FFF2-40B4-BE49-F238E27FC236}">
                <a16:creationId xmlns:a16="http://schemas.microsoft.com/office/drawing/2014/main" id="{25C0D688-7716-BD50-C761-AD39458939D6}"/>
              </a:ext>
            </a:extLst>
          </p:cNvPr>
          <p:cNvSpPr>
            <a:spLocks noGrp="1"/>
          </p:cNvSpPr>
          <p:nvPr>
            <p:ph sz="half" idx="1"/>
          </p:nvPr>
        </p:nvSpPr>
        <p:spPr>
          <a:xfrm>
            <a:off x="493199" y="972000"/>
            <a:ext cx="8018283" cy="3348000"/>
          </a:xfrm>
        </p:spPr>
        <p:txBody>
          <a:bodyPr/>
          <a:lstStyle/>
          <a:p>
            <a:r>
              <a:rPr lang="en-US" dirty="0"/>
              <a:t>Attention check questions</a:t>
            </a:r>
          </a:p>
          <a:p>
            <a:r>
              <a:rPr lang="en-US" dirty="0"/>
              <a:t>Dynata’s quality check, including:</a:t>
            </a:r>
          </a:p>
          <a:p>
            <a:pPr lvl="2"/>
            <a:r>
              <a:rPr lang="en-US" dirty="0" err="1"/>
              <a:t>reCAPTCHAs</a:t>
            </a:r>
            <a:r>
              <a:rPr lang="en-US" dirty="0"/>
              <a:t>, </a:t>
            </a:r>
          </a:p>
          <a:p>
            <a:pPr lvl="2"/>
            <a:r>
              <a:rPr lang="en-US" dirty="0"/>
              <a:t>Geo-IP tracking, </a:t>
            </a:r>
          </a:p>
          <a:p>
            <a:pPr lvl="2"/>
            <a:r>
              <a:rPr lang="en-US" dirty="0"/>
              <a:t>Address verification, </a:t>
            </a:r>
          </a:p>
          <a:p>
            <a:pPr lvl="2"/>
            <a:r>
              <a:rPr lang="en-US" dirty="0"/>
              <a:t>Digital fingerprinting, </a:t>
            </a:r>
          </a:p>
          <a:p>
            <a:pPr lvl="2"/>
            <a:r>
              <a:rPr lang="en-US" dirty="0"/>
              <a:t>IP deduplication</a:t>
            </a:r>
          </a:p>
          <a:p>
            <a:r>
              <a:rPr lang="en-US" dirty="0"/>
              <a:t>Dynata’s </a:t>
            </a:r>
            <a:r>
              <a:rPr lang="en-US" dirty="0" err="1"/>
              <a:t>QualityScore</a:t>
            </a:r>
            <a:r>
              <a:rPr lang="en-US" dirty="0"/>
              <a:t>:</a:t>
            </a:r>
          </a:p>
          <a:p>
            <a:pPr lvl="2"/>
            <a:r>
              <a:rPr lang="en-US" dirty="0"/>
              <a:t>&lt;20 automatically excluded</a:t>
            </a:r>
          </a:p>
          <a:p>
            <a:pPr lvl="2"/>
            <a:r>
              <a:rPr lang="en-US" dirty="0"/>
              <a:t>21-50 manually checked by </a:t>
            </a:r>
            <a:r>
              <a:rPr lang="en-US" dirty="0" err="1"/>
              <a:t>Dynata</a:t>
            </a:r>
            <a:r>
              <a:rPr lang="en-US" dirty="0"/>
              <a:t> </a:t>
            </a:r>
          </a:p>
        </p:txBody>
      </p:sp>
    </p:spTree>
    <p:extLst>
      <p:ext uri="{BB962C8B-B14F-4D97-AF65-F5344CB8AC3E}">
        <p14:creationId xmlns:p14="http://schemas.microsoft.com/office/powerpoint/2010/main" val="22535450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FCA68-6C81-E620-E6BA-8B8C7C6D17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5E5B50-18E7-B8E1-08AA-4ADDAC1AF988}"/>
              </a:ext>
            </a:extLst>
          </p:cNvPr>
          <p:cNvSpPr>
            <a:spLocks noGrp="1"/>
          </p:cNvSpPr>
          <p:nvPr>
            <p:ph type="title"/>
          </p:nvPr>
        </p:nvSpPr>
        <p:spPr>
          <a:xfrm>
            <a:off x="491525" y="396000"/>
            <a:ext cx="8172000" cy="576000"/>
          </a:xfrm>
        </p:spPr>
        <p:txBody>
          <a:bodyPr anchor="t">
            <a:normAutofit/>
          </a:bodyPr>
          <a:lstStyle/>
          <a:p>
            <a:r>
              <a:rPr lang="en-GB" dirty="0"/>
              <a:t>Post-hoc data quality checks</a:t>
            </a:r>
            <a:endParaRPr lang="LID4096" dirty="0"/>
          </a:p>
        </p:txBody>
      </p:sp>
      <p:sp>
        <p:nvSpPr>
          <p:cNvPr id="11" name="Content Placeholder 3">
            <a:extLst>
              <a:ext uri="{FF2B5EF4-FFF2-40B4-BE49-F238E27FC236}">
                <a16:creationId xmlns:a16="http://schemas.microsoft.com/office/drawing/2014/main" id="{FB877E8F-96F7-4148-7071-3E7639F362A2}"/>
              </a:ext>
            </a:extLst>
          </p:cNvPr>
          <p:cNvSpPr>
            <a:spLocks noGrp="1"/>
          </p:cNvSpPr>
          <p:nvPr>
            <p:ph sz="half" idx="2"/>
          </p:nvPr>
        </p:nvSpPr>
        <p:spPr>
          <a:xfrm>
            <a:off x="491525" y="971999"/>
            <a:ext cx="8172000" cy="3348000"/>
          </a:xfrm>
        </p:spPr>
        <p:txBody>
          <a:bodyPr/>
          <a:lstStyle/>
          <a:p>
            <a:r>
              <a:rPr lang="en-US" dirty="0"/>
              <a:t>Post-hoc data quality checks:</a:t>
            </a:r>
          </a:p>
          <a:p>
            <a:pPr lvl="1"/>
            <a:r>
              <a:rPr lang="en-US" sz="1400" dirty="0"/>
              <a:t>Criteria 1: Inconsistent pain reporting: EQ-HWB-9 (Q4) vs. EQ-5D-5L (Q83)</a:t>
            </a:r>
          </a:p>
          <a:p>
            <a:pPr lvl="1"/>
            <a:r>
              <a:rPr lang="en-US" sz="1400" dirty="0"/>
              <a:t>Criteria 2: Inconsistent daily activity reporting: EQ-HWB-9 (Q3) vs. EQ-5D-5L (Q82)</a:t>
            </a:r>
          </a:p>
          <a:p>
            <a:pPr lvl="1"/>
            <a:r>
              <a:rPr lang="en-US" sz="1400" dirty="0"/>
              <a:t>Criteria 3: Inconsistent financial situation: WiX (Q10) vs. ability to make ends meet (Q103)</a:t>
            </a:r>
          </a:p>
          <a:p>
            <a:pPr lvl="1"/>
            <a:r>
              <a:rPr lang="en-US" sz="1400" dirty="0"/>
              <a:t>Criteria 4: Child count inconsistency: More children &lt;18 (Q99) than total children (Q98)</a:t>
            </a:r>
          </a:p>
          <a:p>
            <a:pPr lvl="1"/>
            <a:r>
              <a:rPr lang="en-US" sz="1400" dirty="0"/>
              <a:t>Criteria 5: Completion time &lt;5 minutes</a:t>
            </a:r>
          </a:p>
          <a:p>
            <a:pPr lvl="1"/>
            <a:r>
              <a:rPr lang="en-US" sz="1400" dirty="0"/>
              <a:t>Criteria 6: Survey quality score &lt;90</a:t>
            </a:r>
          </a:p>
          <a:p>
            <a:pPr lvl="1"/>
            <a:r>
              <a:rPr lang="en-US" sz="1400" dirty="0"/>
              <a:t>Criteria 7: &gt;5 self-reported health conditions</a:t>
            </a:r>
          </a:p>
          <a:p>
            <a:r>
              <a:rPr lang="en-US" dirty="0"/>
              <a:t>Participants meeting </a:t>
            </a:r>
            <a:r>
              <a:rPr lang="en-US" sz="1800" dirty="0">
                <a:effectLst/>
                <a:ea typeface="Aptos" panose="020B0004020202020204" pitchFamily="34" charset="0"/>
                <a:cs typeface="Arial" panose="020B0604020202020204" pitchFamily="34" charset="0"/>
              </a:rPr>
              <a:t>≥3 criteria were removed</a:t>
            </a:r>
          </a:p>
          <a:p>
            <a:r>
              <a:rPr lang="en-US" dirty="0">
                <a:cs typeface="Arial" panose="020B0604020202020204" pitchFamily="34" charset="0"/>
              </a:rPr>
              <a:t>Participants excluded if provided extreme inconsistencies in Criteria 1 and 2 (&gt;2 Likert points) or in Criteria 3 (e.g., very satisfied but much difficulty)</a:t>
            </a:r>
            <a:endParaRPr lang="en-US" sz="1400" dirty="0"/>
          </a:p>
          <a:p>
            <a:pPr lvl="1"/>
            <a:endParaRPr lang="en-US" dirty="0"/>
          </a:p>
        </p:txBody>
      </p:sp>
    </p:spTree>
    <p:extLst>
      <p:ext uri="{BB962C8B-B14F-4D97-AF65-F5344CB8AC3E}">
        <p14:creationId xmlns:p14="http://schemas.microsoft.com/office/powerpoint/2010/main" val="828429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98360-D403-1653-3918-79F19FA371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41A95D-D9FF-432B-C8C7-E4EB58E49241}"/>
              </a:ext>
            </a:extLst>
          </p:cNvPr>
          <p:cNvSpPr>
            <a:spLocks noGrp="1"/>
          </p:cNvSpPr>
          <p:nvPr>
            <p:ph type="title"/>
          </p:nvPr>
        </p:nvSpPr>
        <p:spPr>
          <a:xfrm>
            <a:off x="491525" y="396000"/>
            <a:ext cx="8172000" cy="576000"/>
          </a:xfrm>
        </p:spPr>
        <p:txBody>
          <a:bodyPr anchor="t">
            <a:normAutofit/>
          </a:bodyPr>
          <a:lstStyle/>
          <a:p>
            <a:r>
              <a:rPr lang="en-GB" dirty="0"/>
              <a:t>Quality checks</a:t>
            </a:r>
            <a:endParaRPr lang="LID4096" dirty="0"/>
          </a:p>
        </p:txBody>
      </p:sp>
      <p:sp>
        <p:nvSpPr>
          <p:cNvPr id="8" name="Tijdelijke aanduiding voor inhoud 5">
            <a:extLst>
              <a:ext uri="{FF2B5EF4-FFF2-40B4-BE49-F238E27FC236}">
                <a16:creationId xmlns:a16="http://schemas.microsoft.com/office/drawing/2014/main" id="{57DF317B-4716-8EE9-4AB3-42D248D94F78}"/>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9" name="Content Placeholder 3">
            <a:extLst>
              <a:ext uri="{FF2B5EF4-FFF2-40B4-BE49-F238E27FC236}">
                <a16:creationId xmlns:a16="http://schemas.microsoft.com/office/drawing/2014/main" id="{E5985546-E1B2-44D0-9631-C38519700349}"/>
              </a:ext>
            </a:extLst>
          </p:cNvPr>
          <p:cNvSpPr txBox="1">
            <a:spLocks/>
          </p:cNvSpPr>
          <p:nvPr/>
        </p:nvSpPr>
        <p:spPr>
          <a:xfrm>
            <a:off x="491525" y="971999"/>
            <a:ext cx="7036806"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400" dirty="0"/>
              <a:t>7838 participants completed the survey (US: n=4045, 52%; NL: n=3793, 48%) </a:t>
            </a:r>
          </a:p>
          <a:p>
            <a:r>
              <a:rPr lang="en-US" sz="1400" dirty="0"/>
              <a:t>5336 (68%) failed at least one quality check criteria (out of 7)</a:t>
            </a:r>
          </a:p>
          <a:p>
            <a:r>
              <a:rPr lang="en-US" sz="1400" dirty="0"/>
              <a:t>683 (9%) were excluded</a:t>
            </a:r>
          </a:p>
          <a:p>
            <a:pPr lvl="2"/>
            <a:r>
              <a:rPr lang="en-US" sz="1400" dirty="0"/>
              <a:t>560 failed </a:t>
            </a:r>
            <a:r>
              <a:rPr lang="en-US" sz="1400" dirty="0">
                <a:effectLst/>
                <a:ea typeface="Aptos" panose="020B0004020202020204" pitchFamily="34" charset="0"/>
                <a:cs typeface="Arial" panose="020B0604020202020204" pitchFamily="34" charset="0"/>
              </a:rPr>
              <a:t>≥3 criteria </a:t>
            </a:r>
          </a:p>
          <a:p>
            <a:pPr lvl="2"/>
            <a:r>
              <a:rPr lang="en-US" sz="1400" dirty="0">
                <a:cs typeface="Arial" panose="020B0604020202020204" pitchFamily="34" charset="0"/>
              </a:rPr>
              <a:t>202 provided extremely different answers</a:t>
            </a:r>
            <a:endParaRPr lang="en-US" sz="1400" dirty="0"/>
          </a:p>
        </p:txBody>
      </p:sp>
    </p:spTree>
    <p:extLst>
      <p:ext uri="{BB962C8B-B14F-4D97-AF65-F5344CB8AC3E}">
        <p14:creationId xmlns:p14="http://schemas.microsoft.com/office/powerpoint/2010/main" val="522934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5B1B6-EB2B-C9C9-49A2-3EB7B360B0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0BC6B4-7E8D-0842-6983-7712BDEEC9C3}"/>
              </a:ext>
            </a:extLst>
          </p:cNvPr>
          <p:cNvSpPr>
            <a:spLocks noGrp="1"/>
          </p:cNvSpPr>
          <p:nvPr>
            <p:ph type="title"/>
          </p:nvPr>
        </p:nvSpPr>
        <p:spPr>
          <a:xfrm>
            <a:off x="491525" y="396000"/>
            <a:ext cx="8172000" cy="576000"/>
          </a:xfrm>
        </p:spPr>
        <p:txBody>
          <a:bodyPr anchor="t">
            <a:normAutofit/>
          </a:bodyPr>
          <a:lstStyle/>
          <a:p>
            <a:r>
              <a:rPr lang="en-GB" dirty="0"/>
              <a:t>Quality checks</a:t>
            </a:r>
            <a:endParaRPr lang="LID4096" dirty="0"/>
          </a:p>
        </p:txBody>
      </p:sp>
      <p:pic>
        <p:nvPicPr>
          <p:cNvPr id="6" name="Picture 5">
            <a:extLst>
              <a:ext uri="{FF2B5EF4-FFF2-40B4-BE49-F238E27FC236}">
                <a16:creationId xmlns:a16="http://schemas.microsoft.com/office/drawing/2014/main" id="{1AC9C258-A880-051C-3920-9910D98068F8}"/>
              </a:ext>
            </a:extLst>
          </p:cNvPr>
          <p:cNvPicPr>
            <a:picLocks noChangeAspect="1"/>
          </p:cNvPicPr>
          <p:nvPr/>
        </p:nvPicPr>
        <p:blipFill>
          <a:blip r:embed="rId3"/>
          <a:srcRect/>
          <a:stretch/>
        </p:blipFill>
        <p:spPr>
          <a:xfrm>
            <a:off x="596008" y="839322"/>
            <a:ext cx="8067517" cy="4239647"/>
          </a:xfrm>
          <a:prstGeom prst="rect">
            <a:avLst/>
          </a:prstGeom>
          <a:noFill/>
        </p:spPr>
      </p:pic>
      <p:sp>
        <p:nvSpPr>
          <p:cNvPr id="8" name="Tijdelijke aanduiding voor inhoud 5">
            <a:extLst>
              <a:ext uri="{FF2B5EF4-FFF2-40B4-BE49-F238E27FC236}">
                <a16:creationId xmlns:a16="http://schemas.microsoft.com/office/drawing/2014/main" id="{06D5D670-C001-7F5B-19A5-1269D84D9FA0}"/>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Tree>
    <p:extLst>
      <p:ext uri="{BB962C8B-B14F-4D97-AF65-F5344CB8AC3E}">
        <p14:creationId xmlns:p14="http://schemas.microsoft.com/office/powerpoint/2010/main" val="32585995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7350C-9B33-A7B7-602C-5FEFAF5451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B8E4E8-C011-0DEC-145C-78A5904F61D2}"/>
              </a:ext>
            </a:extLst>
          </p:cNvPr>
          <p:cNvSpPr>
            <a:spLocks noGrp="1"/>
          </p:cNvSpPr>
          <p:nvPr>
            <p:ph type="title"/>
          </p:nvPr>
        </p:nvSpPr>
        <p:spPr>
          <a:xfrm>
            <a:off x="491525" y="396000"/>
            <a:ext cx="8172000" cy="576000"/>
          </a:xfrm>
        </p:spPr>
        <p:txBody>
          <a:bodyPr anchor="t">
            <a:normAutofit/>
          </a:bodyPr>
          <a:lstStyle/>
          <a:p>
            <a:r>
              <a:rPr lang="en-GB" dirty="0"/>
              <a:t>Demographics – Bad data sample</a:t>
            </a:r>
            <a:endParaRPr lang="LID4096" dirty="0"/>
          </a:p>
        </p:txBody>
      </p:sp>
      <p:pic>
        <p:nvPicPr>
          <p:cNvPr id="6" name="Picture 5">
            <a:extLst>
              <a:ext uri="{FF2B5EF4-FFF2-40B4-BE49-F238E27FC236}">
                <a16:creationId xmlns:a16="http://schemas.microsoft.com/office/drawing/2014/main" id="{AF3EF05C-AD2F-F464-3054-B3463FCE14C2}"/>
              </a:ext>
            </a:extLst>
          </p:cNvPr>
          <p:cNvPicPr>
            <a:picLocks noChangeAspect="1"/>
          </p:cNvPicPr>
          <p:nvPr/>
        </p:nvPicPr>
        <p:blipFill>
          <a:blip r:embed="rId3"/>
          <a:srcRect/>
          <a:stretch/>
        </p:blipFill>
        <p:spPr>
          <a:xfrm>
            <a:off x="491525" y="981959"/>
            <a:ext cx="8160949" cy="3837964"/>
          </a:xfrm>
          <a:prstGeom prst="rect">
            <a:avLst/>
          </a:prstGeom>
          <a:noFill/>
        </p:spPr>
      </p:pic>
      <p:sp>
        <p:nvSpPr>
          <p:cNvPr id="8" name="Tijdelijke aanduiding voor inhoud 5">
            <a:extLst>
              <a:ext uri="{FF2B5EF4-FFF2-40B4-BE49-F238E27FC236}">
                <a16:creationId xmlns:a16="http://schemas.microsoft.com/office/drawing/2014/main" id="{4334FE22-05E8-DE85-C5A5-76A03904B233}"/>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5" name="Content Placeholder 3">
            <a:extLst>
              <a:ext uri="{FF2B5EF4-FFF2-40B4-BE49-F238E27FC236}">
                <a16:creationId xmlns:a16="http://schemas.microsoft.com/office/drawing/2014/main" id="{BA88BD3F-6C71-3456-12D1-AD02C0007160}"/>
              </a:ext>
            </a:extLst>
          </p:cNvPr>
          <p:cNvSpPr txBox="1">
            <a:spLocks/>
          </p:cNvSpPr>
          <p:nvPr/>
        </p:nvSpPr>
        <p:spPr>
          <a:xfrm>
            <a:off x="491525" y="843419"/>
            <a:ext cx="8373075"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pt-BR" sz="1400" dirty="0"/>
          </a:p>
        </p:txBody>
      </p:sp>
    </p:spTree>
    <p:extLst>
      <p:ext uri="{BB962C8B-B14F-4D97-AF65-F5344CB8AC3E}">
        <p14:creationId xmlns:p14="http://schemas.microsoft.com/office/powerpoint/2010/main" val="38305959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C504C-D05F-3E2D-C333-B9A472451E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6FA5F6-A8C8-6268-F6A2-72EE67D0791F}"/>
              </a:ext>
            </a:extLst>
          </p:cNvPr>
          <p:cNvSpPr>
            <a:spLocks noGrp="1"/>
          </p:cNvSpPr>
          <p:nvPr>
            <p:ph type="title"/>
          </p:nvPr>
        </p:nvSpPr>
        <p:spPr>
          <a:xfrm>
            <a:off x="491525" y="396000"/>
            <a:ext cx="8172000" cy="576000"/>
          </a:xfrm>
        </p:spPr>
        <p:txBody>
          <a:bodyPr anchor="t">
            <a:normAutofit/>
          </a:bodyPr>
          <a:lstStyle/>
          <a:p>
            <a:r>
              <a:rPr lang="en-GB" dirty="0"/>
              <a:t>Demographics – Country-specific (bad data)</a:t>
            </a:r>
            <a:endParaRPr lang="LID4096" dirty="0"/>
          </a:p>
        </p:txBody>
      </p:sp>
      <p:pic>
        <p:nvPicPr>
          <p:cNvPr id="6" name="Picture 5">
            <a:extLst>
              <a:ext uri="{FF2B5EF4-FFF2-40B4-BE49-F238E27FC236}">
                <a16:creationId xmlns:a16="http://schemas.microsoft.com/office/drawing/2014/main" id="{DF02E7D5-B35A-32F3-21E0-52709866CC0F}"/>
              </a:ext>
            </a:extLst>
          </p:cNvPr>
          <p:cNvPicPr>
            <a:picLocks noChangeAspect="1"/>
          </p:cNvPicPr>
          <p:nvPr/>
        </p:nvPicPr>
        <p:blipFill>
          <a:blip r:embed="rId3"/>
          <a:srcRect/>
          <a:stretch/>
        </p:blipFill>
        <p:spPr>
          <a:xfrm>
            <a:off x="491525" y="854158"/>
            <a:ext cx="8172000" cy="4212967"/>
          </a:xfrm>
          <a:prstGeom prst="rect">
            <a:avLst/>
          </a:prstGeom>
          <a:noFill/>
        </p:spPr>
      </p:pic>
      <p:sp>
        <p:nvSpPr>
          <p:cNvPr id="8" name="Tijdelijke aanduiding voor inhoud 5">
            <a:extLst>
              <a:ext uri="{FF2B5EF4-FFF2-40B4-BE49-F238E27FC236}">
                <a16:creationId xmlns:a16="http://schemas.microsoft.com/office/drawing/2014/main" id="{DFB3EBBA-6CE3-5923-96B1-894EC17EC9CB}"/>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Tree>
    <p:extLst>
      <p:ext uri="{BB962C8B-B14F-4D97-AF65-F5344CB8AC3E}">
        <p14:creationId xmlns:p14="http://schemas.microsoft.com/office/powerpoint/2010/main" val="891473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87302-4A51-4A32-1DB0-FF5947966F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8B9215-940B-6942-EBD0-577AA03F9C9F}"/>
              </a:ext>
            </a:extLst>
          </p:cNvPr>
          <p:cNvSpPr>
            <a:spLocks noGrp="1"/>
          </p:cNvSpPr>
          <p:nvPr>
            <p:ph type="title"/>
          </p:nvPr>
        </p:nvSpPr>
        <p:spPr>
          <a:xfrm>
            <a:off x="491525" y="396000"/>
            <a:ext cx="8172000" cy="576000"/>
          </a:xfrm>
        </p:spPr>
        <p:txBody>
          <a:bodyPr anchor="t">
            <a:normAutofit/>
          </a:bodyPr>
          <a:lstStyle/>
          <a:p>
            <a:r>
              <a:rPr lang="en-GB" dirty="0"/>
              <a:t>Demographics – Country-specific</a:t>
            </a:r>
            <a:endParaRPr lang="LID4096" dirty="0"/>
          </a:p>
        </p:txBody>
      </p:sp>
      <p:pic>
        <p:nvPicPr>
          <p:cNvPr id="6" name="Picture 5">
            <a:extLst>
              <a:ext uri="{FF2B5EF4-FFF2-40B4-BE49-F238E27FC236}">
                <a16:creationId xmlns:a16="http://schemas.microsoft.com/office/drawing/2014/main" id="{5769C3CC-4885-4FB7-3D62-3D552EBA2765}"/>
              </a:ext>
            </a:extLst>
          </p:cNvPr>
          <p:cNvPicPr>
            <a:picLocks noChangeAspect="1"/>
          </p:cNvPicPr>
          <p:nvPr/>
        </p:nvPicPr>
        <p:blipFill>
          <a:blip r:embed="rId3"/>
          <a:srcRect/>
          <a:stretch/>
        </p:blipFill>
        <p:spPr>
          <a:xfrm>
            <a:off x="715021" y="1229161"/>
            <a:ext cx="7937454" cy="3837964"/>
          </a:xfrm>
          <a:prstGeom prst="rect">
            <a:avLst/>
          </a:prstGeom>
          <a:noFill/>
        </p:spPr>
      </p:pic>
      <p:sp>
        <p:nvSpPr>
          <p:cNvPr id="8" name="Tijdelijke aanduiding voor inhoud 5">
            <a:extLst>
              <a:ext uri="{FF2B5EF4-FFF2-40B4-BE49-F238E27FC236}">
                <a16:creationId xmlns:a16="http://schemas.microsoft.com/office/drawing/2014/main" id="{1602BC72-4747-8AF5-1C15-52621B02CE67}"/>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5" name="Content Placeholder 3">
            <a:extLst>
              <a:ext uri="{FF2B5EF4-FFF2-40B4-BE49-F238E27FC236}">
                <a16:creationId xmlns:a16="http://schemas.microsoft.com/office/drawing/2014/main" id="{EB38EC5B-AE86-4A7E-65FE-B073389F5B33}"/>
              </a:ext>
            </a:extLst>
          </p:cNvPr>
          <p:cNvSpPr txBox="1">
            <a:spLocks/>
          </p:cNvSpPr>
          <p:nvPr/>
        </p:nvSpPr>
        <p:spPr>
          <a:xfrm>
            <a:off x="491525" y="843419"/>
            <a:ext cx="8373075"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400" dirty="0"/>
              <a:t>7155 final sample </a:t>
            </a:r>
            <a:r>
              <a:rPr lang="pt-BR" sz="1400" dirty="0"/>
              <a:t>(US: n= 3606, 50%; NL: n=3549, 50%)</a:t>
            </a:r>
          </a:p>
        </p:txBody>
      </p:sp>
    </p:spTree>
    <p:extLst>
      <p:ext uri="{BB962C8B-B14F-4D97-AF65-F5344CB8AC3E}">
        <p14:creationId xmlns:p14="http://schemas.microsoft.com/office/powerpoint/2010/main" val="21924788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005F5-914F-A219-60A2-4E7E5A4065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6AF49-E36B-CF36-879E-16B327F310FC}"/>
              </a:ext>
            </a:extLst>
          </p:cNvPr>
          <p:cNvSpPr>
            <a:spLocks noGrp="1"/>
          </p:cNvSpPr>
          <p:nvPr>
            <p:ph type="title"/>
          </p:nvPr>
        </p:nvSpPr>
        <p:spPr>
          <a:xfrm>
            <a:off x="491525" y="396000"/>
            <a:ext cx="8172000" cy="576000"/>
          </a:xfrm>
        </p:spPr>
        <p:txBody>
          <a:bodyPr anchor="t">
            <a:normAutofit/>
          </a:bodyPr>
          <a:lstStyle/>
          <a:p>
            <a:r>
              <a:rPr lang="en-GB" dirty="0"/>
              <a:t>Health conditions</a:t>
            </a:r>
            <a:endParaRPr lang="LID4096" dirty="0"/>
          </a:p>
        </p:txBody>
      </p:sp>
      <p:sp>
        <p:nvSpPr>
          <p:cNvPr id="8" name="Tijdelijke aanduiding voor inhoud 5">
            <a:extLst>
              <a:ext uri="{FF2B5EF4-FFF2-40B4-BE49-F238E27FC236}">
                <a16:creationId xmlns:a16="http://schemas.microsoft.com/office/drawing/2014/main" id="{086A4A32-0161-343C-60CC-D53CA9CF11F5}"/>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3" name="Flowchart: Connector 2">
            <a:extLst>
              <a:ext uri="{FF2B5EF4-FFF2-40B4-BE49-F238E27FC236}">
                <a16:creationId xmlns:a16="http://schemas.microsoft.com/office/drawing/2014/main" id="{D3405697-62EB-A592-A6B7-FD6F9DDBB514}"/>
              </a:ext>
            </a:extLst>
          </p:cNvPr>
          <p:cNvSpPr/>
          <p:nvPr/>
        </p:nvSpPr>
        <p:spPr>
          <a:xfrm>
            <a:off x="7035218" y="4542573"/>
            <a:ext cx="188687" cy="203200"/>
          </a:xfrm>
          <a:prstGeom prst="flowChartConnector">
            <a:avLst/>
          </a:prstGeom>
          <a:effectLst/>
        </p:spPr>
        <p:style>
          <a:lnRef idx="1">
            <a:schemeClr val="accent4"/>
          </a:lnRef>
          <a:fillRef idx="3">
            <a:schemeClr val="accent4"/>
          </a:fillRef>
          <a:effectRef idx="2">
            <a:schemeClr val="accent4"/>
          </a:effectRef>
          <a:fontRef idx="minor">
            <a:schemeClr val="lt1"/>
          </a:fontRef>
        </p:style>
        <p:txBody>
          <a:bodyPr rtlCol="0" anchor="ctr"/>
          <a:lstStyle/>
          <a:p>
            <a:pPr algn="ctr"/>
            <a:endParaRPr lang="LID4096"/>
          </a:p>
        </p:txBody>
      </p:sp>
      <p:pic>
        <p:nvPicPr>
          <p:cNvPr id="12" name="Picture 11">
            <a:extLst>
              <a:ext uri="{FF2B5EF4-FFF2-40B4-BE49-F238E27FC236}">
                <a16:creationId xmlns:a16="http://schemas.microsoft.com/office/drawing/2014/main" id="{7D14F55A-78D2-0785-0355-F3E9D9512D6D}"/>
              </a:ext>
            </a:extLst>
          </p:cNvPr>
          <p:cNvPicPr>
            <a:picLocks noChangeAspect="1"/>
          </p:cNvPicPr>
          <p:nvPr/>
        </p:nvPicPr>
        <p:blipFill>
          <a:blip r:embed="rId3"/>
          <a:srcRect/>
          <a:stretch/>
        </p:blipFill>
        <p:spPr>
          <a:xfrm>
            <a:off x="883565" y="930835"/>
            <a:ext cx="7779960" cy="4053791"/>
          </a:xfrm>
          <a:prstGeom prst="rect">
            <a:avLst/>
          </a:prstGeom>
        </p:spPr>
      </p:pic>
    </p:spTree>
    <p:extLst>
      <p:ext uri="{BB962C8B-B14F-4D97-AF65-F5344CB8AC3E}">
        <p14:creationId xmlns:p14="http://schemas.microsoft.com/office/powerpoint/2010/main" val="13045276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87C89-E8B3-A7A0-2E3F-D580926F3D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37DE35-9E34-597F-2C08-C6E38175DD23}"/>
              </a:ext>
            </a:extLst>
          </p:cNvPr>
          <p:cNvSpPr>
            <a:spLocks noGrp="1"/>
          </p:cNvSpPr>
          <p:nvPr>
            <p:ph type="title"/>
          </p:nvPr>
        </p:nvSpPr>
        <p:spPr>
          <a:xfrm>
            <a:off x="491525" y="396000"/>
            <a:ext cx="8172000" cy="576000"/>
          </a:xfrm>
        </p:spPr>
        <p:txBody>
          <a:bodyPr anchor="t">
            <a:normAutofit/>
          </a:bodyPr>
          <a:lstStyle/>
          <a:p>
            <a:r>
              <a:rPr lang="en-GB" dirty="0"/>
              <a:t>Targeted health conditions</a:t>
            </a:r>
            <a:endParaRPr lang="LID4096" dirty="0"/>
          </a:p>
        </p:txBody>
      </p:sp>
      <p:sp>
        <p:nvSpPr>
          <p:cNvPr id="8" name="Tijdelijke aanduiding voor inhoud 5">
            <a:extLst>
              <a:ext uri="{FF2B5EF4-FFF2-40B4-BE49-F238E27FC236}">
                <a16:creationId xmlns:a16="http://schemas.microsoft.com/office/drawing/2014/main" id="{5510C3FA-3B5E-C6C3-7581-153CCCD6591C}"/>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pic>
        <p:nvPicPr>
          <p:cNvPr id="6" name="Picture 5">
            <a:extLst>
              <a:ext uri="{FF2B5EF4-FFF2-40B4-BE49-F238E27FC236}">
                <a16:creationId xmlns:a16="http://schemas.microsoft.com/office/drawing/2014/main" id="{5248E073-B1BD-9685-ABB1-03DE28C37AAD}"/>
              </a:ext>
            </a:extLst>
          </p:cNvPr>
          <p:cNvPicPr>
            <a:picLocks noChangeAspect="1"/>
          </p:cNvPicPr>
          <p:nvPr/>
        </p:nvPicPr>
        <p:blipFill>
          <a:blip r:embed="rId3"/>
          <a:srcRect/>
          <a:stretch/>
        </p:blipFill>
        <p:spPr>
          <a:xfrm>
            <a:off x="728770" y="882954"/>
            <a:ext cx="7923705" cy="4105469"/>
          </a:xfrm>
          <a:prstGeom prst="rect">
            <a:avLst/>
          </a:prstGeom>
        </p:spPr>
      </p:pic>
    </p:spTree>
    <p:extLst>
      <p:ext uri="{BB962C8B-B14F-4D97-AF65-F5344CB8AC3E}">
        <p14:creationId xmlns:p14="http://schemas.microsoft.com/office/powerpoint/2010/main" val="7845734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04E9D-0B5B-3DEF-D66B-02FB403CC5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5BE54B-788F-A999-B307-17F7E1558BB0}"/>
              </a:ext>
            </a:extLst>
          </p:cNvPr>
          <p:cNvSpPr>
            <a:spLocks noGrp="1"/>
          </p:cNvSpPr>
          <p:nvPr>
            <p:ph type="title"/>
          </p:nvPr>
        </p:nvSpPr>
        <p:spPr>
          <a:xfrm>
            <a:off x="491525" y="396000"/>
            <a:ext cx="8172000" cy="576000"/>
          </a:xfrm>
        </p:spPr>
        <p:txBody>
          <a:bodyPr anchor="t">
            <a:normAutofit/>
          </a:bodyPr>
          <a:lstStyle/>
          <a:p>
            <a:r>
              <a:rPr lang="en-GB" dirty="0"/>
              <a:t>Comorbidity</a:t>
            </a:r>
            <a:endParaRPr lang="LID4096" dirty="0"/>
          </a:p>
        </p:txBody>
      </p:sp>
      <p:pic>
        <p:nvPicPr>
          <p:cNvPr id="6" name="Picture 5">
            <a:extLst>
              <a:ext uri="{FF2B5EF4-FFF2-40B4-BE49-F238E27FC236}">
                <a16:creationId xmlns:a16="http://schemas.microsoft.com/office/drawing/2014/main" id="{9FEF0729-3595-CF87-B068-7F0B249E4003}"/>
              </a:ext>
            </a:extLst>
          </p:cNvPr>
          <p:cNvPicPr>
            <a:picLocks noChangeAspect="1"/>
          </p:cNvPicPr>
          <p:nvPr/>
        </p:nvPicPr>
        <p:blipFill>
          <a:blip r:embed="rId3"/>
          <a:srcRect/>
          <a:stretch/>
        </p:blipFill>
        <p:spPr>
          <a:xfrm>
            <a:off x="668000" y="843419"/>
            <a:ext cx="7984475" cy="4115044"/>
          </a:xfrm>
          <a:prstGeom prst="rect">
            <a:avLst/>
          </a:prstGeom>
          <a:noFill/>
        </p:spPr>
      </p:pic>
      <p:sp>
        <p:nvSpPr>
          <p:cNvPr id="8" name="Tijdelijke aanduiding voor inhoud 5">
            <a:extLst>
              <a:ext uri="{FF2B5EF4-FFF2-40B4-BE49-F238E27FC236}">
                <a16:creationId xmlns:a16="http://schemas.microsoft.com/office/drawing/2014/main" id="{5227D388-60CF-2234-73CE-3B8559F028E2}"/>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5" name="Content Placeholder 3">
            <a:extLst>
              <a:ext uri="{FF2B5EF4-FFF2-40B4-BE49-F238E27FC236}">
                <a16:creationId xmlns:a16="http://schemas.microsoft.com/office/drawing/2014/main" id="{D4535E3B-C3CF-EBCE-2375-BC69021BEC68}"/>
              </a:ext>
            </a:extLst>
          </p:cNvPr>
          <p:cNvSpPr txBox="1">
            <a:spLocks/>
          </p:cNvSpPr>
          <p:nvPr/>
        </p:nvSpPr>
        <p:spPr>
          <a:xfrm>
            <a:off x="491525" y="843419"/>
            <a:ext cx="8373075"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pt-BR" sz="1400" dirty="0"/>
          </a:p>
        </p:txBody>
      </p:sp>
    </p:spTree>
    <p:extLst>
      <p:ext uri="{BB962C8B-B14F-4D97-AF65-F5344CB8AC3E}">
        <p14:creationId xmlns:p14="http://schemas.microsoft.com/office/powerpoint/2010/main" val="26450352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FC78D-ADAE-1B88-E302-76281ED125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FED0B5-0360-A5D2-AFAD-7BA1B32C49F7}"/>
              </a:ext>
            </a:extLst>
          </p:cNvPr>
          <p:cNvSpPr>
            <a:spLocks noGrp="1"/>
          </p:cNvSpPr>
          <p:nvPr>
            <p:ph type="title"/>
          </p:nvPr>
        </p:nvSpPr>
        <p:spPr>
          <a:xfrm>
            <a:off x="491525" y="396000"/>
            <a:ext cx="8172000" cy="576000"/>
          </a:xfrm>
        </p:spPr>
        <p:txBody>
          <a:bodyPr anchor="t">
            <a:normAutofit/>
          </a:bodyPr>
          <a:lstStyle/>
          <a:p>
            <a:r>
              <a:rPr lang="en-GB" dirty="0"/>
              <a:t>Completion time</a:t>
            </a:r>
            <a:endParaRPr lang="LID4096" dirty="0"/>
          </a:p>
        </p:txBody>
      </p:sp>
      <p:pic>
        <p:nvPicPr>
          <p:cNvPr id="6" name="Picture 5">
            <a:extLst>
              <a:ext uri="{FF2B5EF4-FFF2-40B4-BE49-F238E27FC236}">
                <a16:creationId xmlns:a16="http://schemas.microsoft.com/office/drawing/2014/main" id="{92E265BB-A1DE-9A9D-679C-B8F9729B73C2}"/>
              </a:ext>
            </a:extLst>
          </p:cNvPr>
          <p:cNvPicPr>
            <a:picLocks noChangeAspect="1"/>
          </p:cNvPicPr>
          <p:nvPr/>
        </p:nvPicPr>
        <p:blipFill>
          <a:blip r:embed="rId3"/>
          <a:srcRect/>
          <a:stretch/>
        </p:blipFill>
        <p:spPr>
          <a:xfrm>
            <a:off x="829877" y="906044"/>
            <a:ext cx="7833648" cy="4116745"/>
          </a:xfrm>
          <a:prstGeom prst="rect">
            <a:avLst/>
          </a:prstGeom>
          <a:noFill/>
        </p:spPr>
      </p:pic>
      <p:sp>
        <p:nvSpPr>
          <p:cNvPr id="8" name="Tijdelijke aanduiding voor inhoud 5">
            <a:extLst>
              <a:ext uri="{FF2B5EF4-FFF2-40B4-BE49-F238E27FC236}">
                <a16:creationId xmlns:a16="http://schemas.microsoft.com/office/drawing/2014/main" id="{7614E1B3-9AE2-B218-162A-B7D49319C9F4}"/>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5" name="Content Placeholder 3">
            <a:extLst>
              <a:ext uri="{FF2B5EF4-FFF2-40B4-BE49-F238E27FC236}">
                <a16:creationId xmlns:a16="http://schemas.microsoft.com/office/drawing/2014/main" id="{17301641-038C-B04B-DEDD-2159AE7CDF74}"/>
              </a:ext>
            </a:extLst>
          </p:cNvPr>
          <p:cNvSpPr txBox="1">
            <a:spLocks/>
          </p:cNvSpPr>
          <p:nvPr/>
        </p:nvSpPr>
        <p:spPr>
          <a:xfrm>
            <a:off x="491525" y="843419"/>
            <a:ext cx="8373075"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pt-BR" sz="1400" dirty="0"/>
          </a:p>
        </p:txBody>
      </p:sp>
    </p:spTree>
    <p:extLst>
      <p:ext uri="{BB962C8B-B14F-4D97-AF65-F5344CB8AC3E}">
        <p14:creationId xmlns:p14="http://schemas.microsoft.com/office/powerpoint/2010/main" val="6139111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AA338-B74F-43F3-DB95-7A35FDFD16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50C80B-0F00-63AD-BE82-187469602EB3}"/>
              </a:ext>
            </a:extLst>
          </p:cNvPr>
          <p:cNvSpPr>
            <a:spLocks noGrp="1"/>
          </p:cNvSpPr>
          <p:nvPr>
            <p:ph type="title"/>
          </p:nvPr>
        </p:nvSpPr>
        <p:spPr>
          <a:xfrm>
            <a:off x="491525" y="396000"/>
            <a:ext cx="8172000" cy="576000"/>
          </a:xfrm>
        </p:spPr>
        <p:txBody>
          <a:bodyPr anchor="t">
            <a:normAutofit/>
          </a:bodyPr>
          <a:lstStyle/>
          <a:p>
            <a:r>
              <a:rPr lang="en-GB" dirty="0"/>
              <a:t>Descriptive statistics</a:t>
            </a:r>
            <a:endParaRPr lang="LID4096" dirty="0"/>
          </a:p>
        </p:txBody>
      </p:sp>
      <p:sp>
        <p:nvSpPr>
          <p:cNvPr id="8" name="Tijdelijke aanduiding voor inhoud 5">
            <a:extLst>
              <a:ext uri="{FF2B5EF4-FFF2-40B4-BE49-F238E27FC236}">
                <a16:creationId xmlns:a16="http://schemas.microsoft.com/office/drawing/2014/main" id="{4A280A69-72B9-B703-1754-295174AAD183}"/>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pic>
        <p:nvPicPr>
          <p:cNvPr id="5" name="Picture 4">
            <a:extLst>
              <a:ext uri="{FF2B5EF4-FFF2-40B4-BE49-F238E27FC236}">
                <a16:creationId xmlns:a16="http://schemas.microsoft.com/office/drawing/2014/main" id="{1D647ED5-C134-84CA-79C4-0AE6EE680734}"/>
              </a:ext>
            </a:extLst>
          </p:cNvPr>
          <p:cNvPicPr>
            <a:picLocks noChangeAspect="1"/>
          </p:cNvPicPr>
          <p:nvPr/>
        </p:nvPicPr>
        <p:blipFill>
          <a:blip r:embed="rId3"/>
          <a:srcRect/>
          <a:stretch/>
        </p:blipFill>
        <p:spPr>
          <a:xfrm>
            <a:off x="2586138" y="941954"/>
            <a:ext cx="6202593" cy="3259592"/>
          </a:xfrm>
          <a:prstGeom prst="rect">
            <a:avLst/>
          </a:prstGeom>
        </p:spPr>
      </p:pic>
      <p:sp>
        <p:nvSpPr>
          <p:cNvPr id="9" name="Content Placeholder 3">
            <a:extLst>
              <a:ext uri="{FF2B5EF4-FFF2-40B4-BE49-F238E27FC236}">
                <a16:creationId xmlns:a16="http://schemas.microsoft.com/office/drawing/2014/main" id="{18E53376-3765-080E-C23F-9EA4E46E8C89}"/>
              </a:ext>
            </a:extLst>
          </p:cNvPr>
          <p:cNvSpPr txBox="1">
            <a:spLocks/>
          </p:cNvSpPr>
          <p:nvPr/>
        </p:nvSpPr>
        <p:spPr>
          <a:xfrm>
            <a:off x="491525" y="971999"/>
            <a:ext cx="2091655"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sz="1400" dirty="0"/>
              <a:t>Older adults had moderate to high levels of well-being across instruments</a:t>
            </a:r>
          </a:p>
          <a:p>
            <a:r>
              <a:rPr lang="en-GB" sz="1400" dirty="0"/>
              <a:t>More negatively skewed in the EQ-5D-5L and EQ-HWB-9</a:t>
            </a:r>
            <a:endParaRPr lang="pt-BR" sz="1400" dirty="0"/>
          </a:p>
          <a:p>
            <a:endParaRPr lang="en-US" sz="1400" dirty="0"/>
          </a:p>
        </p:txBody>
      </p:sp>
    </p:spTree>
    <p:extLst>
      <p:ext uri="{BB962C8B-B14F-4D97-AF65-F5344CB8AC3E}">
        <p14:creationId xmlns:p14="http://schemas.microsoft.com/office/powerpoint/2010/main" val="6197642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FED58-E014-0D55-B992-22C0DB09B5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E1C92F-1F2D-CA9F-6D1C-74E23B6C8FD5}"/>
              </a:ext>
            </a:extLst>
          </p:cNvPr>
          <p:cNvSpPr>
            <a:spLocks noGrp="1"/>
          </p:cNvSpPr>
          <p:nvPr>
            <p:ph type="title"/>
          </p:nvPr>
        </p:nvSpPr>
        <p:spPr>
          <a:xfrm>
            <a:off x="491525" y="396000"/>
            <a:ext cx="8172000" cy="576000"/>
          </a:xfrm>
        </p:spPr>
        <p:txBody>
          <a:bodyPr anchor="t">
            <a:normAutofit/>
          </a:bodyPr>
          <a:lstStyle/>
          <a:p>
            <a:r>
              <a:rPr lang="en-GB" dirty="0"/>
              <a:t>Descriptive statistics – Scores by age</a:t>
            </a:r>
            <a:endParaRPr lang="LID4096" dirty="0"/>
          </a:p>
        </p:txBody>
      </p:sp>
      <p:sp>
        <p:nvSpPr>
          <p:cNvPr id="8" name="Tijdelijke aanduiding voor inhoud 5">
            <a:extLst>
              <a:ext uri="{FF2B5EF4-FFF2-40B4-BE49-F238E27FC236}">
                <a16:creationId xmlns:a16="http://schemas.microsoft.com/office/drawing/2014/main" id="{7301AEE7-4117-B57F-F4F0-58065BB5433D}"/>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pic>
        <p:nvPicPr>
          <p:cNvPr id="4" name="Picture 3">
            <a:extLst>
              <a:ext uri="{FF2B5EF4-FFF2-40B4-BE49-F238E27FC236}">
                <a16:creationId xmlns:a16="http://schemas.microsoft.com/office/drawing/2014/main" id="{AAA14662-E060-DAA5-2DEC-2FCB3AF27D2E}"/>
              </a:ext>
            </a:extLst>
          </p:cNvPr>
          <p:cNvPicPr>
            <a:picLocks noChangeAspect="1"/>
          </p:cNvPicPr>
          <p:nvPr/>
        </p:nvPicPr>
        <p:blipFill>
          <a:blip r:embed="rId3"/>
          <a:srcRect/>
          <a:stretch/>
        </p:blipFill>
        <p:spPr>
          <a:xfrm>
            <a:off x="511446" y="834494"/>
            <a:ext cx="8121107" cy="4267811"/>
          </a:xfrm>
          <a:prstGeom prst="rect">
            <a:avLst/>
          </a:prstGeom>
        </p:spPr>
      </p:pic>
    </p:spTree>
    <p:extLst>
      <p:ext uri="{BB962C8B-B14F-4D97-AF65-F5344CB8AC3E}">
        <p14:creationId xmlns:p14="http://schemas.microsoft.com/office/powerpoint/2010/main" val="3397096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74096-8096-E412-74C2-CD40940E8E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15B875-6D50-41E9-3329-BE7FBF7FE00F}"/>
              </a:ext>
            </a:extLst>
          </p:cNvPr>
          <p:cNvSpPr>
            <a:spLocks noGrp="1"/>
          </p:cNvSpPr>
          <p:nvPr>
            <p:ph type="title"/>
          </p:nvPr>
        </p:nvSpPr>
        <p:spPr>
          <a:xfrm>
            <a:off x="491525" y="396000"/>
            <a:ext cx="8172000" cy="576000"/>
          </a:xfrm>
        </p:spPr>
        <p:txBody>
          <a:bodyPr anchor="t">
            <a:normAutofit/>
          </a:bodyPr>
          <a:lstStyle/>
          <a:p>
            <a:r>
              <a:rPr lang="en-GB" dirty="0"/>
              <a:t>Response options frequencies</a:t>
            </a:r>
            <a:endParaRPr lang="LID4096" dirty="0"/>
          </a:p>
        </p:txBody>
      </p:sp>
      <p:pic>
        <p:nvPicPr>
          <p:cNvPr id="6" name="Picture 5">
            <a:extLst>
              <a:ext uri="{FF2B5EF4-FFF2-40B4-BE49-F238E27FC236}">
                <a16:creationId xmlns:a16="http://schemas.microsoft.com/office/drawing/2014/main" id="{A8F77E66-1F9A-806C-6C51-C7F43D71F269}"/>
              </a:ext>
            </a:extLst>
          </p:cNvPr>
          <p:cNvPicPr>
            <a:picLocks noChangeAspect="1"/>
          </p:cNvPicPr>
          <p:nvPr/>
        </p:nvPicPr>
        <p:blipFill>
          <a:blip r:embed="rId3"/>
          <a:srcRect/>
          <a:stretch/>
        </p:blipFill>
        <p:spPr>
          <a:xfrm>
            <a:off x="706931" y="843419"/>
            <a:ext cx="7956594" cy="4170030"/>
          </a:xfrm>
          <a:prstGeom prst="rect">
            <a:avLst/>
          </a:prstGeom>
          <a:noFill/>
        </p:spPr>
      </p:pic>
      <p:sp>
        <p:nvSpPr>
          <p:cNvPr id="8" name="Tijdelijke aanduiding voor inhoud 5">
            <a:extLst>
              <a:ext uri="{FF2B5EF4-FFF2-40B4-BE49-F238E27FC236}">
                <a16:creationId xmlns:a16="http://schemas.microsoft.com/office/drawing/2014/main" id="{3F011381-DBC9-29BD-B683-227A5C6D4FD2}"/>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5" name="Content Placeholder 3">
            <a:extLst>
              <a:ext uri="{FF2B5EF4-FFF2-40B4-BE49-F238E27FC236}">
                <a16:creationId xmlns:a16="http://schemas.microsoft.com/office/drawing/2014/main" id="{3F01C795-63FF-370D-E6D9-132F43DBCE1D}"/>
              </a:ext>
            </a:extLst>
          </p:cNvPr>
          <p:cNvSpPr txBox="1">
            <a:spLocks/>
          </p:cNvSpPr>
          <p:nvPr/>
        </p:nvSpPr>
        <p:spPr>
          <a:xfrm>
            <a:off x="491525" y="843419"/>
            <a:ext cx="8373075"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pt-BR" sz="1400" dirty="0"/>
          </a:p>
        </p:txBody>
      </p:sp>
    </p:spTree>
    <p:extLst>
      <p:ext uri="{BB962C8B-B14F-4D97-AF65-F5344CB8AC3E}">
        <p14:creationId xmlns:p14="http://schemas.microsoft.com/office/powerpoint/2010/main" val="1241879634"/>
      </p:ext>
    </p:extLst>
  </p:cSld>
  <p:clrMapOvr>
    <a:masterClrMapping/>
  </p:clrMapOvr>
</p:sld>
</file>

<file path=ppt/theme/theme1.xml><?xml version="1.0" encoding="utf-8"?>
<a:theme xmlns:a="http://schemas.openxmlformats.org/drawingml/2006/main" name="Erasmus_Corporate_B_EN_v1">
  <a:themeElements>
    <a:clrScheme name="EUR_IBMG">
      <a:dk1>
        <a:srgbClr val="002328"/>
      </a:dk1>
      <a:lt1>
        <a:sysClr val="window" lastClr="FFFFFF"/>
      </a:lt1>
      <a:dk2>
        <a:srgbClr val="801A99"/>
      </a:dk2>
      <a:lt2>
        <a:srgbClr val="9C9C9C"/>
      </a:lt2>
      <a:accent1>
        <a:srgbClr val="801A99"/>
      </a:accent1>
      <a:accent2>
        <a:srgbClr val="00B4D2"/>
      </a:accent2>
      <a:accent3>
        <a:srgbClr val="00A22E"/>
      </a:accent3>
      <a:accent4>
        <a:srgbClr val="FFD700"/>
      </a:accent4>
      <a:accent5>
        <a:srgbClr val="FF9E00"/>
      </a:accent5>
      <a:accent6>
        <a:srgbClr val="BC0436"/>
      </a:accent6>
      <a:hlink>
        <a:srgbClr val="000000"/>
      </a:hlink>
      <a:folHlink>
        <a:srgbClr val="000000"/>
      </a:folHlink>
    </a:clrScheme>
    <a:fontScheme name="Erasmus_500-700">
      <a:majorFont>
        <a:latin typeface="Museo Sans 700"/>
        <a:ea typeface=""/>
        <a:cs typeface=""/>
      </a:majorFont>
      <a:minorFont>
        <a:latin typeface="Museo Sans 500"/>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shpm_powerpoint_template_16-9.pptx" id="{6828E7C2-9161-40F8-B729-2D9143FFE034}" vid="{C007BAE9-C7F0-4AC9-876B-C9FDCB9FAF5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1D68C516804644A9B929E79E14799F8" ma:contentTypeVersion="3" ma:contentTypeDescription="Create a new document." ma:contentTypeScope="" ma:versionID="e911f77019013e4f7ce9a2a06f46d5ec">
  <xsd:schema xmlns:xsd="http://www.w3.org/2001/XMLSchema" xmlns:xs="http://www.w3.org/2001/XMLSchema" xmlns:p="http://schemas.microsoft.com/office/2006/metadata/properties" xmlns:ns2="21218f7f-6a6e-4c61-96b6-9b33608f149a" targetNamespace="http://schemas.microsoft.com/office/2006/metadata/properties" ma:root="true" ma:fieldsID="71dedad9ba0142875a975e0547df00ee" ns2:_="">
    <xsd:import namespace="21218f7f-6a6e-4c61-96b6-9b33608f149a"/>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1218f7f-6a6e-4c61-96b6-9b33608f14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08A0D55-06D9-4B3B-ADAB-50E73BC7DAB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1218f7f-6a6e-4c61-96b6-9b33608f149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D9EDC5E-5282-47FC-8BAC-0278FE8C994A}">
  <ds:schemaRefs>
    <ds:schemaRef ds:uri="http://schemas.microsoft.com/sharepoint/v3/contenttype/forms"/>
  </ds:schemaRefs>
</ds:datastoreItem>
</file>

<file path=customXml/itemProps3.xml><?xml version="1.0" encoding="utf-8"?>
<ds:datastoreItem xmlns:ds="http://schemas.openxmlformats.org/officeDocument/2006/customXml" ds:itemID="{C23A9F90-D460-49AA-8CA3-F5C4332673F4}">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ESHPM powerpoint_template_16-9</Template>
  <TotalTime>8538</TotalTime>
  <Words>1999</Words>
  <Application>Microsoft Office PowerPoint</Application>
  <PresentationFormat>On-screen Show (16:9)</PresentationFormat>
  <Paragraphs>459</Paragraphs>
  <Slides>28</Slides>
  <Notes>26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Aptos</vt:lpstr>
      <vt:lpstr>Arial</vt:lpstr>
      <vt:lpstr>Arial Black</vt:lpstr>
      <vt:lpstr>Calibri</vt:lpstr>
      <vt:lpstr>Museo Sans 100</vt:lpstr>
      <vt:lpstr>Museo Sans 500</vt:lpstr>
      <vt:lpstr>Museo Sans 700</vt:lpstr>
      <vt:lpstr>Museo Sans 900</vt:lpstr>
      <vt:lpstr>Erasmus_Corporate_B_EN_v1</vt:lpstr>
      <vt:lpstr>From Conceptions to Measurement: Dutch Perspectives and the WOOP Tool </vt:lpstr>
      <vt:lpstr>Disclosure slide</vt:lpstr>
      <vt:lpstr>Development of the WOOP</vt:lpstr>
      <vt:lpstr>Views of older people in the Netherlands on wellbeing</vt:lpstr>
      <vt:lpstr>Views of older people in the Netherlands on wellbeing</vt:lpstr>
      <vt:lpstr>Translating the views of older people into dimensions for a new measure of well-being</vt:lpstr>
      <vt:lpstr>Performance of the WOOP</vt:lpstr>
      <vt:lpstr>Convergent validity</vt:lpstr>
      <vt:lpstr>Known-group validity</vt:lpstr>
      <vt:lpstr>Test-retest reliability</vt:lpstr>
      <vt:lpstr>Conclusion</vt:lpstr>
      <vt:lpstr>Thank you!</vt:lpstr>
      <vt:lpstr>Appendix</vt:lpstr>
      <vt:lpstr>The W-MIC study</vt:lpstr>
      <vt:lpstr>In-survey quality checks</vt:lpstr>
      <vt:lpstr>Post-hoc data quality checks</vt:lpstr>
      <vt:lpstr>Quality checks</vt:lpstr>
      <vt:lpstr>Quality checks</vt:lpstr>
      <vt:lpstr>Demographics – Bad data sample</vt:lpstr>
      <vt:lpstr>Demographics – Country-specific (bad data)</vt:lpstr>
      <vt:lpstr>Demographics – Country-specific</vt:lpstr>
      <vt:lpstr>Health conditions</vt:lpstr>
      <vt:lpstr>Targeted health conditions</vt:lpstr>
      <vt:lpstr>Comorbidity</vt:lpstr>
      <vt:lpstr>Completion time</vt:lpstr>
      <vt:lpstr>Descriptive statistics</vt:lpstr>
      <vt:lpstr>Descriptive statistics – Scores by age</vt:lpstr>
      <vt:lpstr>Response options frequencies</vt:lpstr>
    </vt:vector>
  </TitlesOfParts>
  <Manager/>
  <Company>Erasmus Universiteit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Andrea De Palma</dc:creator>
  <cp:keywords/>
  <dc:description>iBMG presentation 16:9_x000d_version 1.0 - July 2015_x000d_Design: Fabrique_x000d_Template: Ton Persoon</dc:description>
  <cp:lastModifiedBy>Andrea De Palma</cp:lastModifiedBy>
  <cp:revision>5</cp:revision>
  <dcterms:created xsi:type="dcterms:W3CDTF">2024-10-16T13:45:30Z</dcterms:created>
  <dcterms:modified xsi:type="dcterms:W3CDTF">2026-07-06T20:39:36Z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0x010100E1D68C516804644A9B929E79E14799F8</vt:lpwstr>
  </property>
  <property fmtid="{D5CDD505-2E9C-101B-9397-08002B2CF9AE}" pid="3" name="MSIP_Label_8772ba27-cab8-4042-a351-a31f6e4eacdc_Enabled">
    <vt:lpwstr>true</vt:lpwstr>
  </property>
  <property fmtid="{D5CDD505-2E9C-101B-9397-08002B2CF9AE}" pid="4" name="MSIP_Label_8772ba27-cab8-4042-a351-a31f6e4eacdc_SetDate">
    <vt:lpwstr>2024-10-16T14:38:10Z</vt:lpwstr>
  </property>
  <property fmtid="{D5CDD505-2E9C-101B-9397-08002B2CF9AE}" pid="5" name="MSIP_Label_8772ba27-cab8-4042-a351-a31f6e4eacdc_Method">
    <vt:lpwstr>Standard</vt:lpwstr>
  </property>
  <property fmtid="{D5CDD505-2E9C-101B-9397-08002B2CF9AE}" pid="6" name="MSIP_Label_8772ba27-cab8-4042-a351-a31f6e4eacdc_Name">
    <vt:lpwstr>Internal</vt:lpwstr>
  </property>
  <property fmtid="{D5CDD505-2E9C-101B-9397-08002B2CF9AE}" pid="7" name="MSIP_Label_8772ba27-cab8-4042-a351-a31f6e4eacdc_SiteId">
    <vt:lpwstr>715902d6-f63e-4b8d-929b-4bb170bad492</vt:lpwstr>
  </property>
  <property fmtid="{D5CDD505-2E9C-101B-9397-08002B2CF9AE}" pid="8" name="MSIP_Label_8772ba27-cab8-4042-a351-a31f6e4eacdc_ActionId">
    <vt:lpwstr>90738811-0d0f-48f4-a4fc-02648006f41d</vt:lpwstr>
  </property>
  <property fmtid="{D5CDD505-2E9C-101B-9397-08002B2CF9AE}" pid="9" name="MSIP_Label_8772ba27-cab8-4042-a351-a31f6e4eacdc_ContentBits">
    <vt:lpwstr>0</vt:lpwstr>
  </property>
</Properties>
</file>