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5.jpg" ContentType="image/png"/>
  <Override PartName="/ppt/notesSlides/notesSlide8.xml" ContentType="application/vnd.openxmlformats-officedocument.presentationml.notesSlide+xml"/>
  <Override PartName="/ppt/media/image16.jpg" ContentType="image/pn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media/image18.jpg" ContentType="image/png"/>
  <Override PartName="/ppt/notesSlides/notesSlide20.xml" ContentType="application/vnd.openxmlformats-officedocument.presentationml.notesSlide+xml"/>
  <Override PartName="/ppt/media/image19.jpg" ContentType="image/png"/>
  <Override PartName="/ppt/notesSlides/notesSlide21.xml" ContentType="application/vnd.openxmlformats-officedocument.presentationml.notesSlide+xml"/>
  <Override PartName="/ppt/media/image20.jpg" ContentType="image/png"/>
  <Override PartName="/ppt/notesSlides/notesSlide22.xml" ContentType="application/vnd.openxmlformats-officedocument.presentationml.notesSlide+xml"/>
  <Override PartName="/ppt/media/image21.jpg" ContentType="image/png"/>
  <Override PartName="/ppt/notesSlides/notesSlide23.xml" ContentType="application/vnd.openxmlformats-officedocument.presentationml.notesSlide+xml"/>
  <Override PartName="/ppt/media/image22.jpg" ContentType="image/png"/>
  <Override PartName="/ppt/notesSlides/notesSlide24.xml" ContentType="application/vnd.openxmlformats-officedocument.presentationml.notesSlide+xml"/>
  <Override PartName="/ppt/media/image23.jpg" ContentType="image/png"/>
  <Override PartName="/ppt/notesSlides/notesSlide25.xml" ContentType="application/vnd.openxmlformats-officedocument.presentationml.notesSlide+xml"/>
  <Override PartName="/ppt/media/image24.jpg" ContentType="image/png"/>
  <Override PartName="/ppt/notesSlides/notesSlide26.xml" ContentType="application/vnd.openxmlformats-officedocument.presentationml.notesSlide+xml"/>
  <Override PartName="/ppt/media/image25.jpg" ContentType="image/png"/>
  <Override PartName="/ppt/notesSlides/notesSlide27.xml" ContentType="application/vnd.openxmlformats-officedocument.presentationml.notesSlide+xml"/>
  <Override PartName="/ppt/media/image26.jpg" ContentType="image/png"/>
  <Override PartName="/ppt/notesSlides/notesSlide28.xml" ContentType="application/vnd.openxmlformats-officedocument.presentationml.notesSlide+xml"/>
  <Override PartName="/ppt/media/image27.jpg" ContentType="image/png"/>
  <Override PartName="/ppt/notesSlides/notesSlide29.xml" ContentType="application/vnd.openxmlformats-officedocument.presentationml.notesSlide+xml"/>
  <Override PartName="/ppt/media/image28.jpg" ContentType="image/png"/>
  <Override PartName="/ppt/notesSlides/notesSlide30.xml" ContentType="application/vnd.openxmlformats-officedocument.presentationml.notesSlide+xml"/>
  <Override PartName="/ppt/media/image29.jpg" ContentType="image/png"/>
  <Override PartName="/ppt/notesSlides/notesSlide31.xml" ContentType="application/vnd.openxmlformats-officedocument.presentationml.notesSlide+xml"/>
  <Override PartName="/ppt/media/image30.jpg" ContentType="image/png"/>
  <Override PartName="/ppt/notesSlides/notesSlide32.xml" ContentType="application/vnd.openxmlformats-officedocument.presentationml.notesSlide+xml"/>
  <Override PartName="/ppt/media/image31.jpg" ContentType="image/png"/>
  <Override PartName="/ppt/notesSlides/notesSlide33.xml" ContentType="application/vnd.openxmlformats-officedocument.presentationml.notesSlide+xml"/>
  <Override PartName="/ppt/media/image32.jpg" ContentType="image/png"/>
  <Override PartName="/ppt/notesSlides/notesSlide34.xml" ContentType="application/vnd.openxmlformats-officedocument.presentationml.notesSlide+xml"/>
  <Override PartName="/ppt/media/image33.jpg" ContentType="image/png"/>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sldIdLst>
    <p:sldId id="256" r:id="rId5"/>
    <p:sldId id="388" r:id="rId6"/>
    <p:sldId id="338" r:id="rId7"/>
    <p:sldId id="418" r:id="rId8"/>
    <p:sldId id="275" r:id="rId9"/>
    <p:sldId id="391" r:id="rId10"/>
    <p:sldId id="396" r:id="rId11"/>
    <p:sldId id="394" r:id="rId12"/>
    <p:sldId id="400" r:id="rId13"/>
    <p:sldId id="392" r:id="rId14"/>
    <p:sldId id="401" r:id="rId15"/>
    <p:sldId id="404" r:id="rId16"/>
    <p:sldId id="407" r:id="rId17"/>
    <p:sldId id="408" r:id="rId18"/>
    <p:sldId id="409" r:id="rId19"/>
    <p:sldId id="410" r:id="rId20"/>
    <p:sldId id="411" r:id="rId21"/>
    <p:sldId id="415" r:id="rId22"/>
    <p:sldId id="440" r:id="rId23"/>
    <p:sldId id="419" r:id="rId24"/>
    <p:sldId id="317" r:id="rId25"/>
    <p:sldId id="390" r:id="rId26"/>
    <p:sldId id="399" r:id="rId27"/>
    <p:sldId id="398" r:id="rId28"/>
    <p:sldId id="397" r:id="rId29"/>
    <p:sldId id="439" r:id="rId30"/>
    <p:sldId id="420" r:id="rId31"/>
    <p:sldId id="421" r:id="rId32"/>
    <p:sldId id="417" r:id="rId33"/>
    <p:sldId id="402" r:id="rId34"/>
    <p:sldId id="403" r:id="rId35"/>
    <p:sldId id="422" r:id="rId36"/>
    <p:sldId id="424" r:id="rId37"/>
    <p:sldId id="405" r:id="rId38"/>
    <p:sldId id="433" r:id="rId39"/>
    <p:sldId id="427" r:id="rId40"/>
    <p:sldId id="425" r:id="rId41"/>
    <p:sldId id="428" r:id="rId42"/>
    <p:sldId id="429" r:id="rId43"/>
    <p:sldId id="406" r:id="rId44"/>
    <p:sldId id="431" r:id="rId45"/>
    <p:sldId id="432" r:id="rId46"/>
    <p:sldId id="434" r:id="rId47"/>
    <p:sldId id="430" r:id="rId48"/>
    <p:sldId id="414" r:id="rId49"/>
  </p:sldIdLst>
  <p:sldSz cx="9144000" cy="5143500" type="screen16x9"/>
  <p:notesSz cx="6858000" cy="9144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3FE585-E73B-0333-AD3E-6E86C7E6E7B1}" name="Andrea De Palma" initials="AD" userId="S::97066ade@eur.nl::dbbb45b4-0fa1-4b93-b33d-97fa693956a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F0C7"/>
    <a:srgbClr val="84E290"/>
    <a:srgbClr val="EDE7EF"/>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59" autoAdjust="0"/>
    <p:restoredTop sz="95084" autoAdjust="0"/>
  </p:normalViewPr>
  <p:slideViewPr>
    <p:cSldViewPr snapToGrid="0" snapToObjects="1">
      <p:cViewPr varScale="1">
        <p:scale>
          <a:sx n="120" d="100"/>
          <a:sy n="120" d="100"/>
        </p:scale>
        <p:origin x="149" y="77"/>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De Palma" userId="dbbb45b4-0fa1-4b93-b33d-97fa693956a3" providerId="ADAL" clId="{AE935442-7754-48C8-A8F7-F9AB4765280B}"/>
    <pc:docChg chg="custSel addSld delSld modSld sldOrd">
      <pc:chgData name="Andrea De Palma" userId="dbbb45b4-0fa1-4b93-b33d-97fa693956a3" providerId="ADAL" clId="{AE935442-7754-48C8-A8F7-F9AB4765280B}" dt="2026-07-02T12:50:51.327" v="78" actId="478"/>
      <pc:docMkLst>
        <pc:docMk/>
      </pc:docMkLst>
      <pc:sldChg chg="modSp mod">
        <pc:chgData name="Andrea De Palma" userId="dbbb45b4-0fa1-4b93-b33d-97fa693956a3" providerId="ADAL" clId="{AE935442-7754-48C8-A8F7-F9AB4765280B}" dt="2026-06-30T09:01:06.480" v="3" actId="404"/>
        <pc:sldMkLst>
          <pc:docMk/>
          <pc:sldMk cId="0" sldId="256"/>
        </pc:sldMkLst>
        <pc:spChg chg="mod">
          <ac:chgData name="Andrea De Palma" userId="dbbb45b4-0fa1-4b93-b33d-97fa693956a3" providerId="ADAL" clId="{AE935442-7754-48C8-A8F7-F9AB4765280B}" dt="2026-06-30T09:01:06.480" v="3" actId="404"/>
          <ac:spMkLst>
            <pc:docMk/>
            <pc:sldMk cId="0" sldId="256"/>
            <ac:spMk id="2" creationId="{00000000-0000-0000-0000-000000000000}"/>
          </ac:spMkLst>
        </pc:spChg>
      </pc:sldChg>
      <pc:sldChg chg="ord">
        <pc:chgData name="Andrea De Palma" userId="dbbb45b4-0fa1-4b93-b33d-97fa693956a3" providerId="ADAL" clId="{AE935442-7754-48C8-A8F7-F9AB4765280B}" dt="2026-07-02T12:49:11.889" v="69"/>
        <pc:sldMkLst>
          <pc:docMk/>
          <pc:sldMk cId="104876406" sldId="317"/>
        </pc:sldMkLst>
      </pc:sldChg>
      <pc:sldChg chg="modSp mod ord">
        <pc:chgData name="Andrea De Palma" userId="dbbb45b4-0fa1-4b93-b33d-97fa693956a3" providerId="ADAL" clId="{AE935442-7754-48C8-A8F7-F9AB4765280B}" dt="2026-07-02T12:49:21.356" v="71"/>
        <pc:sldMkLst>
          <pc:docMk/>
          <pc:sldMk cId="3420990043" sldId="390"/>
        </pc:sldMkLst>
        <pc:graphicFrameChg chg="mod modGraphic">
          <ac:chgData name="Andrea De Palma" userId="dbbb45b4-0fa1-4b93-b33d-97fa693956a3" providerId="ADAL" clId="{AE935442-7754-48C8-A8F7-F9AB4765280B}" dt="2026-06-30T09:29:29.905" v="12" actId="20577"/>
          <ac:graphicFrameMkLst>
            <pc:docMk/>
            <pc:sldMk cId="3420990043" sldId="390"/>
            <ac:graphicFrameMk id="3" creationId="{7A08124B-9F9F-1A8C-A4F6-B17CE8052164}"/>
          </ac:graphicFrameMkLst>
        </pc:graphicFrameChg>
        <pc:graphicFrameChg chg="mod modGraphic">
          <ac:chgData name="Andrea De Palma" userId="dbbb45b4-0fa1-4b93-b33d-97fa693956a3" providerId="ADAL" clId="{AE935442-7754-48C8-A8F7-F9AB4765280B}" dt="2026-06-30T09:29:03.094" v="8" actId="20577"/>
          <ac:graphicFrameMkLst>
            <pc:docMk/>
            <pc:sldMk cId="3420990043" sldId="390"/>
            <ac:graphicFrameMk id="4" creationId="{995064B3-2901-5EB4-F679-C8DA11B94951}"/>
          </ac:graphicFrameMkLst>
        </pc:graphicFrameChg>
      </pc:sldChg>
      <pc:sldChg chg="ord">
        <pc:chgData name="Andrea De Palma" userId="dbbb45b4-0fa1-4b93-b33d-97fa693956a3" providerId="ADAL" clId="{AE935442-7754-48C8-A8F7-F9AB4765280B}" dt="2026-07-02T12:49:33.299" v="73"/>
        <pc:sldMkLst>
          <pc:docMk/>
          <pc:sldMk cId="2423323318" sldId="394"/>
        </pc:sldMkLst>
      </pc:sldChg>
      <pc:sldChg chg="modSp mod ord">
        <pc:chgData name="Andrea De Palma" userId="dbbb45b4-0fa1-4b93-b33d-97fa693956a3" providerId="ADAL" clId="{AE935442-7754-48C8-A8F7-F9AB4765280B}" dt="2026-06-30T09:36:31.474" v="65"/>
        <pc:sldMkLst>
          <pc:docMk/>
          <pc:sldMk cId="52293471" sldId="397"/>
        </pc:sldMkLst>
        <pc:spChg chg="mod">
          <ac:chgData name="Andrea De Palma" userId="dbbb45b4-0fa1-4b93-b33d-97fa693956a3" providerId="ADAL" clId="{AE935442-7754-48C8-A8F7-F9AB4765280B}" dt="2026-06-30T09:31:39.942" v="43" actId="20577"/>
          <ac:spMkLst>
            <pc:docMk/>
            <pc:sldMk cId="52293471" sldId="397"/>
            <ac:spMk id="9" creationId="{E5985546-E1B2-44D0-9631-C38519700349}"/>
          </ac:spMkLst>
        </pc:spChg>
      </pc:sldChg>
      <pc:sldChg chg="ord">
        <pc:chgData name="Andrea De Palma" userId="dbbb45b4-0fa1-4b93-b33d-97fa693956a3" providerId="ADAL" clId="{AE935442-7754-48C8-A8F7-F9AB4765280B}" dt="2026-06-30T09:31:16.305" v="18"/>
        <pc:sldMkLst>
          <pc:docMk/>
          <pc:sldMk cId="828429694" sldId="398"/>
        </pc:sldMkLst>
      </pc:sldChg>
      <pc:sldChg chg="ord">
        <pc:chgData name="Andrea De Palma" userId="dbbb45b4-0fa1-4b93-b33d-97fa693956a3" providerId="ADAL" clId="{AE935442-7754-48C8-A8F7-F9AB4765280B}" dt="2026-06-30T09:30:57.061" v="14"/>
        <pc:sldMkLst>
          <pc:docMk/>
          <pc:sldMk cId="2253545094" sldId="399"/>
        </pc:sldMkLst>
      </pc:sldChg>
      <pc:sldChg chg="ord">
        <pc:chgData name="Andrea De Palma" userId="dbbb45b4-0fa1-4b93-b33d-97fa693956a3" providerId="ADAL" clId="{AE935442-7754-48C8-A8F7-F9AB4765280B}" dt="2026-06-30T09:32:37.638" v="47"/>
        <pc:sldMkLst>
          <pc:docMk/>
          <pc:sldMk cId="3664583795" sldId="405"/>
        </pc:sldMkLst>
      </pc:sldChg>
      <pc:sldChg chg="delSp mod delAnim">
        <pc:chgData name="Andrea De Palma" userId="dbbb45b4-0fa1-4b93-b33d-97fa693956a3" providerId="ADAL" clId="{AE935442-7754-48C8-A8F7-F9AB4765280B}" dt="2026-07-02T12:50:51.327" v="78" actId="478"/>
        <pc:sldMkLst>
          <pc:docMk/>
          <pc:sldMk cId="2253594751" sldId="408"/>
        </pc:sldMkLst>
        <pc:spChg chg="del">
          <ac:chgData name="Andrea De Palma" userId="dbbb45b4-0fa1-4b93-b33d-97fa693956a3" providerId="ADAL" clId="{AE935442-7754-48C8-A8F7-F9AB4765280B}" dt="2026-07-02T12:50:51.327" v="78" actId="478"/>
          <ac:spMkLst>
            <pc:docMk/>
            <pc:sldMk cId="2253594751" sldId="408"/>
            <ac:spMk id="3" creationId="{891FD713-47C0-79C1-BAAF-283F1D892AB4}"/>
          </ac:spMkLst>
        </pc:spChg>
      </pc:sldChg>
      <pc:sldChg chg="ord">
        <pc:chgData name="Andrea De Palma" userId="dbbb45b4-0fa1-4b93-b33d-97fa693956a3" providerId="ADAL" clId="{AE935442-7754-48C8-A8F7-F9AB4765280B}" dt="2026-06-30T09:36:56.293" v="67"/>
        <pc:sldMkLst>
          <pc:docMk/>
          <pc:sldMk cId="1241879634" sldId="427"/>
        </pc:sldMkLst>
      </pc:sldChg>
      <pc:sldChg chg="ord">
        <pc:chgData name="Andrea De Palma" userId="dbbb45b4-0fa1-4b93-b33d-97fa693956a3" providerId="ADAL" clId="{AE935442-7754-48C8-A8F7-F9AB4765280B}" dt="2026-07-02T12:50:16.691" v="77"/>
        <pc:sldMkLst>
          <pc:docMk/>
          <pc:sldMk cId="2976171031" sldId="430"/>
        </pc:sldMkLst>
      </pc:sldChg>
      <pc:sldChg chg="modSp add mod ord">
        <pc:chgData name="Andrea De Palma" userId="dbbb45b4-0fa1-4b93-b33d-97fa693956a3" providerId="ADAL" clId="{AE935442-7754-48C8-A8F7-F9AB4765280B}" dt="2026-06-30T09:36:08.771" v="62" actId="20577"/>
        <pc:sldMkLst>
          <pc:docMk/>
          <pc:sldMk cId="3322769209" sldId="440"/>
        </pc:sldMkLst>
        <pc:spChg chg="mod">
          <ac:chgData name="Andrea De Palma" userId="dbbb45b4-0fa1-4b93-b33d-97fa693956a3" providerId="ADAL" clId="{AE935442-7754-48C8-A8F7-F9AB4765280B}" dt="2026-06-30T09:36:08.771" v="62" actId="20577"/>
          <ac:spMkLst>
            <pc:docMk/>
            <pc:sldMk cId="3322769209" sldId="440"/>
            <ac:spMk id="2" creationId="{9BCAE122-4BD6-3A82-424E-F2D17F9A6BC5}"/>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3E84D4-19DC-47CD-8271-8868B651B340}"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423CEBD6-A11B-4B1F-9F05-D82CC29D66BD}">
      <dgm:prSet/>
      <dgm:spPr/>
      <dgm:t>
        <a:bodyPr/>
        <a:lstStyle/>
        <a:p>
          <a:r>
            <a:rPr lang="en-US"/>
            <a:t>Background and project aim</a:t>
          </a:r>
          <a:endParaRPr lang="en-US" dirty="0"/>
        </a:p>
      </dgm:t>
    </dgm:pt>
    <dgm:pt modelId="{FFF6A6EE-71E8-4E8D-BE6B-96B5EC81504A}" type="parTrans" cxnId="{B2702BA8-7316-491A-98C5-608C29301BD5}">
      <dgm:prSet/>
      <dgm:spPr/>
      <dgm:t>
        <a:bodyPr/>
        <a:lstStyle/>
        <a:p>
          <a:endParaRPr lang="en-US"/>
        </a:p>
      </dgm:t>
    </dgm:pt>
    <dgm:pt modelId="{6136C6DE-6633-4396-ABF3-2E67FD9FB0E5}" type="sibTrans" cxnId="{B2702BA8-7316-491A-98C5-608C29301BD5}">
      <dgm:prSet/>
      <dgm:spPr/>
      <dgm:t>
        <a:bodyPr/>
        <a:lstStyle/>
        <a:p>
          <a:endParaRPr lang="en-US"/>
        </a:p>
      </dgm:t>
    </dgm:pt>
    <dgm:pt modelId="{6F091124-0317-4701-9361-8DA55059B2BC}">
      <dgm:prSet/>
      <dgm:spPr/>
      <dgm:t>
        <a:bodyPr/>
        <a:lstStyle/>
        <a:p>
          <a:r>
            <a:rPr lang="en-US"/>
            <a:t>Methodology</a:t>
          </a:r>
        </a:p>
      </dgm:t>
    </dgm:pt>
    <dgm:pt modelId="{25E1B524-13E0-4671-9D21-00FD343D0BEB}" type="parTrans" cxnId="{535CD429-2818-4434-B9B3-8ECA90EF8CBD}">
      <dgm:prSet/>
      <dgm:spPr/>
      <dgm:t>
        <a:bodyPr/>
        <a:lstStyle/>
        <a:p>
          <a:endParaRPr lang="en-US"/>
        </a:p>
      </dgm:t>
    </dgm:pt>
    <dgm:pt modelId="{E5D52CAA-9A5B-46ED-B6BE-6941D87A14FF}" type="sibTrans" cxnId="{535CD429-2818-4434-B9B3-8ECA90EF8CBD}">
      <dgm:prSet/>
      <dgm:spPr/>
      <dgm:t>
        <a:bodyPr/>
        <a:lstStyle/>
        <a:p>
          <a:endParaRPr lang="en-US"/>
        </a:p>
      </dgm:t>
    </dgm:pt>
    <dgm:pt modelId="{336873FB-8322-47E2-8223-4133C6EDEBBA}">
      <dgm:prSet/>
      <dgm:spPr/>
      <dgm:t>
        <a:bodyPr/>
        <a:lstStyle/>
        <a:p>
          <a:r>
            <a:rPr lang="en-US"/>
            <a:t>Results</a:t>
          </a:r>
        </a:p>
      </dgm:t>
    </dgm:pt>
    <dgm:pt modelId="{4BE5CB00-AC68-4B46-9E44-62E74076D458}" type="parTrans" cxnId="{E738F607-14C1-43C2-A331-AB850B8FA1EB}">
      <dgm:prSet/>
      <dgm:spPr/>
      <dgm:t>
        <a:bodyPr/>
        <a:lstStyle/>
        <a:p>
          <a:endParaRPr lang="en-US"/>
        </a:p>
      </dgm:t>
    </dgm:pt>
    <dgm:pt modelId="{CB1517CD-69D8-4C2F-8E5C-2FABFE9777BC}" type="sibTrans" cxnId="{E738F607-14C1-43C2-A331-AB850B8FA1EB}">
      <dgm:prSet/>
      <dgm:spPr/>
      <dgm:t>
        <a:bodyPr/>
        <a:lstStyle/>
        <a:p>
          <a:endParaRPr lang="en-US"/>
        </a:p>
      </dgm:t>
    </dgm:pt>
    <dgm:pt modelId="{C7DB0DD1-91AB-4FBF-89EB-F523B163D8F7}">
      <dgm:prSet/>
      <dgm:spPr/>
      <dgm:t>
        <a:bodyPr/>
        <a:lstStyle/>
        <a:p>
          <a:r>
            <a:rPr lang="en-US"/>
            <a:t>Discussion</a:t>
          </a:r>
        </a:p>
      </dgm:t>
    </dgm:pt>
    <dgm:pt modelId="{668D4DF0-DE82-447E-B17B-647128DB1B1A}" type="parTrans" cxnId="{6A0F02DD-86FB-48C8-9B6A-02DFC47C8D1C}">
      <dgm:prSet/>
      <dgm:spPr/>
      <dgm:t>
        <a:bodyPr/>
        <a:lstStyle/>
        <a:p>
          <a:endParaRPr lang="en-US"/>
        </a:p>
      </dgm:t>
    </dgm:pt>
    <dgm:pt modelId="{5B8396E3-ADF5-4583-B8AB-107566B7F5B9}" type="sibTrans" cxnId="{6A0F02DD-86FB-48C8-9B6A-02DFC47C8D1C}">
      <dgm:prSet/>
      <dgm:spPr/>
      <dgm:t>
        <a:bodyPr/>
        <a:lstStyle/>
        <a:p>
          <a:endParaRPr lang="en-US"/>
        </a:p>
      </dgm:t>
    </dgm:pt>
    <dgm:pt modelId="{4FBFA0A0-800A-418F-9DDE-EBA4D4999378}">
      <dgm:prSet/>
      <dgm:spPr/>
      <dgm:t>
        <a:bodyPr/>
        <a:lstStyle/>
        <a:p>
          <a:r>
            <a:rPr lang="en-US" dirty="0"/>
            <a:t>Q&amp;A</a:t>
          </a:r>
        </a:p>
      </dgm:t>
    </dgm:pt>
    <dgm:pt modelId="{3D679299-A27C-476A-A620-4475E8A35C6A}" type="parTrans" cxnId="{1E789E4E-5180-40AB-BBAE-0E9BC1DC44A4}">
      <dgm:prSet/>
      <dgm:spPr/>
      <dgm:t>
        <a:bodyPr/>
        <a:lstStyle/>
        <a:p>
          <a:endParaRPr lang="en-US"/>
        </a:p>
      </dgm:t>
    </dgm:pt>
    <dgm:pt modelId="{6A276915-1D92-4C59-9C2F-83387E421711}" type="sibTrans" cxnId="{1E789E4E-5180-40AB-BBAE-0E9BC1DC44A4}">
      <dgm:prSet/>
      <dgm:spPr/>
      <dgm:t>
        <a:bodyPr/>
        <a:lstStyle/>
        <a:p>
          <a:endParaRPr lang="en-US"/>
        </a:p>
      </dgm:t>
    </dgm:pt>
    <dgm:pt modelId="{845B9CC1-F2A0-47C4-BAA3-6B6EC80B9447}" type="pres">
      <dgm:prSet presAssocID="{C43E84D4-19DC-47CD-8271-8868B651B340}" presName="vert0" presStyleCnt="0">
        <dgm:presLayoutVars>
          <dgm:dir/>
          <dgm:animOne val="branch"/>
          <dgm:animLvl val="lvl"/>
        </dgm:presLayoutVars>
      </dgm:prSet>
      <dgm:spPr/>
    </dgm:pt>
    <dgm:pt modelId="{1AE53F6A-09BF-49A2-A78A-B471E0B1F928}" type="pres">
      <dgm:prSet presAssocID="{423CEBD6-A11B-4B1F-9F05-D82CC29D66BD}" presName="thickLine" presStyleLbl="alignNode1" presStyleIdx="0" presStyleCnt="5"/>
      <dgm:spPr/>
    </dgm:pt>
    <dgm:pt modelId="{3694F492-3154-49B1-BA45-5ECBDE7B3B02}" type="pres">
      <dgm:prSet presAssocID="{423CEBD6-A11B-4B1F-9F05-D82CC29D66BD}" presName="horz1" presStyleCnt="0"/>
      <dgm:spPr/>
    </dgm:pt>
    <dgm:pt modelId="{41EBD801-96D3-4FC9-B0F1-4BF7FE260D2D}" type="pres">
      <dgm:prSet presAssocID="{423CEBD6-A11B-4B1F-9F05-D82CC29D66BD}" presName="tx1" presStyleLbl="revTx" presStyleIdx="0" presStyleCnt="5"/>
      <dgm:spPr/>
    </dgm:pt>
    <dgm:pt modelId="{06ED3DF9-6AFA-4DC3-BA13-1C903D37C744}" type="pres">
      <dgm:prSet presAssocID="{423CEBD6-A11B-4B1F-9F05-D82CC29D66BD}" presName="vert1" presStyleCnt="0"/>
      <dgm:spPr/>
    </dgm:pt>
    <dgm:pt modelId="{5E6F0AE0-96CA-497B-9795-A41CEEA2E63F}" type="pres">
      <dgm:prSet presAssocID="{6F091124-0317-4701-9361-8DA55059B2BC}" presName="thickLine" presStyleLbl="alignNode1" presStyleIdx="1" presStyleCnt="5"/>
      <dgm:spPr/>
    </dgm:pt>
    <dgm:pt modelId="{DA19B12A-E8AA-4337-827C-90837B617E3A}" type="pres">
      <dgm:prSet presAssocID="{6F091124-0317-4701-9361-8DA55059B2BC}" presName="horz1" presStyleCnt="0"/>
      <dgm:spPr/>
    </dgm:pt>
    <dgm:pt modelId="{EF08367A-393C-4A1E-A3FB-1D535F5EF0F4}" type="pres">
      <dgm:prSet presAssocID="{6F091124-0317-4701-9361-8DA55059B2BC}" presName="tx1" presStyleLbl="revTx" presStyleIdx="1" presStyleCnt="5"/>
      <dgm:spPr/>
    </dgm:pt>
    <dgm:pt modelId="{679D7C76-0E2D-4D05-B503-3C37E6A45820}" type="pres">
      <dgm:prSet presAssocID="{6F091124-0317-4701-9361-8DA55059B2BC}" presName="vert1" presStyleCnt="0"/>
      <dgm:spPr/>
    </dgm:pt>
    <dgm:pt modelId="{8BED15E9-4D84-4E55-81F4-2BACAC303614}" type="pres">
      <dgm:prSet presAssocID="{336873FB-8322-47E2-8223-4133C6EDEBBA}" presName="thickLine" presStyleLbl="alignNode1" presStyleIdx="2" presStyleCnt="5"/>
      <dgm:spPr/>
    </dgm:pt>
    <dgm:pt modelId="{1BA6D508-7EEB-45AA-88B9-3F04278B6399}" type="pres">
      <dgm:prSet presAssocID="{336873FB-8322-47E2-8223-4133C6EDEBBA}" presName="horz1" presStyleCnt="0"/>
      <dgm:spPr/>
    </dgm:pt>
    <dgm:pt modelId="{12936584-2F6C-4EA2-9547-088E68068B2F}" type="pres">
      <dgm:prSet presAssocID="{336873FB-8322-47E2-8223-4133C6EDEBBA}" presName="tx1" presStyleLbl="revTx" presStyleIdx="2" presStyleCnt="5"/>
      <dgm:spPr/>
    </dgm:pt>
    <dgm:pt modelId="{01CD993F-6A17-4321-BEC6-EB7095028669}" type="pres">
      <dgm:prSet presAssocID="{336873FB-8322-47E2-8223-4133C6EDEBBA}" presName="vert1" presStyleCnt="0"/>
      <dgm:spPr/>
    </dgm:pt>
    <dgm:pt modelId="{5CAE7371-A42A-4610-A550-85D137C96FB7}" type="pres">
      <dgm:prSet presAssocID="{C7DB0DD1-91AB-4FBF-89EB-F523B163D8F7}" presName="thickLine" presStyleLbl="alignNode1" presStyleIdx="3" presStyleCnt="5"/>
      <dgm:spPr/>
    </dgm:pt>
    <dgm:pt modelId="{5A7E8B22-DD6D-4765-953E-214CBC79C14C}" type="pres">
      <dgm:prSet presAssocID="{C7DB0DD1-91AB-4FBF-89EB-F523B163D8F7}" presName="horz1" presStyleCnt="0"/>
      <dgm:spPr/>
    </dgm:pt>
    <dgm:pt modelId="{FD3F0F4E-7411-4ED1-9351-194FB43019A7}" type="pres">
      <dgm:prSet presAssocID="{C7DB0DD1-91AB-4FBF-89EB-F523B163D8F7}" presName="tx1" presStyleLbl="revTx" presStyleIdx="3" presStyleCnt="5"/>
      <dgm:spPr/>
    </dgm:pt>
    <dgm:pt modelId="{D57FD955-0919-437B-960A-F0E51D2BEDA8}" type="pres">
      <dgm:prSet presAssocID="{C7DB0DD1-91AB-4FBF-89EB-F523B163D8F7}" presName="vert1" presStyleCnt="0"/>
      <dgm:spPr/>
    </dgm:pt>
    <dgm:pt modelId="{F47B3973-6AFB-4252-B9C8-D51CD4D7E708}" type="pres">
      <dgm:prSet presAssocID="{4FBFA0A0-800A-418F-9DDE-EBA4D4999378}" presName="thickLine" presStyleLbl="alignNode1" presStyleIdx="4" presStyleCnt="5"/>
      <dgm:spPr/>
    </dgm:pt>
    <dgm:pt modelId="{B002E551-D5DC-4638-9BE8-3110145016FD}" type="pres">
      <dgm:prSet presAssocID="{4FBFA0A0-800A-418F-9DDE-EBA4D4999378}" presName="horz1" presStyleCnt="0"/>
      <dgm:spPr/>
    </dgm:pt>
    <dgm:pt modelId="{EAE7F060-2E20-4BD2-9841-280DD3CA9416}" type="pres">
      <dgm:prSet presAssocID="{4FBFA0A0-800A-418F-9DDE-EBA4D4999378}" presName="tx1" presStyleLbl="revTx" presStyleIdx="4" presStyleCnt="5"/>
      <dgm:spPr/>
    </dgm:pt>
    <dgm:pt modelId="{9931C332-88EF-4904-84AF-23456936B800}" type="pres">
      <dgm:prSet presAssocID="{4FBFA0A0-800A-418F-9DDE-EBA4D4999378}" presName="vert1" presStyleCnt="0"/>
      <dgm:spPr/>
    </dgm:pt>
  </dgm:ptLst>
  <dgm:cxnLst>
    <dgm:cxn modelId="{E738F607-14C1-43C2-A331-AB850B8FA1EB}" srcId="{C43E84D4-19DC-47CD-8271-8868B651B340}" destId="{336873FB-8322-47E2-8223-4133C6EDEBBA}" srcOrd="2" destOrd="0" parTransId="{4BE5CB00-AC68-4B46-9E44-62E74076D458}" sibTransId="{CB1517CD-69D8-4C2F-8E5C-2FABFE9777BC}"/>
    <dgm:cxn modelId="{535CD429-2818-4434-B9B3-8ECA90EF8CBD}" srcId="{C43E84D4-19DC-47CD-8271-8868B651B340}" destId="{6F091124-0317-4701-9361-8DA55059B2BC}" srcOrd="1" destOrd="0" parTransId="{25E1B524-13E0-4671-9D21-00FD343D0BEB}" sibTransId="{E5D52CAA-9A5B-46ED-B6BE-6941D87A14FF}"/>
    <dgm:cxn modelId="{BA925641-0B13-4AEC-96DE-7288306874C7}" type="presOf" srcId="{423CEBD6-A11B-4B1F-9F05-D82CC29D66BD}" destId="{41EBD801-96D3-4FC9-B0F1-4BF7FE260D2D}" srcOrd="0" destOrd="0" presId="urn:microsoft.com/office/officeart/2008/layout/LinedList"/>
    <dgm:cxn modelId="{046EDD6A-CB71-40A3-A3FF-9CEA4FCCDBB9}" type="presOf" srcId="{336873FB-8322-47E2-8223-4133C6EDEBBA}" destId="{12936584-2F6C-4EA2-9547-088E68068B2F}" srcOrd="0" destOrd="0" presId="urn:microsoft.com/office/officeart/2008/layout/LinedList"/>
    <dgm:cxn modelId="{1E789E4E-5180-40AB-BBAE-0E9BC1DC44A4}" srcId="{C43E84D4-19DC-47CD-8271-8868B651B340}" destId="{4FBFA0A0-800A-418F-9DDE-EBA4D4999378}" srcOrd="4" destOrd="0" parTransId="{3D679299-A27C-476A-A620-4475E8A35C6A}" sibTransId="{6A276915-1D92-4C59-9C2F-83387E421711}"/>
    <dgm:cxn modelId="{6E123B85-3FF4-4B8B-869F-FDFA483FA346}" type="presOf" srcId="{C7DB0DD1-91AB-4FBF-89EB-F523B163D8F7}" destId="{FD3F0F4E-7411-4ED1-9351-194FB43019A7}" srcOrd="0" destOrd="0" presId="urn:microsoft.com/office/officeart/2008/layout/LinedList"/>
    <dgm:cxn modelId="{B2702BA8-7316-491A-98C5-608C29301BD5}" srcId="{C43E84D4-19DC-47CD-8271-8868B651B340}" destId="{423CEBD6-A11B-4B1F-9F05-D82CC29D66BD}" srcOrd="0" destOrd="0" parTransId="{FFF6A6EE-71E8-4E8D-BE6B-96B5EC81504A}" sibTransId="{6136C6DE-6633-4396-ABF3-2E67FD9FB0E5}"/>
    <dgm:cxn modelId="{3886C3B8-A8A8-4F31-B21F-FA4BB0D5972A}" type="presOf" srcId="{4FBFA0A0-800A-418F-9DDE-EBA4D4999378}" destId="{EAE7F060-2E20-4BD2-9841-280DD3CA9416}" srcOrd="0" destOrd="0" presId="urn:microsoft.com/office/officeart/2008/layout/LinedList"/>
    <dgm:cxn modelId="{8477B6D7-B8D8-4005-AA94-ABE3151D13F0}" type="presOf" srcId="{6F091124-0317-4701-9361-8DA55059B2BC}" destId="{EF08367A-393C-4A1E-A3FB-1D535F5EF0F4}" srcOrd="0" destOrd="0" presId="urn:microsoft.com/office/officeart/2008/layout/LinedList"/>
    <dgm:cxn modelId="{6A0F02DD-86FB-48C8-9B6A-02DFC47C8D1C}" srcId="{C43E84D4-19DC-47CD-8271-8868B651B340}" destId="{C7DB0DD1-91AB-4FBF-89EB-F523B163D8F7}" srcOrd="3" destOrd="0" parTransId="{668D4DF0-DE82-447E-B17B-647128DB1B1A}" sibTransId="{5B8396E3-ADF5-4583-B8AB-107566B7F5B9}"/>
    <dgm:cxn modelId="{6715E5EC-2B76-4F0A-9494-8F2313CAE785}" type="presOf" srcId="{C43E84D4-19DC-47CD-8271-8868B651B340}" destId="{845B9CC1-F2A0-47C4-BAA3-6B6EC80B9447}" srcOrd="0" destOrd="0" presId="urn:microsoft.com/office/officeart/2008/layout/LinedList"/>
    <dgm:cxn modelId="{4CC68E91-0795-435D-ABD9-A12C3F00DB13}" type="presParOf" srcId="{845B9CC1-F2A0-47C4-BAA3-6B6EC80B9447}" destId="{1AE53F6A-09BF-49A2-A78A-B471E0B1F928}" srcOrd="0" destOrd="0" presId="urn:microsoft.com/office/officeart/2008/layout/LinedList"/>
    <dgm:cxn modelId="{B24BD730-A319-4B88-81C7-ACB79E4DE14E}" type="presParOf" srcId="{845B9CC1-F2A0-47C4-BAA3-6B6EC80B9447}" destId="{3694F492-3154-49B1-BA45-5ECBDE7B3B02}" srcOrd="1" destOrd="0" presId="urn:microsoft.com/office/officeart/2008/layout/LinedList"/>
    <dgm:cxn modelId="{671D63AD-3642-433E-B4D9-9B1B1C314EFC}" type="presParOf" srcId="{3694F492-3154-49B1-BA45-5ECBDE7B3B02}" destId="{41EBD801-96D3-4FC9-B0F1-4BF7FE260D2D}" srcOrd="0" destOrd="0" presId="urn:microsoft.com/office/officeart/2008/layout/LinedList"/>
    <dgm:cxn modelId="{6DE8F3A7-08C5-4ABC-864C-8E0BA9C981CE}" type="presParOf" srcId="{3694F492-3154-49B1-BA45-5ECBDE7B3B02}" destId="{06ED3DF9-6AFA-4DC3-BA13-1C903D37C744}" srcOrd="1" destOrd="0" presId="urn:microsoft.com/office/officeart/2008/layout/LinedList"/>
    <dgm:cxn modelId="{0EA8E71F-2745-4D7B-B151-126DA34735F7}" type="presParOf" srcId="{845B9CC1-F2A0-47C4-BAA3-6B6EC80B9447}" destId="{5E6F0AE0-96CA-497B-9795-A41CEEA2E63F}" srcOrd="2" destOrd="0" presId="urn:microsoft.com/office/officeart/2008/layout/LinedList"/>
    <dgm:cxn modelId="{0B8B108F-B83C-44F3-825A-A86E0AF728A0}" type="presParOf" srcId="{845B9CC1-F2A0-47C4-BAA3-6B6EC80B9447}" destId="{DA19B12A-E8AA-4337-827C-90837B617E3A}" srcOrd="3" destOrd="0" presId="urn:microsoft.com/office/officeart/2008/layout/LinedList"/>
    <dgm:cxn modelId="{A1773789-0D6F-47D6-9332-9BC22599B935}" type="presParOf" srcId="{DA19B12A-E8AA-4337-827C-90837B617E3A}" destId="{EF08367A-393C-4A1E-A3FB-1D535F5EF0F4}" srcOrd="0" destOrd="0" presId="urn:microsoft.com/office/officeart/2008/layout/LinedList"/>
    <dgm:cxn modelId="{4CAA4A51-5350-465B-82C6-58FD0503C52A}" type="presParOf" srcId="{DA19B12A-E8AA-4337-827C-90837B617E3A}" destId="{679D7C76-0E2D-4D05-B503-3C37E6A45820}" srcOrd="1" destOrd="0" presId="urn:microsoft.com/office/officeart/2008/layout/LinedList"/>
    <dgm:cxn modelId="{A58692D6-97A1-4884-AECC-87DCF6BC4C3D}" type="presParOf" srcId="{845B9CC1-F2A0-47C4-BAA3-6B6EC80B9447}" destId="{8BED15E9-4D84-4E55-81F4-2BACAC303614}" srcOrd="4" destOrd="0" presId="urn:microsoft.com/office/officeart/2008/layout/LinedList"/>
    <dgm:cxn modelId="{A0029AB0-4DFF-4CE6-BF27-07E5ECF20A3A}" type="presParOf" srcId="{845B9CC1-F2A0-47C4-BAA3-6B6EC80B9447}" destId="{1BA6D508-7EEB-45AA-88B9-3F04278B6399}" srcOrd="5" destOrd="0" presId="urn:microsoft.com/office/officeart/2008/layout/LinedList"/>
    <dgm:cxn modelId="{DE949402-E6BC-40C1-A03A-61DFC8EA3A37}" type="presParOf" srcId="{1BA6D508-7EEB-45AA-88B9-3F04278B6399}" destId="{12936584-2F6C-4EA2-9547-088E68068B2F}" srcOrd="0" destOrd="0" presId="urn:microsoft.com/office/officeart/2008/layout/LinedList"/>
    <dgm:cxn modelId="{19C59FDB-42F9-422A-AFE4-2A61061D409D}" type="presParOf" srcId="{1BA6D508-7EEB-45AA-88B9-3F04278B6399}" destId="{01CD993F-6A17-4321-BEC6-EB7095028669}" srcOrd="1" destOrd="0" presId="urn:microsoft.com/office/officeart/2008/layout/LinedList"/>
    <dgm:cxn modelId="{F144C3B3-C984-47D2-9307-52C9D1A85BD5}" type="presParOf" srcId="{845B9CC1-F2A0-47C4-BAA3-6B6EC80B9447}" destId="{5CAE7371-A42A-4610-A550-85D137C96FB7}" srcOrd="6" destOrd="0" presId="urn:microsoft.com/office/officeart/2008/layout/LinedList"/>
    <dgm:cxn modelId="{42450ACF-A660-411C-813D-AF593AAF1098}" type="presParOf" srcId="{845B9CC1-F2A0-47C4-BAA3-6B6EC80B9447}" destId="{5A7E8B22-DD6D-4765-953E-214CBC79C14C}" srcOrd="7" destOrd="0" presId="urn:microsoft.com/office/officeart/2008/layout/LinedList"/>
    <dgm:cxn modelId="{59219DE0-4ED4-4027-8EF5-ACB0E69168DC}" type="presParOf" srcId="{5A7E8B22-DD6D-4765-953E-214CBC79C14C}" destId="{FD3F0F4E-7411-4ED1-9351-194FB43019A7}" srcOrd="0" destOrd="0" presId="urn:microsoft.com/office/officeart/2008/layout/LinedList"/>
    <dgm:cxn modelId="{98500E65-6569-4D86-A4C3-EEA7B26B5F06}" type="presParOf" srcId="{5A7E8B22-DD6D-4765-953E-214CBC79C14C}" destId="{D57FD955-0919-437B-960A-F0E51D2BEDA8}" srcOrd="1" destOrd="0" presId="urn:microsoft.com/office/officeart/2008/layout/LinedList"/>
    <dgm:cxn modelId="{3E02EB34-AEB1-4313-A8AA-DAF767956BA4}" type="presParOf" srcId="{845B9CC1-F2A0-47C4-BAA3-6B6EC80B9447}" destId="{F47B3973-6AFB-4252-B9C8-D51CD4D7E708}" srcOrd="8" destOrd="0" presId="urn:microsoft.com/office/officeart/2008/layout/LinedList"/>
    <dgm:cxn modelId="{289CBBD8-BCEF-41E0-9700-01C6EB516CD5}" type="presParOf" srcId="{845B9CC1-F2A0-47C4-BAA3-6B6EC80B9447}" destId="{B002E551-D5DC-4638-9BE8-3110145016FD}" srcOrd="9" destOrd="0" presId="urn:microsoft.com/office/officeart/2008/layout/LinedList"/>
    <dgm:cxn modelId="{2608A680-59C3-4E38-A2F1-3DBFCF9C4764}" type="presParOf" srcId="{B002E551-D5DC-4638-9BE8-3110145016FD}" destId="{EAE7F060-2E20-4BD2-9841-280DD3CA9416}" srcOrd="0" destOrd="0" presId="urn:microsoft.com/office/officeart/2008/layout/LinedList"/>
    <dgm:cxn modelId="{B64974F8-472A-46BF-BAE7-4A96DC1CE393}" type="presParOf" srcId="{B002E551-D5DC-4638-9BE8-3110145016FD}" destId="{9931C332-88EF-4904-84AF-23456936B80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C49556-C6F7-4583-9803-1C2761BCB8C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F1A8D8A-684F-474D-830D-FDA9C8E82F18}">
      <dgm:prSet/>
      <dgm:spPr/>
      <dgm:t>
        <a:bodyPr/>
        <a:lstStyle/>
        <a:p>
          <a:r>
            <a:rPr lang="en-GB" dirty="0"/>
            <a:t>Economic evaluations (EE) advocated to be used in long-term care (LTC) and non-curative settings</a:t>
          </a:r>
          <a:endParaRPr lang="en-US" dirty="0"/>
        </a:p>
      </dgm:t>
    </dgm:pt>
    <dgm:pt modelId="{D8249075-FB5E-4D90-9B0C-8CDE664A744F}" type="parTrans" cxnId="{177944C0-E81D-41A4-85BF-744A3D60506E}">
      <dgm:prSet/>
      <dgm:spPr/>
      <dgm:t>
        <a:bodyPr/>
        <a:lstStyle/>
        <a:p>
          <a:endParaRPr lang="en-US"/>
        </a:p>
      </dgm:t>
    </dgm:pt>
    <dgm:pt modelId="{98086C22-ECCD-4389-9152-F0FBE013F540}" type="sibTrans" cxnId="{177944C0-E81D-41A4-85BF-744A3D60506E}">
      <dgm:prSet/>
      <dgm:spPr/>
      <dgm:t>
        <a:bodyPr/>
        <a:lstStyle/>
        <a:p>
          <a:endParaRPr lang="en-US"/>
        </a:p>
      </dgm:t>
    </dgm:pt>
    <dgm:pt modelId="{E1998E21-89A1-4C73-BF12-B3EB2BA2E61D}">
      <dgm:prSet/>
      <dgm:spPr/>
      <dgm:t>
        <a:bodyPr/>
        <a:lstStyle/>
        <a:p>
          <a:r>
            <a:rPr lang="en-US" dirty="0"/>
            <a:t>Current outcome measures are inadequate given their focus on (physical) health</a:t>
          </a:r>
        </a:p>
      </dgm:t>
    </dgm:pt>
    <dgm:pt modelId="{BCF5A7FA-E27C-4CFC-9A2D-AD2AA64B9461}" type="parTrans" cxnId="{03D2C2E4-E618-47CF-9A75-D00E0975EFEE}">
      <dgm:prSet/>
      <dgm:spPr/>
      <dgm:t>
        <a:bodyPr/>
        <a:lstStyle/>
        <a:p>
          <a:endParaRPr lang="en-US"/>
        </a:p>
      </dgm:t>
    </dgm:pt>
    <dgm:pt modelId="{B749CBF2-42A1-4758-A043-57C6145C96A3}" type="sibTrans" cxnId="{03D2C2E4-E618-47CF-9A75-D00E0975EFEE}">
      <dgm:prSet/>
      <dgm:spPr/>
      <dgm:t>
        <a:bodyPr/>
        <a:lstStyle/>
        <a:p>
          <a:endParaRPr lang="en-US"/>
        </a:p>
      </dgm:t>
    </dgm:pt>
    <dgm:pt modelId="{67A457FC-F2AF-4267-A1B4-ED72E67A7230}">
      <dgm:prSet/>
      <dgm:spPr/>
      <dgm:t>
        <a:bodyPr/>
        <a:lstStyle/>
        <a:p>
          <a:r>
            <a:rPr lang="en-GB" dirty="0"/>
            <a:t>Extending applications of EE to LTC settings will require focusing on broader outcomes, such as well-being </a:t>
          </a:r>
          <a:endParaRPr lang="en-US" dirty="0"/>
        </a:p>
      </dgm:t>
    </dgm:pt>
    <dgm:pt modelId="{FF406CEF-B7D5-41C1-A415-09F005C995BA}" type="parTrans" cxnId="{B7000C3D-DA0D-4E29-A0E6-F8E2D1702013}">
      <dgm:prSet/>
      <dgm:spPr/>
      <dgm:t>
        <a:bodyPr/>
        <a:lstStyle/>
        <a:p>
          <a:endParaRPr lang="en-US"/>
        </a:p>
      </dgm:t>
    </dgm:pt>
    <dgm:pt modelId="{52B5D71E-51DB-4336-A495-06F24FF0C196}" type="sibTrans" cxnId="{B7000C3D-DA0D-4E29-A0E6-F8E2D1702013}">
      <dgm:prSet/>
      <dgm:spPr/>
      <dgm:t>
        <a:bodyPr/>
        <a:lstStyle/>
        <a:p>
          <a:endParaRPr lang="en-US"/>
        </a:p>
      </dgm:t>
    </dgm:pt>
    <dgm:pt modelId="{198C40C7-774A-4FE2-BF14-C82B0D36C11E}" type="pres">
      <dgm:prSet presAssocID="{DCC49556-C6F7-4583-9803-1C2761BCB8C0}" presName="root" presStyleCnt="0">
        <dgm:presLayoutVars>
          <dgm:dir/>
          <dgm:resizeHandles val="exact"/>
        </dgm:presLayoutVars>
      </dgm:prSet>
      <dgm:spPr/>
    </dgm:pt>
    <dgm:pt modelId="{C53551F1-9EE1-4854-8720-021120F9685F}" type="pres">
      <dgm:prSet presAssocID="{1F1A8D8A-684F-474D-830D-FDA9C8E82F18}" presName="compNode" presStyleCnt="0"/>
      <dgm:spPr/>
    </dgm:pt>
    <dgm:pt modelId="{670D23FE-8E42-4119-A30D-2BEC1543683E}" type="pres">
      <dgm:prSet presAssocID="{1F1A8D8A-684F-474D-830D-FDA9C8E82F18}"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D8DDEF4-C0A1-49B1-8A11-CE39E9078B01}" type="pres">
      <dgm:prSet presAssocID="{1F1A8D8A-684F-474D-830D-FDA9C8E82F18}" presName="spaceRect" presStyleCnt="0"/>
      <dgm:spPr/>
    </dgm:pt>
    <dgm:pt modelId="{B43A715F-62A4-4306-8633-637DE0546470}" type="pres">
      <dgm:prSet presAssocID="{1F1A8D8A-684F-474D-830D-FDA9C8E82F18}" presName="textRect" presStyleLbl="revTx" presStyleIdx="0" presStyleCnt="3">
        <dgm:presLayoutVars>
          <dgm:chMax val="1"/>
          <dgm:chPref val="1"/>
        </dgm:presLayoutVars>
      </dgm:prSet>
      <dgm:spPr/>
    </dgm:pt>
    <dgm:pt modelId="{799DA3B2-471E-4A4C-8410-211909E2271E}" type="pres">
      <dgm:prSet presAssocID="{98086C22-ECCD-4389-9152-F0FBE013F540}" presName="sibTrans" presStyleCnt="0"/>
      <dgm:spPr/>
    </dgm:pt>
    <dgm:pt modelId="{641E3F56-5D28-4071-9B5D-A3CD0AB2B5F5}" type="pres">
      <dgm:prSet presAssocID="{E1998E21-89A1-4C73-BF12-B3EB2BA2E61D}" presName="compNode" presStyleCnt="0"/>
      <dgm:spPr/>
    </dgm:pt>
    <dgm:pt modelId="{2C4C7F15-4867-437F-AAD1-EBE859D1D492}" type="pres">
      <dgm:prSet presAssocID="{E1998E21-89A1-4C73-BF12-B3EB2BA2E61D}"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1B334F7C-35F2-4433-98B5-10D0BD0DF45C}" type="pres">
      <dgm:prSet presAssocID="{E1998E21-89A1-4C73-BF12-B3EB2BA2E61D}" presName="spaceRect" presStyleCnt="0"/>
      <dgm:spPr/>
    </dgm:pt>
    <dgm:pt modelId="{AC66103C-F821-4D52-8171-4F526828A44E}" type="pres">
      <dgm:prSet presAssocID="{E1998E21-89A1-4C73-BF12-B3EB2BA2E61D}" presName="textRect" presStyleLbl="revTx" presStyleIdx="1" presStyleCnt="3">
        <dgm:presLayoutVars>
          <dgm:chMax val="1"/>
          <dgm:chPref val="1"/>
        </dgm:presLayoutVars>
      </dgm:prSet>
      <dgm:spPr/>
    </dgm:pt>
    <dgm:pt modelId="{7DF7BC33-A63A-4FA8-8781-26B2130AE9D2}" type="pres">
      <dgm:prSet presAssocID="{B749CBF2-42A1-4758-A043-57C6145C96A3}" presName="sibTrans" presStyleCnt="0"/>
      <dgm:spPr/>
    </dgm:pt>
    <dgm:pt modelId="{BB22265D-4CA7-47F2-8FBB-6A61CDE62A5F}" type="pres">
      <dgm:prSet presAssocID="{67A457FC-F2AF-4267-A1B4-ED72E67A7230}" presName="compNode" presStyleCnt="0"/>
      <dgm:spPr/>
    </dgm:pt>
    <dgm:pt modelId="{10E2E386-C7C2-40F9-B677-CAA4E8FE6707}" type="pres">
      <dgm:prSet presAssocID="{67A457FC-F2AF-4267-A1B4-ED72E67A7230}"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Care with solid fill"/>
        </a:ext>
      </dgm:extLst>
    </dgm:pt>
    <dgm:pt modelId="{68ED96FD-300C-4085-90FD-E73DC18A8B3C}" type="pres">
      <dgm:prSet presAssocID="{67A457FC-F2AF-4267-A1B4-ED72E67A7230}" presName="spaceRect" presStyleCnt="0"/>
      <dgm:spPr/>
    </dgm:pt>
    <dgm:pt modelId="{436D0AE9-4DD0-4F7D-8B79-C1A759F92750}" type="pres">
      <dgm:prSet presAssocID="{67A457FC-F2AF-4267-A1B4-ED72E67A7230}" presName="textRect" presStyleLbl="revTx" presStyleIdx="2" presStyleCnt="3">
        <dgm:presLayoutVars>
          <dgm:chMax val="1"/>
          <dgm:chPref val="1"/>
        </dgm:presLayoutVars>
      </dgm:prSet>
      <dgm:spPr/>
    </dgm:pt>
  </dgm:ptLst>
  <dgm:cxnLst>
    <dgm:cxn modelId="{137F4039-C533-43EF-A45E-0A96A91650F5}" type="presOf" srcId="{1F1A8D8A-684F-474D-830D-FDA9C8E82F18}" destId="{B43A715F-62A4-4306-8633-637DE0546470}" srcOrd="0" destOrd="0" presId="urn:microsoft.com/office/officeart/2018/2/layout/IconLabelList"/>
    <dgm:cxn modelId="{B7000C3D-DA0D-4E29-A0E6-F8E2D1702013}" srcId="{DCC49556-C6F7-4583-9803-1C2761BCB8C0}" destId="{67A457FC-F2AF-4267-A1B4-ED72E67A7230}" srcOrd="2" destOrd="0" parTransId="{FF406CEF-B7D5-41C1-A415-09F005C995BA}" sibTransId="{52B5D71E-51DB-4336-A495-06F24FF0C196}"/>
    <dgm:cxn modelId="{AF5D2068-2101-4942-811E-3FC14DCC5365}" type="presOf" srcId="{67A457FC-F2AF-4267-A1B4-ED72E67A7230}" destId="{436D0AE9-4DD0-4F7D-8B79-C1A759F92750}" srcOrd="0" destOrd="0" presId="urn:microsoft.com/office/officeart/2018/2/layout/IconLabelList"/>
    <dgm:cxn modelId="{177944C0-E81D-41A4-85BF-744A3D60506E}" srcId="{DCC49556-C6F7-4583-9803-1C2761BCB8C0}" destId="{1F1A8D8A-684F-474D-830D-FDA9C8E82F18}" srcOrd="0" destOrd="0" parTransId="{D8249075-FB5E-4D90-9B0C-8CDE664A744F}" sibTransId="{98086C22-ECCD-4389-9152-F0FBE013F540}"/>
    <dgm:cxn modelId="{31AAF2CC-41BF-4F5D-974B-8B968F3C53A5}" type="presOf" srcId="{DCC49556-C6F7-4583-9803-1C2761BCB8C0}" destId="{198C40C7-774A-4FE2-BF14-C82B0D36C11E}" srcOrd="0" destOrd="0" presId="urn:microsoft.com/office/officeart/2018/2/layout/IconLabelList"/>
    <dgm:cxn modelId="{03D2C2E4-E618-47CF-9A75-D00E0975EFEE}" srcId="{DCC49556-C6F7-4583-9803-1C2761BCB8C0}" destId="{E1998E21-89A1-4C73-BF12-B3EB2BA2E61D}" srcOrd="1" destOrd="0" parTransId="{BCF5A7FA-E27C-4CFC-9A2D-AD2AA64B9461}" sibTransId="{B749CBF2-42A1-4758-A043-57C6145C96A3}"/>
    <dgm:cxn modelId="{5BC989FA-7B44-4B95-88BF-E69B264FDFF9}" type="presOf" srcId="{E1998E21-89A1-4C73-BF12-B3EB2BA2E61D}" destId="{AC66103C-F821-4D52-8171-4F526828A44E}" srcOrd="0" destOrd="0" presId="urn:microsoft.com/office/officeart/2018/2/layout/IconLabelList"/>
    <dgm:cxn modelId="{58632D83-F7D4-4626-897D-BE033631FFE8}" type="presParOf" srcId="{198C40C7-774A-4FE2-BF14-C82B0D36C11E}" destId="{C53551F1-9EE1-4854-8720-021120F9685F}" srcOrd="0" destOrd="0" presId="urn:microsoft.com/office/officeart/2018/2/layout/IconLabelList"/>
    <dgm:cxn modelId="{1896A840-3950-409C-A86F-6D1A9F733ADE}" type="presParOf" srcId="{C53551F1-9EE1-4854-8720-021120F9685F}" destId="{670D23FE-8E42-4119-A30D-2BEC1543683E}" srcOrd="0" destOrd="0" presId="urn:microsoft.com/office/officeart/2018/2/layout/IconLabelList"/>
    <dgm:cxn modelId="{5324B538-84EA-47F6-8CE8-6C6E25E00DC3}" type="presParOf" srcId="{C53551F1-9EE1-4854-8720-021120F9685F}" destId="{4D8DDEF4-C0A1-49B1-8A11-CE39E9078B01}" srcOrd="1" destOrd="0" presId="urn:microsoft.com/office/officeart/2018/2/layout/IconLabelList"/>
    <dgm:cxn modelId="{FBFA3BB8-364B-49ED-A54A-33DB1E688B8A}" type="presParOf" srcId="{C53551F1-9EE1-4854-8720-021120F9685F}" destId="{B43A715F-62A4-4306-8633-637DE0546470}" srcOrd="2" destOrd="0" presId="urn:microsoft.com/office/officeart/2018/2/layout/IconLabelList"/>
    <dgm:cxn modelId="{8EBA1F8C-236B-4E86-98A7-E60607268CC7}" type="presParOf" srcId="{198C40C7-774A-4FE2-BF14-C82B0D36C11E}" destId="{799DA3B2-471E-4A4C-8410-211909E2271E}" srcOrd="1" destOrd="0" presId="urn:microsoft.com/office/officeart/2018/2/layout/IconLabelList"/>
    <dgm:cxn modelId="{E542F80B-D0AB-4258-9E32-90356CF7E462}" type="presParOf" srcId="{198C40C7-774A-4FE2-BF14-C82B0D36C11E}" destId="{641E3F56-5D28-4071-9B5D-A3CD0AB2B5F5}" srcOrd="2" destOrd="0" presId="urn:microsoft.com/office/officeart/2018/2/layout/IconLabelList"/>
    <dgm:cxn modelId="{EC4FC617-1F39-4C99-A9A8-671D77D653AC}" type="presParOf" srcId="{641E3F56-5D28-4071-9B5D-A3CD0AB2B5F5}" destId="{2C4C7F15-4867-437F-AAD1-EBE859D1D492}" srcOrd="0" destOrd="0" presId="urn:microsoft.com/office/officeart/2018/2/layout/IconLabelList"/>
    <dgm:cxn modelId="{7EA61A93-A135-4C8B-8561-4F1EACE21B87}" type="presParOf" srcId="{641E3F56-5D28-4071-9B5D-A3CD0AB2B5F5}" destId="{1B334F7C-35F2-4433-98B5-10D0BD0DF45C}" srcOrd="1" destOrd="0" presId="urn:microsoft.com/office/officeart/2018/2/layout/IconLabelList"/>
    <dgm:cxn modelId="{B02CFBAD-28DD-496A-B861-87DE3206D7D3}" type="presParOf" srcId="{641E3F56-5D28-4071-9B5D-A3CD0AB2B5F5}" destId="{AC66103C-F821-4D52-8171-4F526828A44E}" srcOrd="2" destOrd="0" presId="urn:microsoft.com/office/officeart/2018/2/layout/IconLabelList"/>
    <dgm:cxn modelId="{96EA11A9-23BA-415C-A5A9-E7FBFD672C01}" type="presParOf" srcId="{198C40C7-774A-4FE2-BF14-C82B0D36C11E}" destId="{7DF7BC33-A63A-4FA8-8781-26B2130AE9D2}" srcOrd="3" destOrd="0" presId="urn:microsoft.com/office/officeart/2018/2/layout/IconLabelList"/>
    <dgm:cxn modelId="{1796B9E5-ED05-4DF5-A86B-A125E5EAD170}" type="presParOf" srcId="{198C40C7-774A-4FE2-BF14-C82B0D36C11E}" destId="{BB22265D-4CA7-47F2-8FBB-6A61CDE62A5F}" srcOrd="4" destOrd="0" presId="urn:microsoft.com/office/officeart/2018/2/layout/IconLabelList"/>
    <dgm:cxn modelId="{C21B532C-3090-479F-A0D5-360F3BBB4209}" type="presParOf" srcId="{BB22265D-4CA7-47F2-8FBB-6A61CDE62A5F}" destId="{10E2E386-C7C2-40F9-B677-CAA4E8FE6707}" srcOrd="0" destOrd="0" presId="urn:microsoft.com/office/officeart/2018/2/layout/IconLabelList"/>
    <dgm:cxn modelId="{3E5040A8-A6D5-4606-9171-4EAB83DA6410}" type="presParOf" srcId="{BB22265D-4CA7-47F2-8FBB-6A61CDE62A5F}" destId="{68ED96FD-300C-4085-90FD-E73DC18A8B3C}" srcOrd="1" destOrd="0" presId="urn:microsoft.com/office/officeart/2018/2/layout/IconLabelList"/>
    <dgm:cxn modelId="{7500A01F-D904-43CA-BB03-9CC8F4B88E14}" type="presParOf" srcId="{BB22265D-4CA7-47F2-8FBB-6A61CDE62A5F}" destId="{436D0AE9-4DD0-4F7D-8B79-C1A759F9275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77678D-0371-4630-ADC2-7BB5B202AC2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dgm:spPr/>
      <dgm:t>
        <a:bodyPr/>
        <a:lstStyle/>
        <a:p>
          <a:r>
            <a:rPr lang="en-US" b="0" i="0" u="sng" baseline="0" dirty="0"/>
            <a:t>Several well-being questionnaires </a:t>
          </a:r>
          <a:r>
            <a:rPr lang="en-US" b="0" i="0" baseline="0" dirty="0"/>
            <a:t>have been developed to use in non-curative care to evaluate technology and services </a:t>
          </a:r>
          <a:endParaRPr lang="en-US" dirty="0"/>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dgm:spPr/>
      <dgm:t>
        <a:bodyPr/>
        <a:lstStyle/>
        <a:p>
          <a:r>
            <a:rPr lang="en-US" b="0" i="0" baseline="0" dirty="0"/>
            <a:t>These questionnaires are at </a:t>
          </a:r>
          <a:r>
            <a:rPr lang="en-US" b="0" i="0" u="sng" baseline="0" dirty="0"/>
            <a:t>different stages of development </a:t>
          </a:r>
          <a:r>
            <a:rPr lang="en-US" b="0" i="0" baseline="0" dirty="0"/>
            <a:t>and have never been compared altogether in the same context/population</a:t>
          </a:r>
          <a:endParaRPr lang="en-US"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A29114C6-8210-4729-A0F3-653901333BCB}">
      <dgm:prSet/>
      <dgm:spPr/>
      <dgm:t>
        <a:bodyPr/>
        <a:lstStyle/>
        <a:p>
          <a:r>
            <a:rPr lang="en-US" b="0" i="0" u="sng" baseline="0" dirty="0"/>
            <a:t>It is still unclear which instruments should be used </a:t>
          </a:r>
          <a:r>
            <a:rPr lang="en-US" b="0" i="0" baseline="0" dirty="0"/>
            <a:t>to assess the effectiveness of an intervention targeting well-being in a specific context</a:t>
          </a:r>
          <a:endParaRPr lang="en-US" dirty="0"/>
        </a:p>
      </dgm:t>
    </dgm:pt>
    <dgm:pt modelId="{1CD85EAD-2822-40D4-AC70-B0B6DC43652C}" type="parTrans" cxnId="{EA3F43BC-5AAC-40EF-AC97-E7E896D1E921}">
      <dgm:prSet/>
      <dgm:spPr/>
      <dgm:t>
        <a:bodyPr/>
        <a:lstStyle/>
        <a:p>
          <a:endParaRPr lang="en-US"/>
        </a:p>
      </dgm:t>
    </dgm:pt>
    <dgm:pt modelId="{C6FE1795-829E-4A03-A1C4-2AD9125CA380}" type="sibTrans" cxnId="{EA3F43BC-5AAC-40EF-AC97-E7E896D1E921}">
      <dgm:prSet/>
      <dgm:spPr/>
      <dgm:t>
        <a:bodyPr/>
        <a:lstStyle/>
        <a:p>
          <a:endParaRPr lang="en-US"/>
        </a:p>
      </dgm:t>
    </dgm:pt>
    <dgm:pt modelId="{35D6EF99-86A2-4A61-AF23-F94AAAE16526}">
      <dgm:prSet/>
      <dgm:spPr/>
      <dgm:t>
        <a:bodyPr/>
        <a:lstStyle/>
        <a:p>
          <a:r>
            <a:rPr lang="en-US" b="0" i="0" baseline="0" dirty="0"/>
            <a:t>This question led to the project named “</a:t>
          </a:r>
          <a:r>
            <a:rPr lang="en-US" b="0" i="0" u="sng" baseline="0" dirty="0"/>
            <a:t>The Well-being Multi-Instrument Comparison</a:t>
          </a:r>
          <a:r>
            <a:rPr lang="en-US" b="0" i="0" baseline="0" dirty="0"/>
            <a:t>” (W-MIC) study </a:t>
          </a:r>
          <a:endParaRPr lang="en-US" dirty="0"/>
        </a:p>
      </dgm:t>
    </dgm:pt>
    <dgm:pt modelId="{9678DD63-BA53-4E9F-843A-DDE92016CA23}" type="parTrans" cxnId="{918F7CF1-76EF-4483-9144-194AAF58B45B}">
      <dgm:prSet/>
      <dgm:spPr/>
      <dgm:t>
        <a:bodyPr/>
        <a:lstStyle/>
        <a:p>
          <a:endParaRPr lang="en-US"/>
        </a:p>
      </dgm:t>
    </dgm:pt>
    <dgm:pt modelId="{85F0AE78-7C61-4353-839B-A6FA84FA0D36}" type="sibTrans" cxnId="{918F7CF1-76EF-4483-9144-194AAF58B45B}">
      <dgm:prSet/>
      <dgm:spPr/>
      <dgm:t>
        <a:bodyPr/>
        <a:lstStyle/>
        <a:p>
          <a:endParaRPr lang="en-US"/>
        </a:p>
      </dgm:t>
    </dgm:pt>
    <dgm:pt modelId="{4ED9B610-17E1-4A31-B7C4-1614B388F597}" type="pres">
      <dgm:prSet presAssocID="{2F77678D-0371-4630-ADC2-7BB5B202AC2F}" presName="root" presStyleCnt="0">
        <dgm:presLayoutVars>
          <dgm:dir/>
          <dgm:resizeHandles val="exact"/>
        </dgm:presLayoutVars>
      </dgm:prSet>
      <dgm:spPr/>
    </dgm:pt>
    <dgm:pt modelId="{4FC1DBF4-EFF7-4824-838E-F3212B907F10}" type="pres">
      <dgm:prSet presAssocID="{2F77678D-0371-4630-ADC2-7BB5B202AC2F}" presName="container" presStyleCnt="0">
        <dgm:presLayoutVars>
          <dgm:dir/>
          <dgm:resizeHandles val="exact"/>
        </dgm:presLayoutVars>
      </dgm:prSet>
      <dgm:spPr/>
    </dgm:pt>
    <dgm:pt modelId="{06248EF1-1E19-48B8-8529-F97C8F8A568D}" type="pres">
      <dgm:prSet presAssocID="{D1BAA542-7DE3-4975-BE20-1880B1FA65FD}" presName="compNode" presStyleCnt="0"/>
      <dgm:spPr/>
    </dgm:pt>
    <dgm:pt modelId="{45D53E5A-B396-476B-827A-0C8D97374C75}" type="pres">
      <dgm:prSet presAssocID="{D1BAA542-7DE3-4975-BE20-1880B1FA65FD}" presName="iconBgRect" presStyleLbl="bgShp" presStyleIdx="0" presStyleCnt="4"/>
      <dgm:spPr/>
    </dgm:pt>
    <dgm:pt modelId="{59C7FCF0-0F83-47EF-B4E3-DFC332FF1F37}" type="pres">
      <dgm:prSet presAssocID="{D1BAA542-7DE3-4975-BE20-1880B1FA65F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ethoscope"/>
        </a:ext>
      </dgm:extLst>
    </dgm:pt>
    <dgm:pt modelId="{E5BA26E8-4AF3-436B-98A0-4D8F3351DED2}" type="pres">
      <dgm:prSet presAssocID="{D1BAA542-7DE3-4975-BE20-1880B1FA65FD}" presName="spaceRect" presStyleCnt="0"/>
      <dgm:spPr/>
    </dgm:pt>
    <dgm:pt modelId="{53A6F0F9-EA6E-4353-8B79-17ADEFD3C042}" type="pres">
      <dgm:prSet presAssocID="{D1BAA542-7DE3-4975-BE20-1880B1FA65FD}" presName="textRect" presStyleLbl="revTx" presStyleIdx="0" presStyleCnt="4">
        <dgm:presLayoutVars>
          <dgm:chMax val="1"/>
          <dgm:chPref val="1"/>
        </dgm:presLayoutVars>
      </dgm:prSet>
      <dgm:spPr/>
    </dgm:pt>
    <dgm:pt modelId="{2DD9C13E-482B-443C-9F30-68416ED1BC5A}" type="pres">
      <dgm:prSet presAssocID="{BA639638-D387-4AF0-B014-A377654BC6E5}" presName="sibTrans" presStyleLbl="sibTrans2D1" presStyleIdx="0" presStyleCnt="0"/>
      <dgm:spPr/>
    </dgm:pt>
    <dgm:pt modelId="{CFD0CC98-E698-4CA6-AE04-03275273E46B}" type="pres">
      <dgm:prSet presAssocID="{0AA7A9BB-7824-4B1C-BF02-4278CF3299F8}" presName="compNode" presStyleCnt="0"/>
      <dgm:spPr/>
    </dgm:pt>
    <dgm:pt modelId="{52945532-4D0E-4A42-AFCC-9F2780655FA8}" type="pres">
      <dgm:prSet presAssocID="{0AA7A9BB-7824-4B1C-BF02-4278CF3299F8}" presName="iconBgRect" presStyleLbl="bgShp" presStyleIdx="1" presStyleCnt="4"/>
      <dgm:spPr/>
    </dgm:pt>
    <dgm:pt modelId="{B3E1B79D-04EB-43A0-BA2A-C452246017CA}" type="pres">
      <dgm:prSet presAssocID="{0AA7A9BB-7824-4B1C-BF02-4278CF3299F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C31A6F5A-BF72-4E07-A1B0-20C84A39A9C8}" type="pres">
      <dgm:prSet presAssocID="{0AA7A9BB-7824-4B1C-BF02-4278CF3299F8}" presName="spaceRect" presStyleCnt="0"/>
      <dgm:spPr/>
    </dgm:pt>
    <dgm:pt modelId="{AE8B7C78-FA24-4234-8110-E6665DAB46DC}" type="pres">
      <dgm:prSet presAssocID="{0AA7A9BB-7824-4B1C-BF02-4278CF3299F8}" presName="textRect" presStyleLbl="revTx" presStyleIdx="1" presStyleCnt="4">
        <dgm:presLayoutVars>
          <dgm:chMax val="1"/>
          <dgm:chPref val="1"/>
        </dgm:presLayoutVars>
      </dgm:prSet>
      <dgm:spPr/>
    </dgm:pt>
    <dgm:pt modelId="{2B8075D6-BCC4-440B-91E3-2201E6FF7E16}" type="pres">
      <dgm:prSet presAssocID="{755550D5-1A19-4D64-BC92-590A38D0A0A8}" presName="sibTrans" presStyleLbl="sibTrans2D1" presStyleIdx="0" presStyleCnt="0"/>
      <dgm:spPr/>
    </dgm:pt>
    <dgm:pt modelId="{9934F6AB-EDB3-44F6-AE15-20831DB7EDF8}" type="pres">
      <dgm:prSet presAssocID="{A29114C6-8210-4729-A0F3-653901333BCB}" presName="compNode" presStyleCnt="0"/>
      <dgm:spPr/>
    </dgm:pt>
    <dgm:pt modelId="{BAD7A230-F1EC-4C6A-80A2-438C5474875B}" type="pres">
      <dgm:prSet presAssocID="{A29114C6-8210-4729-A0F3-653901333BCB}" presName="iconBgRect" presStyleLbl="bgShp" presStyleIdx="2" presStyleCnt="4"/>
      <dgm:spPr/>
    </dgm:pt>
    <dgm:pt modelId="{E92E7F33-FF3A-4A19-A3B8-9F924A69D859}" type="pres">
      <dgm:prSet presAssocID="{A29114C6-8210-4729-A0F3-653901333BCB}"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4B8D09C6-D686-46A6-AF92-C1FB72733690}" type="pres">
      <dgm:prSet presAssocID="{A29114C6-8210-4729-A0F3-653901333BCB}" presName="spaceRect" presStyleCnt="0"/>
      <dgm:spPr/>
    </dgm:pt>
    <dgm:pt modelId="{F60A4869-D9AD-4E3D-B229-F0274C8DBFB6}" type="pres">
      <dgm:prSet presAssocID="{A29114C6-8210-4729-A0F3-653901333BCB}" presName="textRect" presStyleLbl="revTx" presStyleIdx="2" presStyleCnt="4">
        <dgm:presLayoutVars>
          <dgm:chMax val="1"/>
          <dgm:chPref val="1"/>
        </dgm:presLayoutVars>
      </dgm:prSet>
      <dgm:spPr/>
    </dgm:pt>
    <dgm:pt modelId="{BE6CC7F3-6C3A-40B5-A9A2-C54FC1E95150}" type="pres">
      <dgm:prSet presAssocID="{C6FE1795-829E-4A03-A1C4-2AD9125CA380}" presName="sibTrans" presStyleLbl="sibTrans2D1" presStyleIdx="0" presStyleCnt="0"/>
      <dgm:spPr/>
    </dgm:pt>
    <dgm:pt modelId="{4311EEDC-BA27-4270-9186-9131DF5FBFFD}" type="pres">
      <dgm:prSet presAssocID="{35D6EF99-86A2-4A61-AF23-F94AAAE16526}" presName="compNode" presStyleCnt="0"/>
      <dgm:spPr/>
    </dgm:pt>
    <dgm:pt modelId="{BBFC21C5-6BDD-4EA1-8473-C9B72A532417}" type="pres">
      <dgm:prSet presAssocID="{35D6EF99-86A2-4A61-AF23-F94AAAE16526}" presName="iconBgRect" presStyleLbl="bgShp" presStyleIdx="3" presStyleCnt="4"/>
      <dgm:spPr/>
    </dgm:pt>
    <dgm:pt modelId="{5C6649E1-7345-4F7D-9E37-E3124D0AF362}" type="pres">
      <dgm:prSet presAssocID="{35D6EF99-86A2-4A61-AF23-F94AAAE16526}"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ooks on shelf with solid fill"/>
        </a:ext>
      </dgm:extLst>
    </dgm:pt>
    <dgm:pt modelId="{A97A01C7-21A1-46B7-923D-AFDE99AE7C68}" type="pres">
      <dgm:prSet presAssocID="{35D6EF99-86A2-4A61-AF23-F94AAAE16526}" presName="spaceRect" presStyleCnt="0"/>
      <dgm:spPr/>
    </dgm:pt>
    <dgm:pt modelId="{AAA970FB-A119-4878-9E73-BBEE04865926}" type="pres">
      <dgm:prSet presAssocID="{35D6EF99-86A2-4A61-AF23-F94AAAE16526}" presName="textRect" presStyleLbl="revTx" presStyleIdx="3" presStyleCnt="4">
        <dgm:presLayoutVars>
          <dgm:chMax val="1"/>
          <dgm:chPref val="1"/>
        </dgm:presLayoutVars>
      </dgm:prSet>
      <dgm:spPr/>
    </dgm:pt>
  </dgm:ptLst>
  <dgm:cxnLst>
    <dgm:cxn modelId="{A83BC309-8376-452E-BE40-48EB8AC5AC5E}" type="presOf" srcId="{A29114C6-8210-4729-A0F3-653901333BCB}" destId="{F60A4869-D9AD-4E3D-B229-F0274C8DBFB6}" srcOrd="0" destOrd="0" presId="urn:microsoft.com/office/officeart/2018/2/layout/IconCircleList"/>
    <dgm:cxn modelId="{C9B61519-21FC-4540-A332-CB07D43A3E4F}" type="presOf" srcId="{755550D5-1A19-4D64-BC92-590A38D0A0A8}" destId="{2B8075D6-BCC4-440B-91E3-2201E6FF7E16}" srcOrd="0" destOrd="0" presId="urn:microsoft.com/office/officeart/2018/2/layout/IconCircleList"/>
    <dgm:cxn modelId="{73710452-15D8-4AC3-9E59-C366CE990396}" type="presOf" srcId="{D1BAA542-7DE3-4975-BE20-1880B1FA65FD}" destId="{53A6F0F9-EA6E-4353-8B79-17ADEFD3C042}" srcOrd="0" destOrd="0" presId="urn:microsoft.com/office/officeart/2018/2/layout/IconCircleList"/>
    <dgm:cxn modelId="{808AE290-5179-44B2-B9AC-BE3D51FE08DD}" type="presOf" srcId="{2F77678D-0371-4630-ADC2-7BB5B202AC2F}" destId="{4ED9B610-17E1-4A31-B7C4-1614B388F597}" srcOrd="0" destOrd="0" presId="urn:microsoft.com/office/officeart/2018/2/layout/IconCircleList"/>
    <dgm:cxn modelId="{F2072995-62F3-425E-84E6-6DB889941DC3}" type="presOf" srcId="{35D6EF99-86A2-4A61-AF23-F94AAAE16526}" destId="{AAA970FB-A119-4878-9E73-BBEE04865926}" srcOrd="0" destOrd="0" presId="urn:microsoft.com/office/officeart/2018/2/layout/IconCircleList"/>
    <dgm:cxn modelId="{E0CE1A97-CDD0-4636-B49E-0CCD2CF91BB9}" srcId="{2F77678D-0371-4630-ADC2-7BB5B202AC2F}" destId="{D1BAA542-7DE3-4975-BE20-1880B1FA65FD}" srcOrd="0" destOrd="0" parTransId="{B507714C-08B8-4D8A-9256-9F439DB85938}" sibTransId="{BA639638-D387-4AF0-B014-A377654BC6E5}"/>
    <dgm:cxn modelId="{950E7CB9-AB59-4431-AEFA-4B5BC5A72296}" type="presOf" srcId="{BA639638-D387-4AF0-B014-A377654BC6E5}" destId="{2DD9C13E-482B-443C-9F30-68416ED1BC5A}" srcOrd="0" destOrd="0" presId="urn:microsoft.com/office/officeart/2018/2/layout/IconCircleList"/>
    <dgm:cxn modelId="{EA3F43BC-5AAC-40EF-AC97-E7E896D1E921}" srcId="{2F77678D-0371-4630-ADC2-7BB5B202AC2F}" destId="{A29114C6-8210-4729-A0F3-653901333BCB}" srcOrd="2" destOrd="0" parTransId="{1CD85EAD-2822-40D4-AC70-B0B6DC43652C}" sibTransId="{C6FE1795-829E-4A03-A1C4-2AD9125CA380}"/>
    <dgm:cxn modelId="{A6B43FBD-7082-4406-83CE-FD65D807B4BC}" srcId="{2F77678D-0371-4630-ADC2-7BB5B202AC2F}" destId="{0AA7A9BB-7824-4B1C-BF02-4278CF3299F8}" srcOrd="1" destOrd="0" parTransId="{67CC9003-19C8-48EE-809C-66433C260B1D}" sibTransId="{755550D5-1A19-4D64-BC92-590A38D0A0A8}"/>
    <dgm:cxn modelId="{4801D5EC-BDBE-419B-98FD-5A073EF05842}" type="presOf" srcId="{C6FE1795-829E-4A03-A1C4-2AD9125CA380}" destId="{BE6CC7F3-6C3A-40B5-A9A2-C54FC1E95150}" srcOrd="0" destOrd="0" presId="urn:microsoft.com/office/officeart/2018/2/layout/IconCircleList"/>
    <dgm:cxn modelId="{918F7CF1-76EF-4483-9144-194AAF58B45B}" srcId="{2F77678D-0371-4630-ADC2-7BB5B202AC2F}" destId="{35D6EF99-86A2-4A61-AF23-F94AAAE16526}" srcOrd="3" destOrd="0" parTransId="{9678DD63-BA53-4E9F-843A-DDE92016CA23}" sibTransId="{85F0AE78-7C61-4353-839B-A6FA84FA0D36}"/>
    <dgm:cxn modelId="{9BFF9EF9-6072-4199-8066-D9D6E8D76305}" type="presOf" srcId="{0AA7A9BB-7824-4B1C-BF02-4278CF3299F8}" destId="{AE8B7C78-FA24-4234-8110-E6665DAB46DC}" srcOrd="0" destOrd="0" presId="urn:microsoft.com/office/officeart/2018/2/layout/IconCircleList"/>
    <dgm:cxn modelId="{A70DCC36-42CB-47C8-A849-85543A21EDF8}" type="presParOf" srcId="{4ED9B610-17E1-4A31-B7C4-1614B388F597}" destId="{4FC1DBF4-EFF7-4824-838E-F3212B907F10}" srcOrd="0" destOrd="0" presId="urn:microsoft.com/office/officeart/2018/2/layout/IconCircleList"/>
    <dgm:cxn modelId="{0F5551E8-EEDF-4753-B1D2-36AFC72116A5}" type="presParOf" srcId="{4FC1DBF4-EFF7-4824-838E-F3212B907F10}" destId="{06248EF1-1E19-48B8-8529-F97C8F8A568D}" srcOrd="0" destOrd="0" presId="urn:microsoft.com/office/officeart/2018/2/layout/IconCircleList"/>
    <dgm:cxn modelId="{71A6B544-05ED-48CE-B7D3-E0A448CFA214}" type="presParOf" srcId="{06248EF1-1E19-48B8-8529-F97C8F8A568D}" destId="{45D53E5A-B396-476B-827A-0C8D97374C75}" srcOrd="0" destOrd="0" presId="urn:microsoft.com/office/officeart/2018/2/layout/IconCircleList"/>
    <dgm:cxn modelId="{C14AF1E7-85B0-4967-B66D-BF649758BAF4}" type="presParOf" srcId="{06248EF1-1E19-48B8-8529-F97C8F8A568D}" destId="{59C7FCF0-0F83-47EF-B4E3-DFC332FF1F37}" srcOrd="1" destOrd="0" presId="urn:microsoft.com/office/officeart/2018/2/layout/IconCircleList"/>
    <dgm:cxn modelId="{E1DCF5AF-27CE-483A-9E46-BBC9C4BA13B9}" type="presParOf" srcId="{06248EF1-1E19-48B8-8529-F97C8F8A568D}" destId="{E5BA26E8-4AF3-436B-98A0-4D8F3351DED2}" srcOrd="2" destOrd="0" presId="urn:microsoft.com/office/officeart/2018/2/layout/IconCircleList"/>
    <dgm:cxn modelId="{C0C17D8F-3D44-42D7-8B64-4AF25E1CB647}" type="presParOf" srcId="{06248EF1-1E19-48B8-8529-F97C8F8A568D}" destId="{53A6F0F9-EA6E-4353-8B79-17ADEFD3C042}" srcOrd="3" destOrd="0" presId="urn:microsoft.com/office/officeart/2018/2/layout/IconCircleList"/>
    <dgm:cxn modelId="{8A7D04C9-62E0-4C46-B0DD-1199215EAD49}" type="presParOf" srcId="{4FC1DBF4-EFF7-4824-838E-F3212B907F10}" destId="{2DD9C13E-482B-443C-9F30-68416ED1BC5A}" srcOrd="1" destOrd="0" presId="urn:microsoft.com/office/officeart/2018/2/layout/IconCircleList"/>
    <dgm:cxn modelId="{04D6CF10-E5FF-47B3-9A35-2705CFA67540}" type="presParOf" srcId="{4FC1DBF4-EFF7-4824-838E-F3212B907F10}" destId="{CFD0CC98-E698-4CA6-AE04-03275273E46B}" srcOrd="2" destOrd="0" presId="urn:microsoft.com/office/officeart/2018/2/layout/IconCircleList"/>
    <dgm:cxn modelId="{53CFC97C-380B-4244-B3FA-92FC33A816AD}" type="presParOf" srcId="{CFD0CC98-E698-4CA6-AE04-03275273E46B}" destId="{52945532-4D0E-4A42-AFCC-9F2780655FA8}" srcOrd="0" destOrd="0" presId="urn:microsoft.com/office/officeart/2018/2/layout/IconCircleList"/>
    <dgm:cxn modelId="{FEF5492F-C13C-4D75-9A42-B9B5E412448B}" type="presParOf" srcId="{CFD0CC98-E698-4CA6-AE04-03275273E46B}" destId="{B3E1B79D-04EB-43A0-BA2A-C452246017CA}" srcOrd="1" destOrd="0" presId="urn:microsoft.com/office/officeart/2018/2/layout/IconCircleList"/>
    <dgm:cxn modelId="{1F45A9EE-35E8-4777-8A2B-127F917CFC3E}" type="presParOf" srcId="{CFD0CC98-E698-4CA6-AE04-03275273E46B}" destId="{C31A6F5A-BF72-4E07-A1B0-20C84A39A9C8}" srcOrd="2" destOrd="0" presId="urn:microsoft.com/office/officeart/2018/2/layout/IconCircleList"/>
    <dgm:cxn modelId="{02D191E5-12FD-4B81-A00A-66F723EA6E04}" type="presParOf" srcId="{CFD0CC98-E698-4CA6-AE04-03275273E46B}" destId="{AE8B7C78-FA24-4234-8110-E6665DAB46DC}" srcOrd="3" destOrd="0" presId="urn:microsoft.com/office/officeart/2018/2/layout/IconCircleList"/>
    <dgm:cxn modelId="{E50AF45D-16D7-4B9C-BBB4-17F67C46DEC6}" type="presParOf" srcId="{4FC1DBF4-EFF7-4824-838E-F3212B907F10}" destId="{2B8075D6-BCC4-440B-91E3-2201E6FF7E16}" srcOrd="3" destOrd="0" presId="urn:microsoft.com/office/officeart/2018/2/layout/IconCircleList"/>
    <dgm:cxn modelId="{AC8DDD1C-9654-4C19-92F7-9921E4F352B6}" type="presParOf" srcId="{4FC1DBF4-EFF7-4824-838E-F3212B907F10}" destId="{9934F6AB-EDB3-44F6-AE15-20831DB7EDF8}" srcOrd="4" destOrd="0" presId="urn:microsoft.com/office/officeart/2018/2/layout/IconCircleList"/>
    <dgm:cxn modelId="{F81AC0EE-1C99-4296-878F-2A3924844ADA}" type="presParOf" srcId="{9934F6AB-EDB3-44F6-AE15-20831DB7EDF8}" destId="{BAD7A230-F1EC-4C6A-80A2-438C5474875B}" srcOrd="0" destOrd="0" presId="urn:microsoft.com/office/officeart/2018/2/layout/IconCircleList"/>
    <dgm:cxn modelId="{C725FEF9-31A7-42B8-BBF3-6B009FAA9F9F}" type="presParOf" srcId="{9934F6AB-EDB3-44F6-AE15-20831DB7EDF8}" destId="{E92E7F33-FF3A-4A19-A3B8-9F924A69D859}" srcOrd="1" destOrd="0" presId="urn:microsoft.com/office/officeart/2018/2/layout/IconCircleList"/>
    <dgm:cxn modelId="{2C48B11C-FB5B-4819-B1B4-A76BD92E1090}" type="presParOf" srcId="{9934F6AB-EDB3-44F6-AE15-20831DB7EDF8}" destId="{4B8D09C6-D686-46A6-AF92-C1FB72733690}" srcOrd="2" destOrd="0" presId="urn:microsoft.com/office/officeart/2018/2/layout/IconCircleList"/>
    <dgm:cxn modelId="{8A762D91-82DC-41C8-8BE3-2E6493656A9C}" type="presParOf" srcId="{9934F6AB-EDB3-44F6-AE15-20831DB7EDF8}" destId="{F60A4869-D9AD-4E3D-B229-F0274C8DBFB6}" srcOrd="3" destOrd="0" presId="urn:microsoft.com/office/officeart/2018/2/layout/IconCircleList"/>
    <dgm:cxn modelId="{897C25DD-D450-4943-8C66-B60A4758EF91}" type="presParOf" srcId="{4FC1DBF4-EFF7-4824-838E-F3212B907F10}" destId="{BE6CC7F3-6C3A-40B5-A9A2-C54FC1E95150}" srcOrd="5" destOrd="0" presId="urn:microsoft.com/office/officeart/2018/2/layout/IconCircleList"/>
    <dgm:cxn modelId="{00FE0F17-15FB-42B4-AF58-C578E0A08A02}" type="presParOf" srcId="{4FC1DBF4-EFF7-4824-838E-F3212B907F10}" destId="{4311EEDC-BA27-4270-9186-9131DF5FBFFD}" srcOrd="6" destOrd="0" presId="urn:microsoft.com/office/officeart/2018/2/layout/IconCircleList"/>
    <dgm:cxn modelId="{BDB0800D-01EA-45B8-97EA-FF119AAEC1D5}" type="presParOf" srcId="{4311EEDC-BA27-4270-9186-9131DF5FBFFD}" destId="{BBFC21C5-6BDD-4EA1-8473-C9B72A532417}" srcOrd="0" destOrd="0" presId="urn:microsoft.com/office/officeart/2018/2/layout/IconCircleList"/>
    <dgm:cxn modelId="{2D4C92EE-533D-4964-B56A-DE0AD375BFEA}" type="presParOf" srcId="{4311EEDC-BA27-4270-9186-9131DF5FBFFD}" destId="{5C6649E1-7345-4F7D-9E37-E3124D0AF362}" srcOrd="1" destOrd="0" presId="urn:microsoft.com/office/officeart/2018/2/layout/IconCircleList"/>
    <dgm:cxn modelId="{66DFA2BA-EF6D-468D-9F03-C9ADBF2A64AD}" type="presParOf" srcId="{4311EEDC-BA27-4270-9186-9131DF5FBFFD}" destId="{A97A01C7-21A1-46B7-923D-AFDE99AE7C68}" srcOrd="2" destOrd="0" presId="urn:microsoft.com/office/officeart/2018/2/layout/IconCircleList"/>
    <dgm:cxn modelId="{AC1DACA1-C1A4-4935-A258-5050D8E7138F}" type="presParOf" srcId="{4311EEDC-BA27-4270-9186-9131DF5FBFFD}" destId="{AAA970FB-A119-4878-9E73-BBEE0486592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77678D-0371-4630-ADC2-7BB5B202AC2F}"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custT="1"/>
      <dgm:spPr/>
      <dgm:t>
        <a:bodyPr/>
        <a:lstStyle/>
        <a:p>
          <a:pPr>
            <a:lnSpc>
              <a:spcPct val="100000"/>
            </a:lnSpc>
            <a:defRPr cap="all"/>
          </a:pPr>
          <a:r>
            <a:rPr lang="en-US" sz="1100" u="none" cap="none" dirty="0"/>
            <a:t>Cross-sectional survey with follow-up measurement</a:t>
          </a:r>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custT="1"/>
      <dgm:spPr/>
      <dgm:t>
        <a:bodyPr/>
        <a:lstStyle/>
        <a:p>
          <a:pPr>
            <a:lnSpc>
              <a:spcPct val="100000"/>
            </a:lnSpc>
            <a:defRPr cap="all"/>
          </a:pPr>
          <a:r>
            <a:rPr lang="en-US" sz="1100" cap="none" dirty="0"/>
            <a:t>7000 US and NL participants, with quotas for specific subgroups (general, older, targeted health conditions)</a:t>
          </a:r>
          <a:endParaRPr lang="en-US" sz="1100" b="0" cap="none"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0049B0B6-F613-4CF4-A24A-FB2EE59D8AED}">
      <dgm:prSet custT="1"/>
      <dgm:spPr/>
      <dgm:t>
        <a:bodyPr/>
        <a:lstStyle/>
        <a:p>
          <a:pPr>
            <a:lnSpc>
              <a:spcPct val="100000"/>
            </a:lnSpc>
            <a:defRPr cap="all"/>
          </a:pPr>
          <a:r>
            <a:rPr lang="en-US" sz="1100" cap="none" dirty="0" err="1"/>
            <a:t>Dynata</a:t>
          </a:r>
          <a:r>
            <a:rPr lang="en-US" sz="1100" cap="none" dirty="0"/>
            <a:t> hosted and recruited participants</a:t>
          </a:r>
        </a:p>
      </dgm:t>
    </dgm:pt>
    <dgm:pt modelId="{BA0AC5C2-4411-420F-ABC2-0B29B682CA3D}" type="parTrans" cxnId="{25F826D8-569A-488F-AEEE-6E7E99FA22BE}">
      <dgm:prSet/>
      <dgm:spPr/>
      <dgm:t>
        <a:bodyPr/>
        <a:lstStyle/>
        <a:p>
          <a:endParaRPr lang="LID4096"/>
        </a:p>
      </dgm:t>
    </dgm:pt>
    <dgm:pt modelId="{03863531-F48F-432A-9DFB-1794883111E1}" type="sibTrans" cxnId="{25F826D8-569A-488F-AEEE-6E7E99FA22BE}">
      <dgm:prSet/>
      <dgm:spPr/>
      <dgm:t>
        <a:bodyPr/>
        <a:lstStyle/>
        <a:p>
          <a:endParaRPr lang="LID4096"/>
        </a:p>
      </dgm:t>
    </dgm:pt>
    <dgm:pt modelId="{049B1F7D-9281-42A8-B0E6-99F01D029BB1}">
      <dgm:prSet custT="1"/>
      <dgm:spPr/>
      <dgm:t>
        <a:bodyPr/>
        <a:lstStyle/>
        <a:p>
          <a:pPr>
            <a:lnSpc>
              <a:spcPct val="100000"/>
            </a:lnSpc>
            <a:defRPr cap="all"/>
          </a:pPr>
          <a:r>
            <a:rPr lang="en-US" sz="1100" cap="none" dirty="0"/>
            <a:t>Demographics (Module A), Well-being instruments (Module B), Clinical severity (Module C), General health (Module D), General well-being (Module E)</a:t>
          </a:r>
        </a:p>
      </dgm:t>
    </dgm:pt>
    <dgm:pt modelId="{56D6E549-6157-483F-9195-08A8234B34F9}" type="parTrans" cxnId="{7468DE88-E3F2-459D-9408-253A96FF7212}">
      <dgm:prSet/>
      <dgm:spPr/>
      <dgm:t>
        <a:bodyPr/>
        <a:lstStyle/>
        <a:p>
          <a:endParaRPr lang="LID4096"/>
        </a:p>
      </dgm:t>
    </dgm:pt>
    <dgm:pt modelId="{0E8E8637-B37A-4441-9B9D-03262F3649C8}" type="sibTrans" cxnId="{7468DE88-E3F2-459D-9408-253A96FF7212}">
      <dgm:prSet/>
      <dgm:spPr/>
      <dgm:t>
        <a:bodyPr/>
        <a:lstStyle/>
        <a:p>
          <a:endParaRPr lang="LID4096"/>
        </a:p>
      </dgm:t>
    </dgm:pt>
    <dgm:pt modelId="{BBF6BF37-2BD7-44CE-A60B-7F57B503BEE0}" type="pres">
      <dgm:prSet presAssocID="{2F77678D-0371-4630-ADC2-7BB5B202AC2F}" presName="root" presStyleCnt="0">
        <dgm:presLayoutVars>
          <dgm:dir/>
          <dgm:resizeHandles val="exact"/>
        </dgm:presLayoutVars>
      </dgm:prSet>
      <dgm:spPr/>
    </dgm:pt>
    <dgm:pt modelId="{2C2D2334-6235-4824-A0C9-433311C726C9}" type="pres">
      <dgm:prSet presAssocID="{D1BAA542-7DE3-4975-BE20-1880B1FA65FD}" presName="compNode" presStyleCnt="0"/>
      <dgm:spPr/>
    </dgm:pt>
    <dgm:pt modelId="{DFB1E958-D3DF-4C96-95B5-A9ED077BFBED}" type="pres">
      <dgm:prSet presAssocID="{D1BAA542-7DE3-4975-BE20-1880B1FA65FD}" presName="iconBgRect" presStyleLbl="bgShp" presStyleIdx="0" presStyleCnt="4"/>
      <dgm:spPr/>
    </dgm:pt>
    <dgm:pt modelId="{1F829F06-730A-4663-AE00-5B682949F0F4}" type="pres">
      <dgm:prSet presAssocID="{D1BAA542-7DE3-4975-BE20-1880B1FA65FD}"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F93603CB-C8FD-48F8-A9FD-F498A9FA617F}" type="pres">
      <dgm:prSet presAssocID="{D1BAA542-7DE3-4975-BE20-1880B1FA65FD}" presName="spaceRect" presStyleCnt="0"/>
      <dgm:spPr/>
    </dgm:pt>
    <dgm:pt modelId="{CA39ED06-E50D-4B8F-B46F-932D2668C39C}" type="pres">
      <dgm:prSet presAssocID="{D1BAA542-7DE3-4975-BE20-1880B1FA65FD}" presName="textRect" presStyleLbl="revTx" presStyleIdx="0" presStyleCnt="4">
        <dgm:presLayoutVars>
          <dgm:chMax val="1"/>
          <dgm:chPref val="1"/>
        </dgm:presLayoutVars>
      </dgm:prSet>
      <dgm:spPr/>
    </dgm:pt>
    <dgm:pt modelId="{7C9A629C-3108-4648-8510-6D2F8ED83A07}" type="pres">
      <dgm:prSet presAssocID="{BA639638-D387-4AF0-B014-A377654BC6E5}" presName="sibTrans" presStyleCnt="0"/>
      <dgm:spPr/>
    </dgm:pt>
    <dgm:pt modelId="{337191E0-8397-49AF-8C48-716D4DFB88F6}" type="pres">
      <dgm:prSet presAssocID="{0AA7A9BB-7824-4B1C-BF02-4278CF3299F8}" presName="compNode" presStyleCnt="0"/>
      <dgm:spPr/>
    </dgm:pt>
    <dgm:pt modelId="{B3D78F0F-5BA8-4D81-BBB3-FDA42BFA0EEE}" type="pres">
      <dgm:prSet presAssocID="{0AA7A9BB-7824-4B1C-BF02-4278CF3299F8}" presName="iconBgRect" presStyleLbl="bgShp" presStyleIdx="1" presStyleCnt="4"/>
      <dgm:spPr/>
    </dgm:pt>
    <dgm:pt modelId="{AEC19993-CAE1-449C-A1FD-EE5E9947A967}" type="pres">
      <dgm:prSet presAssocID="{0AA7A9BB-7824-4B1C-BF02-4278CF3299F8}"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roup with solid fill"/>
        </a:ext>
      </dgm:extLst>
    </dgm:pt>
    <dgm:pt modelId="{3F92600D-854C-49CA-899A-78C5BEB406B6}" type="pres">
      <dgm:prSet presAssocID="{0AA7A9BB-7824-4B1C-BF02-4278CF3299F8}" presName="spaceRect" presStyleCnt="0"/>
      <dgm:spPr/>
    </dgm:pt>
    <dgm:pt modelId="{9785C12A-9539-4464-8C2A-A98109C8560B}" type="pres">
      <dgm:prSet presAssocID="{0AA7A9BB-7824-4B1C-BF02-4278CF3299F8}" presName="textRect" presStyleLbl="revTx" presStyleIdx="1" presStyleCnt="4">
        <dgm:presLayoutVars>
          <dgm:chMax val="1"/>
          <dgm:chPref val="1"/>
        </dgm:presLayoutVars>
      </dgm:prSet>
      <dgm:spPr/>
    </dgm:pt>
    <dgm:pt modelId="{CF9D96DC-570D-40E3-8561-BABCA7FF4ABB}" type="pres">
      <dgm:prSet presAssocID="{755550D5-1A19-4D64-BC92-590A38D0A0A8}" presName="sibTrans" presStyleCnt="0"/>
      <dgm:spPr/>
    </dgm:pt>
    <dgm:pt modelId="{332EA3EA-D1F6-400E-9448-9CCDD9541C7F}" type="pres">
      <dgm:prSet presAssocID="{049B1F7D-9281-42A8-B0E6-99F01D029BB1}" presName="compNode" presStyleCnt="0"/>
      <dgm:spPr/>
    </dgm:pt>
    <dgm:pt modelId="{4A640C46-4883-4811-A235-4BA4A2CEF0B7}" type="pres">
      <dgm:prSet presAssocID="{049B1F7D-9281-42A8-B0E6-99F01D029BB1}" presName="iconBgRect" presStyleLbl="bgShp" presStyleIdx="2" presStyleCnt="4"/>
      <dgm:spPr/>
    </dgm:pt>
    <dgm:pt modelId="{D35FFD93-E3BB-42DF-A3E1-A8C7B889D6BE}" type="pres">
      <dgm:prSet presAssocID="{049B1F7D-9281-42A8-B0E6-99F01D029BB1}"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List with solid fill"/>
        </a:ext>
      </dgm:extLst>
    </dgm:pt>
    <dgm:pt modelId="{9442BCD6-30D9-454D-83D1-79B173C849A4}" type="pres">
      <dgm:prSet presAssocID="{049B1F7D-9281-42A8-B0E6-99F01D029BB1}" presName="spaceRect" presStyleCnt="0"/>
      <dgm:spPr/>
    </dgm:pt>
    <dgm:pt modelId="{880DB5F7-4370-41F2-A6AF-F8E0A31CC79A}" type="pres">
      <dgm:prSet presAssocID="{049B1F7D-9281-42A8-B0E6-99F01D029BB1}" presName="textRect" presStyleLbl="revTx" presStyleIdx="2" presStyleCnt="4" custScaleX="128269" custLinFactNeighborX="0" custLinFactNeighborY="-2028">
        <dgm:presLayoutVars>
          <dgm:chMax val="1"/>
          <dgm:chPref val="1"/>
        </dgm:presLayoutVars>
      </dgm:prSet>
      <dgm:spPr/>
    </dgm:pt>
    <dgm:pt modelId="{7B5F6990-26F4-4735-AE6E-D274D5B8099A}" type="pres">
      <dgm:prSet presAssocID="{0E8E8637-B37A-4441-9B9D-03262F3649C8}" presName="sibTrans" presStyleCnt="0"/>
      <dgm:spPr/>
    </dgm:pt>
    <dgm:pt modelId="{CA930894-0621-4878-9538-AB61BEA9C5A7}" type="pres">
      <dgm:prSet presAssocID="{0049B0B6-F613-4CF4-A24A-FB2EE59D8AED}" presName="compNode" presStyleCnt="0"/>
      <dgm:spPr/>
    </dgm:pt>
    <dgm:pt modelId="{9ABBF986-0F25-462F-980B-460A660F9190}" type="pres">
      <dgm:prSet presAssocID="{0049B0B6-F613-4CF4-A24A-FB2EE59D8AED}" presName="iconBgRect" presStyleLbl="bgShp" presStyleIdx="3" presStyleCnt="4"/>
      <dgm:spPr/>
    </dgm:pt>
    <dgm:pt modelId="{BF4DE8EE-4CFB-4AC7-8FE5-9E7595F568FE}" type="pres">
      <dgm:prSet presAssocID="{0049B0B6-F613-4CF4-A24A-FB2EE59D8AED}"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nternet with solid fill"/>
        </a:ext>
      </dgm:extLst>
    </dgm:pt>
    <dgm:pt modelId="{96466E0E-252E-46A0-879E-1AD78021A3B4}" type="pres">
      <dgm:prSet presAssocID="{0049B0B6-F613-4CF4-A24A-FB2EE59D8AED}" presName="spaceRect" presStyleCnt="0"/>
      <dgm:spPr/>
    </dgm:pt>
    <dgm:pt modelId="{97FB75D4-2B99-4F4E-AD9B-437636C197EF}" type="pres">
      <dgm:prSet presAssocID="{0049B0B6-F613-4CF4-A24A-FB2EE59D8AED}" presName="textRect" presStyleLbl="revTx" presStyleIdx="3" presStyleCnt="4">
        <dgm:presLayoutVars>
          <dgm:chMax val="1"/>
          <dgm:chPref val="1"/>
        </dgm:presLayoutVars>
      </dgm:prSet>
      <dgm:spPr/>
    </dgm:pt>
  </dgm:ptLst>
  <dgm:cxnLst>
    <dgm:cxn modelId="{7468DE88-E3F2-459D-9408-253A96FF7212}" srcId="{2F77678D-0371-4630-ADC2-7BB5B202AC2F}" destId="{049B1F7D-9281-42A8-B0E6-99F01D029BB1}" srcOrd="2" destOrd="0" parTransId="{56D6E549-6157-483F-9195-08A8234B34F9}" sibTransId="{0E8E8637-B37A-4441-9B9D-03262F3649C8}"/>
    <dgm:cxn modelId="{E0CE1A97-CDD0-4636-B49E-0CCD2CF91BB9}" srcId="{2F77678D-0371-4630-ADC2-7BB5B202AC2F}" destId="{D1BAA542-7DE3-4975-BE20-1880B1FA65FD}" srcOrd="0" destOrd="0" parTransId="{B507714C-08B8-4D8A-9256-9F439DB85938}" sibTransId="{BA639638-D387-4AF0-B014-A377654BC6E5}"/>
    <dgm:cxn modelId="{AA4B029F-0089-4F7F-BBDC-9E28AB42C030}" type="presOf" srcId="{0AA7A9BB-7824-4B1C-BF02-4278CF3299F8}" destId="{9785C12A-9539-4464-8C2A-A98109C8560B}" srcOrd="0" destOrd="0" presId="urn:microsoft.com/office/officeart/2018/5/layout/IconCircleLabelList"/>
    <dgm:cxn modelId="{6636C6B5-A04C-4A93-8945-5F7D08AD5121}" type="presOf" srcId="{0049B0B6-F613-4CF4-A24A-FB2EE59D8AED}" destId="{97FB75D4-2B99-4F4E-AD9B-437636C197EF}" srcOrd="0" destOrd="0" presId="urn:microsoft.com/office/officeart/2018/5/layout/IconCircleLabelList"/>
    <dgm:cxn modelId="{A6B43FBD-7082-4406-83CE-FD65D807B4BC}" srcId="{2F77678D-0371-4630-ADC2-7BB5B202AC2F}" destId="{0AA7A9BB-7824-4B1C-BF02-4278CF3299F8}" srcOrd="1" destOrd="0" parTransId="{67CC9003-19C8-48EE-809C-66433C260B1D}" sibTransId="{755550D5-1A19-4D64-BC92-590A38D0A0A8}"/>
    <dgm:cxn modelId="{25F826D8-569A-488F-AEEE-6E7E99FA22BE}" srcId="{2F77678D-0371-4630-ADC2-7BB5B202AC2F}" destId="{0049B0B6-F613-4CF4-A24A-FB2EE59D8AED}" srcOrd="3" destOrd="0" parTransId="{BA0AC5C2-4411-420F-ABC2-0B29B682CA3D}" sibTransId="{03863531-F48F-432A-9DFB-1794883111E1}"/>
    <dgm:cxn modelId="{B87FDEEC-8C10-4A8C-AF7E-DE5D9E60CE05}" type="presOf" srcId="{2F77678D-0371-4630-ADC2-7BB5B202AC2F}" destId="{BBF6BF37-2BD7-44CE-A60B-7F57B503BEE0}" srcOrd="0" destOrd="0" presId="urn:microsoft.com/office/officeart/2018/5/layout/IconCircleLabelList"/>
    <dgm:cxn modelId="{B5B9DEFB-D9BE-44E6-957D-BC0BBF510047}" type="presOf" srcId="{D1BAA542-7DE3-4975-BE20-1880B1FA65FD}" destId="{CA39ED06-E50D-4B8F-B46F-932D2668C39C}" srcOrd="0" destOrd="0" presId="urn:microsoft.com/office/officeart/2018/5/layout/IconCircleLabelList"/>
    <dgm:cxn modelId="{CB323BFD-E1FF-4FD0-9BE5-F688C6970352}" type="presOf" srcId="{049B1F7D-9281-42A8-B0E6-99F01D029BB1}" destId="{880DB5F7-4370-41F2-A6AF-F8E0A31CC79A}" srcOrd="0" destOrd="0" presId="urn:microsoft.com/office/officeart/2018/5/layout/IconCircleLabelList"/>
    <dgm:cxn modelId="{13506782-3086-4129-B13C-8988F517CF9F}" type="presParOf" srcId="{BBF6BF37-2BD7-44CE-A60B-7F57B503BEE0}" destId="{2C2D2334-6235-4824-A0C9-433311C726C9}" srcOrd="0" destOrd="0" presId="urn:microsoft.com/office/officeart/2018/5/layout/IconCircleLabelList"/>
    <dgm:cxn modelId="{4C8D4AE1-2760-4725-B4D6-75B3A6300D43}" type="presParOf" srcId="{2C2D2334-6235-4824-A0C9-433311C726C9}" destId="{DFB1E958-D3DF-4C96-95B5-A9ED077BFBED}" srcOrd="0" destOrd="0" presId="urn:microsoft.com/office/officeart/2018/5/layout/IconCircleLabelList"/>
    <dgm:cxn modelId="{F6E9F964-3307-440F-BA14-AA593B72A30B}" type="presParOf" srcId="{2C2D2334-6235-4824-A0C9-433311C726C9}" destId="{1F829F06-730A-4663-AE00-5B682949F0F4}" srcOrd="1" destOrd="0" presId="urn:microsoft.com/office/officeart/2018/5/layout/IconCircleLabelList"/>
    <dgm:cxn modelId="{51D500DA-481E-410E-83E0-67A197C37244}" type="presParOf" srcId="{2C2D2334-6235-4824-A0C9-433311C726C9}" destId="{F93603CB-C8FD-48F8-A9FD-F498A9FA617F}" srcOrd="2" destOrd="0" presId="urn:microsoft.com/office/officeart/2018/5/layout/IconCircleLabelList"/>
    <dgm:cxn modelId="{EFC21C20-6B4E-4AE2-9C5C-C84CF5972343}" type="presParOf" srcId="{2C2D2334-6235-4824-A0C9-433311C726C9}" destId="{CA39ED06-E50D-4B8F-B46F-932D2668C39C}" srcOrd="3" destOrd="0" presId="urn:microsoft.com/office/officeart/2018/5/layout/IconCircleLabelList"/>
    <dgm:cxn modelId="{B81F2373-26E6-4715-99E4-8405FF4FF7A7}" type="presParOf" srcId="{BBF6BF37-2BD7-44CE-A60B-7F57B503BEE0}" destId="{7C9A629C-3108-4648-8510-6D2F8ED83A07}" srcOrd="1" destOrd="0" presId="urn:microsoft.com/office/officeart/2018/5/layout/IconCircleLabelList"/>
    <dgm:cxn modelId="{2603B1B2-1C8D-4C56-B477-C85A56B8C0D8}" type="presParOf" srcId="{BBF6BF37-2BD7-44CE-A60B-7F57B503BEE0}" destId="{337191E0-8397-49AF-8C48-716D4DFB88F6}" srcOrd="2" destOrd="0" presId="urn:microsoft.com/office/officeart/2018/5/layout/IconCircleLabelList"/>
    <dgm:cxn modelId="{954ACFDF-C6D8-4991-A14C-549F96A1A4B7}" type="presParOf" srcId="{337191E0-8397-49AF-8C48-716D4DFB88F6}" destId="{B3D78F0F-5BA8-4D81-BBB3-FDA42BFA0EEE}" srcOrd="0" destOrd="0" presId="urn:microsoft.com/office/officeart/2018/5/layout/IconCircleLabelList"/>
    <dgm:cxn modelId="{0A4DBC89-446C-4331-B84E-EE1675B8CAE0}" type="presParOf" srcId="{337191E0-8397-49AF-8C48-716D4DFB88F6}" destId="{AEC19993-CAE1-449C-A1FD-EE5E9947A967}" srcOrd="1" destOrd="0" presId="urn:microsoft.com/office/officeart/2018/5/layout/IconCircleLabelList"/>
    <dgm:cxn modelId="{090F8093-AC89-4624-B336-1195B3A794AC}" type="presParOf" srcId="{337191E0-8397-49AF-8C48-716D4DFB88F6}" destId="{3F92600D-854C-49CA-899A-78C5BEB406B6}" srcOrd="2" destOrd="0" presId="urn:microsoft.com/office/officeart/2018/5/layout/IconCircleLabelList"/>
    <dgm:cxn modelId="{ED749858-4B90-4A40-9923-EBAB45E26913}" type="presParOf" srcId="{337191E0-8397-49AF-8C48-716D4DFB88F6}" destId="{9785C12A-9539-4464-8C2A-A98109C8560B}" srcOrd="3" destOrd="0" presId="urn:microsoft.com/office/officeart/2018/5/layout/IconCircleLabelList"/>
    <dgm:cxn modelId="{81EBA8A8-E26A-4FDD-8E94-BA8EB0DFAA79}" type="presParOf" srcId="{BBF6BF37-2BD7-44CE-A60B-7F57B503BEE0}" destId="{CF9D96DC-570D-40E3-8561-BABCA7FF4ABB}" srcOrd="3" destOrd="0" presId="urn:microsoft.com/office/officeart/2018/5/layout/IconCircleLabelList"/>
    <dgm:cxn modelId="{FFA9CDBB-177D-4C83-B809-A095341372AD}" type="presParOf" srcId="{BBF6BF37-2BD7-44CE-A60B-7F57B503BEE0}" destId="{332EA3EA-D1F6-400E-9448-9CCDD9541C7F}" srcOrd="4" destOrd="0" presId="urn:microsoft.com/office/officeart/2018/5/layout/IconCircleLabelList"/>
    <dgm:cxn modelId="{CA6B497A-5E24-40B6-983C-511BA669605E}" type="presParOf" srcId="{332EA3EA-D1F6-400E-9448-9CCDD9541C7F}" destId="{4A640C46-4883-4811-A235-4BA4A2CEF0B7}" srcOrd="0" destOrd="0" presId="urn:microsoft.com/office/officeart/2018/5/layout/IconCircleLabelList"/>
    <dgm:cxn modelId="{A0EEFAB4-317D-480C-B7E2-D90BD5067FB5}" type="presParOf" srcId="{332EA3EA-D1F6-400E-9448-9CCDD9541C7F}" destId="{D35FFD93-E3BB-42DF-A3E1-A8C7B889D6BE}" srcOrd="1" destOrd="0" presId="urn:microsoft.com/office/officeart/2018/5/layout/IconCircleLabelList"/>
    <dgm:cxn modelId="{EECCE475-0D75-4460-8774-CCB8822F7A32}" type="presParOf" srcId="{332EA3EA-D1F6-400E-9448-9CCDD9541C7F}" destId="{9442BCD6-30D9-454D-83D1-79B173C849A4}" srcOrd="2" destOrd="0" presId="urn:microsoft.com/office/officeart/2018/5/layout/IconCircleLabelList"/>
    <dgm:cxn modelId="{632D3FC1-4364-4E5D-851A-FB3DD40975CE}" type="presParOf" srcId="{332EA3EA-D1F6-400E-9448-9CCDD9541C7F}" destId="{880DB5F7-4370-41F2-A6AF-F8E0A31CC79A}" srcOrd="3" destOrd="0" presId="urn:microsoft.com/office/officeart/2018/5/layout/IconCircleLabelList"/>
    <dgm:cxn modelId="{87E4B560-206B-4ADB-8FEA-268DCB2A3167}" type="presParOf" srcId="{BBF6BF37-2BD7-44CE-A60B-7F57B503BEE0}" destId="{7B5F6990-26F4-4735-AE6E-D274D5B8099A}" srcOrd="5" destOrd="0" presId="urn:microsoft.com/office/officeart/2018/5/layout/IconCircleLabelList"/>
    <dgm:cxn modelId="{A4D4CEA2-1D9B-4A73-91A9-CBBBB4AB719C}" type="presParOf" srcId="{BBF6BF37-2BD7-44CE-A60B-7F57B503BEE0}" destId="{CA930894-0621-4878-9538-AB61BEA9C5A7}" srcOrd="6" destOrd="0" presId="urn:microsoft.com/office/officeart/2018/5/layout/IconCircleLabelList"/>
    <dgm:cxn modelId="{3DA2106B-8845-4243-A9D3-BE087424CDC8}" type="presParOf" srcId="{CA930894-0621-4878-9538-AB61BEA9C5A7}" destId="{9ABBF986-0F25-462F-980B-460A660F9190}" srcOrd="0" destOrd="0" presId="urn:microsoft.com/office/officeart/2018/5/layout/IconCircleLabelList"/>
    <dgm:cxn modelId="{122DCFCD-69D5-42FC-8E2B-FDFF80BE1D65}" type="presParOf" srcId="{CA930894-0621-4878-9538-AB61BEA9C5A7}" destId="{BF4DE8EE-4CFB-4AC7-8FE5-9E7595F568FE}" srcOrd="1" destOrd="0" presId="urn:microsoft.com/office/officeart/2018/5/layout/IconCircleLabelList"/>
    <dgm:cxn modelId="{F8B16E08-A216-47A0-9785-BA3DF7F88402}" type="presParOf" srcId="{CA930894-0621-4878-9538-AB61BEA9C5A7}" destId="{96466E0E-252E-46A0-879E-1AD78021A3B4}" srcOrd="2" destOrd="0" presId="urn:microsoft.com/office/officeart/2018/5/layout/IconCircleLabelList"/>
    <dgm:cxn modelId="{117AF41E-367E-4703-BE20-91562EDC46B5}" type="presParOf" srcId="{CA930894-0621-4878-9538-AB61BEA9C5A7}" destId="{97FB75D4-2B99-4F4E-AD9B-437636C197E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C49556-C6F7-4583-9803-1C2761BCB8C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F1A8D8A-684F-474D-830D-FDA9C8E82F18}">
      <dgm:prSet/>
      <dgm:spPr/>
      <dgm:t>
        <a:bodyPr/>
        <a:lstStyle/>
        <a:p>
          <a:r>
            <a:rPr lang="en-US" dirty="0"/>
            <a:t>All instruments demonstrated good psychometric performance (particularly the WiX and EQ-HWB-9)</a:t>
          </a:r>
        </a:p>
      </dgm:t>
    </dgm:pt>
    <dgm:pt modelId="{D8249075-FB5E-4D90-9B0C-8CDE664A744F}" type="parTrans" cxnId="{177944C0-E81D-41A4-85BF-744A3D60506E}">
      <dgm:prSet/>
      <dgm:spPr/>
      <dgm:t>
        <a:bodyPr/>
        <a:lstStyle/>
        <a:p>
          <a:endParaRPr lang="en-US"/>
        </a:p>
      </dgm:t>
    </dgm:pt>
    <dgm:pt modelId="{98086C22-ECCD-4389-9152-F0FBE013F540}" type="sibTrans" cxnId="{177944C0-E81D-41A4-85BF-744A3D60506E}">
      <dgm:prSet/>
      <dgm:spPr/>
      <dgm:t>
        <a:bodyPr/>
        <a:lstStyle/>
        <a:p>
          <a:endParaRPr lang="en-US"/>
        </a:p>
      </dgm:t>
    </dgm:pt>
    <dgm:pt modelId="{E1998E21-89A1-4C73-BF12-B3EB2BA2E61D}">
      <dgm:prSet/>
      <dgm:spPr/>
      <dgm:t>
        <a:bodyPr/>
        <a:lstStyle/>
        <a:p>
          <a:r>
            <a:rPr lang="en-US" dirty="0"/>
            <a:t>EQ-HWB-9 and SWB-5D seemed more sensitive to variations in health</a:t>
          </a:r>
        </a:p>
      </dgm:t>
    </dgm:pt>
    <dgm:pt modelId="{BCF5A7FA-E27C-4CFC-9A2D-AD2AA64B9461}" type="parTrans" cxnId="{03D2C2E4-E618-47CF-9A75-D00E0975EFEE}">
      <dgm:prSet/>
      <dgm:spPr/>
      <dgm:t>
        <a:bodyPr/>
        <a:lstStyle/>
        <a:p>
          <a:endParaRPr lang="en-US"/>
        </a:p>
      </dgm:t>
    </dgm:pt>
    <dgm:pt modelId="{B749CBF2-42A1-4758-A043-57C6145C96A3}" type="sibTrans" cxnId="{03D2C2E4-E618-47CF-9A75-D00E0975EFEE}">
      <dgm:prSet/>
      <dgm:spPr/>
      <dgm:t>
        <a:bodyPr/>
        <a:lstStyle/>
        <a:p>
          <a:endParaRPr lang="en-US"/>
        </a:p>
      </dgm:t>
    </dgm:pt>
    <dgm:pt modelId="{67A457FC-F2AF-4267-A1B4-ED72E67A7230}">
      <dgm:prSet/>
      <dgm:spPr/>
      <dgm:t>
        <a:bodyPr/>
        <a:lstStyle/>
        <a:p>
          <a:r>
            <a:rPr lang="en-US" dirty="0"/>
            <a:t>ICECAP-A and WiX had higher sensitivity in broader well-being domains</a:t>
          </a:r>
        </a:p>
      </dgm:t>
    </dgm:pt>
    <dgm:pt modelId="{FF406CEF-B7D5-41C1-A415-09F005C995BA}" type="parTrans" cxnId="{B7000C3D-DA0D-4E29-A0E6-F8E2D1702013}">
      <dgm:prSet/>
      <dgm:spPr/>
      <dgm:t>
        <a:bodyPr/>
        <a:lstStyle/>
        <a:p>
          <a:endParaRPr lang="en-US"/>
        </a:p>
      </dgm:t>
    </dgm:pt>
    <dgm:pt modelId="{52B5D71E-51DB-4336-A495-06F24FF0C196}" type="sibTrans" cxnId="{B7000C3D-DA0D-4E29-A0E6-F8E2D1702013}">
      <dgm:prSet/>
      <dgm:spPr/>
      <dgm:t>
        <a:bodyPr/>
        <a:lstStyle/>
        <a:p>
          <a:endParaRPr lang="en-US"/>
        </a:p>
      </dgm:t>
    </dgm:pt>
    <dgm:pt modelId="{198C40C7-774A-4FE2-BF14-C82B0D36C11E}" type="pres">
      <dgm:prSet presAssocID="{DCC49556-C6F7-4583-9803-1C2761BCB8C0}" presName="root" presStyleCnt="0">
        <dgm:presLayoutVars>
          <dgm:dir/>
          <dgm:resizeHandles val="exact"/>
        </dgm:presLayoutVars>
      </dgm:prSet>
      <dgm:spPr/>
    </dgm:pt>
    <dgm:pt modelId="{C53551F1-9EE1-4854-8720-021120F9685F}" type="pres">
      <dgm:prSet presAssocID="{1F1A8D8A-684F-474D-830D-FDA9C8E82F18}" presName="compNode" presStyleCnt="0"/>
      <dgm:spPr/>
    </dgm:pt>
    <dgm:pt modelId="{670D23FE-8E42-4119-A30D-2BEC1543683E}" type="pres">
      <dgm:prSet presAssocID="{1F1A8D8A-684F-474D-830D-FDA9C8E82F18}"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D8DDEF4-C0A1-49B1-8A11-CE39E9078B01}" type="pres">
      <dgm:prSet presAssocID="{1F1A8D8A-684F-474D-830D-FDA9C8E82F18}" presName="spaceRect" presStyleCnt="0"/>
      <dgm:spPr/>
    </dgm:pt>
    <dgm:pt modelId="{B43A715F-62A4-4306-8633-637DE0546470}" type="pres">
      <dgm:prSet presAssocID="{1F1A8D8A-684F-474D-830D-FDA9C8E82F18}" presName="textRect" presStyleLbl="revTx" presStyleIdx="0" presStyleCnt="3">
        <dgm:presLayoutVars>
          <dgm:chMax val="1"/>
          <dgm:chPref val="1"/>
        </dgm:presLayoutVars>
      </dgm:prSet>
      <dgm:spPr/>
    </dgm:pt>
    <dgm:pt modelId="{799DA3B2-471E-4A4C-8410-211909E2271E}" type="pres">
      <dgm:prSet presAssocID="{98086C22-ECCD-4389-9152-F0FBE013F540}" presName="sibTrans" presStyleCnt="0"/>
      <dgm:spPr/>
    </dgm:pt>
    <dgm:pt modelId="{641E3F56-5D28-4071-9B5D-A3CD0AB2B5F5}" type="pres">
      <dgm:prSet presAssocID="{E1998E21-89A1-4C73-BF12-B3EB2BA2E61D}" presName="compNode" presStyleCnt="0"/>
      <dgm:spPr/>
    </dgm:pt>
    <dgm:pt modelId="{2C4C7F15-4867-437F-AAD1-EBE859D1D492}" type="pres">
      <dgm:prSet presAssocID="{E1998E21-89A1-4C73-BF12-B3EB2BA2E61D}"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1B334F7C-35F2-4433-98B5-10D0BD0DF45C}" type="pres">
      <dgm:prSet presAssocID="{E1998E21-89A1-4C73-BF12-B3EB2BA2E61D}" presName="spaceRect" presStyleCnt="0"/>
      <dgm:spPr/>
    </dgm:pt>
    <dgm:pt modelId="{AC66103C-F821-4D52-8171-4F526828A44E}" type="pres">
      <dgm:prSet presAssocID="{E1998E21-89A1-4C73-BF12-B3EB2BA2E61D}" presName="textRect" presStyleLbl="revTx" presStyleIdx="1" presStyleCnt="3">
        <dgm:presLayoutVars>
          <dgm:chMax val="1"/>
          <dgm:chPref val="1"/>
        </dgm:presLayoutVars>
      </dgm:prSet>
      <dgm:spPr/>
    </dgm:pt>
    <dgm:pt modelId="{7DF7BC33-A63A-4FA8-8781-26B2130AE9D2}" type="pres">
      <dgm:prSet presAssocID="{B749CBF2-42A1-4758-A043-57C6145C96A3}" presName="sibTrans" presStyleCnt="0"/>
      <dgm:spPr/>
    </dgm:pt>
    <dgm:pt modelId="{BB22265D-4CA7-47F2-8FBB-6A61CDE62A5F}" type="pres">
      <dgm:prSet presAssocID="{67A457FC-F2AF-4267-A1B4-ED72E67A7230}" presName="compNode" presStyleCnt="0"/>
      <dgm:spPr/>
    </dgm:pt>
    <dgm:pt modelId="{10E2E386-C7C2-40F9-B677-CAA4E8FE6707}" type="pres">
      <dgm:prSet presAssocID="{67A457FC-F2AF-4267-A1B4-ED72E67A7230}" presName="iconRect" presStyleLbl="node1" presStyleIdx="2" presStyleCnt="3"/>
      <dgm:spPr>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Meditation with solid fill"/>
        </a:ext>
      </dgm:extLst>
    </dgm:pt>
    <dgm:pt modelId="{68ED96FD-300C-4085-90FD-E73DC18A8B3C}" type="pres">
      <dgm:prSet presAssocID="{67A457FC-F2AF-4267-A1B4-ED72E67A7230}" presName="spaceRect" presStyleCnt="0"/>
      <dgm:spPr/>
    </dgm:pt>
    <dgm:pt modelId="{436D0AE9-4DD0-4F7D-8B79-C1A759F92750}" type="pres">
      <dgm:prSet presAssocID="{67A457FC-F2AF-4267-A1B4-ED72E67A7230}" presName="textRect" presStyleLbl="revTx" presStyleIdx="2" presStyleCnt="3">
        <dgm:presLayoutVars>
          <dgm:chMax val="1"/>
          <dgm:chPref val="1"/>
        </dgm:presLayoutVars>
      </dgm:prSet>
      <dgm:spPr/>
    </dgm:pt>
  </dgm:ptLst>
  <dgm:cxnLst>
    <dgm:cxn modelId="{137F4039-C533-43EF-A45E-0A96A91650F5}" type="presOf" srcId="{1F1A8D8A-684F-474D-830D-FDA9C8E82F18}" destId="{B43A715F-62A4-4306-8633-637DE0546470}" srcOrd="0" destOrd="0" presId="urn:microsoft.com/office/officeart/2018/2/layout/IconLabelList"/>
    <dgm:cxn modelId="{B7000C3D-DA0D-4E29-A0E6-F8E2D1702013}" srcId="{DCC49556-C6F7-4583-9803-1C2761BCB8C0}" destId="{67A457FC-F2AF-4267-A1B4-ED72E67A7230}" srcOrd="2" destOrd="0" parTransId="{FF406CEF-B7D5-41C1-A415-09F005C995BA}" sibTransId="{52B5D71E-51DB-4336-A495-06F24FF0C196}"/>
    <dgm:cxn modelId="{AF5D2068-2101-4942-811E-3FC14DCC5365}" type="presOf" srcId="{67A457FC-F2AF-4267-A1B4-ED72E67A7230}" destId="{436D0AE9-4DD0-4F7D-8B79-C1A759F92750}" srcOrd="0" destOrd="0" presId="urn:microsoft.com/office/officeart/2018/2/layout/IconLabelList"/>
    <dgm:cxn modelId="{177944C0-E81D-41A4-85BF-744A3D60506E}" srcId="{DCC49556-C6F7-4583-9803-1C2761BCB8C0}" destId="{1F1A8D8A-684F-474D-830D-FDA9C8E82F18}" srcOrd="0" destOrd="0" parTransId="{D8249075-FB5E-4D90-9B0C-8CDE664A744F}" sibTransId="{98086C22-ECCD-4389-9152-F0FBE013F540}"/>
    <dgm:cxn modelId="{31AAF2CC-41BF-4F5D-974B-8B968F3C53A5}" type="presOf" srcId="{DCC49556-C6F7-4583-9803-1C2761BCB8C0}" destId="{198C40C7-774A-4FE2-BF14-C82B0D36C11E}" srcOrd="0" destOrd="0" presId="urn:microsoft.com/office/officeart/2018/2/layout/IconLabelList"/>
    <dgm:cxn modelId="{03D2C2E4-E618-47CF-9A75-D00E0975EFEE}" srcId="{DCC49556-C6F7-4583-9803-1C2761BCB8C0}" destId="{E1998E21-89A1-4C73-BF12-B3EB2BA2E61D}" srcOrd="1" destOrd="0" parTransId="{BCF5A7FA-E27C-4CFC-9A2D-AD2AA64B9461}" sibTransId="{B749CBF2-42A1-4758-A043-57C6145C96A3}"/>
    <dgm:cxn modelId="{5BC989FA-7B44-4B95-88BF-E69B264FDFF9}" type="presOf" srcId="{E1998E21-89A1-4C73-BF12-B3EB2BA2E61D}" destId="{AC66103C-F821-4D52-8171-4F526828A44E}" srcOrd="0" destOrd="0" presId="urn:microsoft.com/office/officeart/2018/2/layout/IconLabelList"/>
    <dgm:cxn modelId="{58632D83-F7D4-4626-897D-BE033631FFE8}" type="presParOf" srcId="{198C40C7-774A-4FE2-BF14-C82B0D36C11E}" destId="{C53551F1-9EE1-4854-8720-021120F9685F}" srcOrd="0" destOrd="0" presId="urn:microsoft.com/office/officeart/2018/2/layout/IconLabelList"/>
    <dgm:cxn modelId="{1896A840-3950-409C-A86F-6D1A9F733ADE}" type="presParOf" srcId="{C53551F1-9EE1-4854-8720-021120F9685F}" destId="{670D23FE-8E42-4119-A30D-2BEC1543683E}" srcOrd="0" destOrd="0" presId="urn:microsoft.com/office/officeart/2018/2/layout/IconLabelList"/>
    <dgm:cxn modelId="{5324B538-84EA-47F6-8CE8-6C6E25E00DC3}" type="presParOf" srcId="{C53551F1-9EE1-4854-8720-021120F9685F}" destId="{4D8DDEF4-C0A1-49B1-8A11-CE39E9078B01}" srcOrd="1" destOrd="0" presId="urn:microsoft.com/office/officeart/2018/2/layout/IconLabelList"/>
    <dgm:cxn modelId="{FBFA3BB8-364B-49ED-A54A-33DB1E688B8A}" type="presParOf" srcId="{C53551F1-9EE1-4854-8720-021120F9685F}" destId="{B43A715F-62A4-4306-8633-637DE0546470}" srcOrd="2" destOrd="0" presId="urn:microsoft.com/office/officeart/2018/2/layout/IconLabelList"/>
    <dgm:cxn modelId="{8EBA1F8C-236B-4E86-98A7-E60607268CC7}" type="presParOf" srcId="{198C40C7-774A-4FE2-BF14-C82B0D36C11E}" destId="{799DA3B2-471E-4A4C-8410-211909E2271E}" srcOrd="1" destOrd="0" presId="urn:microsoft.com/office/officeart/2018/2/layout/IconLabelList"/>
    <dgm:cxn modelId="{E542F80B-D0AB-4258-9E32-90356CF7E462}" type="presParOf" srcId="{198C40C7-774A-4FE2-BF14-C82B0D36C11E}" destId="{641E3F56-5D28-4071-9B5D-A3CD0AB2B5F5}" srcOrd="2" destOrd="0" presId="urn:microsoft.com/office/officeart/2018/2/layout/IconLabelList"/>
    <dgm:cxn modelId="{EC4FC617-1F39-4C99-A9A8-671D77D653AC}" type="presParOf" srcId="{641E3F56-5D28-4071-9B5D-A3CD0AB2B5F5}" destId="{2C4C7F15-4867-437F-AAD1-EBE859D1D492}" srcOrd="0" destOrd="0" presId="urn:microsoft.com/office/officeart/2018/2/layout/IconLabelList"/>
    <dgm:cxn modelId="{7EA61A93-A135-4C8B-8561-4F1EACE21B87}" type="presParOf" srcId="{641E3F56-5D28-4071-9B5D-A3CD0AB2B5F5}" destId="{1B334F7C-35F2-4433-98B5-10D0BD0DF45C}" srcOrd="1" destOrd="0" presId="urn:microsoft.com/office/officeart/2018/2/layout/IconLabelList"/>
    <dgm:cxn modelId="{B02CFBAD-28DD-496A-B861-87DE3206D7D3}" type="presParOf" srcId="{641E3F56-5D28-4071-9B5D-A3CD0AB2B5F5}" destId="{AC66103C-F821-4D52-8171-4F526828A44E}" srcOrd="2" destOrd="0" presId="urn:microsoft.com/office/officeart/2018/2/layout/IconLabelList"/>
    <dgm:cxn modelId="{96EA11A9-23BA-415C-A5A9-E7FBFD672C01}" type="presParOf" srcId="{198C40C7-774A-4FE2-BF14-C82B0D36C11E}" destId="{7DF7BC33-A63A-4FA8-8781-26B2130AE9D2}" srcOrd="3" destOrd="0" presId="urn:microsoft.com/office/officeart/2018/2/layout/IconLabelList"/>
    <dgm:cxn modelId="{1796B9E5-ED05-4DF5-A86B-A125E5EAD170}" type="presParOf" srcId="{198C40C7-774A-4FE2-BF14-C82B0D36C11E}" destId="{BB22265D-4CA7-47F2-8FBB-6A61CDE62A5F}" srcOrd="4" destOrd="0" presId="urn:microsoft.com/office/officeart/2018/2/layout/IconLabelList"/>
    <dgm:cxn modelId="{C21B532C-3090-479F-A0D5-360F3BBB4209}" type="presParOf" srcId="{BB22265D-4CA7-47F2-8FBB-6A61CDE62A5F}" destId="{10E2E386-C7C2-40F9-B677-CAA4E8FE6707}" srcOrd="0" destOrd="0" presId="urn:microsoft.com/office/officeart/2018/2/layout/IconLabelList"/>
    <dgm:cxn modelId="{3E5040A8-A6D5-4606-9171-4EAB83DA6410}" type="presParOf" srcId="{BB22265D-4CA7-47F2-8FBB-6A61CDE62A5F}" destId="{68ED96FD-300C-4085-90FD-E73DC18A8B3C}" srcOrd="1" destOrd="0" presId="urn:microsoft.com/office/officeart/2018/2/layout/IconLabelList"/>
    <dgm:cxn modelId="{7500A01F-D904-43CA-BB03-9CC8F4B88E14}" type="presParOf" srcId="{BB22265D-4CA7-47F2-8FBB-6A61CDE62A5F}" destId="{436D0AE9-4DD0-4F7D-8B79-C1A759F9275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FFD22A0-2FED-450F-BA6A-F2D387670B0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LID4096"/>
        </a:p>
      </dgm:t>
    </dgm:pt>
    <dgm:pt modelId="{01D2D3C3-556F-43FB-948F-A89F4DDFEECC}">
      <dgm:prSet phldrT="[Text]" custT="1"/>
      <dgm:spPr/>
      <dgm:t>
        <a:bodyPr/>
        <a:lstStyle/>
        <a:p>
          <a:r>
            <a:rPr lang="en-GB" sz="1800" dirty="0"/>
            <a:t>EQ-HWB</a:t>
          </a:r>
          <a:endParaRPr lang="LID4096" sz="2400" dirty="0"/>
        </a:p>
      </dgm:t>
    </dgm:pt>
    <dgm:pt modelId="{72E8E515-152F-4CF0-ACA0-96591F0044B9}" type="parTrans" cxnId="{A8C31F82-55D6-4603-B046-2A6630C69D0D}">
      <dgm:prSet/>
      <dgm:spPr/>
      <dgm:t>
        <a:bodyPr/>
        <a:lstStyle/>
        <a:p>
          <a:endParaRPr lang="LID4096"/>
        </a:p>
      </dgm:t>
    </dgm:pt>
    <dgm:pt modelId="{40FEEC16-7053-44CE-89C4-8884F27D2801}" type="sibTrans" cxnId="{A8C31F82-55D6-4603-B046-2A6630C69D0D}">
      <dgm:prSet/>
      <dgm:spPr/>
      <dgm:t>
        <a:bodyPr/>
        <a:lstStyle/>
        <a:p>
          <a:endParaRPr lang="LID4096"/>
        </a:p>
      </dgm:t>
    </dgm:pt>
    <dgm:pt modelId="{81CCC7FD-BF18-49B6-BFDD-27B705FC5F3B}">
      <dgm:prSet phldrT="[Text]" custT="1"/>
      <dgm:spPr/>
      <dgm:t>
        <a:bodyPr/>
        <a:lstStyle/>
        <a:p>
          <a:r>
            <a:rPr lang="en-GB" sz="1400" dirty="0"/>
            <a:t>Based on Wilson and Cleary’s model of health-related quality of life</a:t>
          </a:r>
          <a:endParaRPr lang="LID4096" sz="1400" dirty="0"/>
        </a:p>
      </dgm:t>
    </dgm:pt>
    <dgm:pt modelId="{A8A0FE75-2FB3-4A7A-A1A2-7F3FF2EFE901}" type="parTrans" cxnId="{F6108FD6-5600-4072-9CEE-3088D52E3366}">
      <dgm:prSet/>
      <dgm:spPr/>
      <dgm:t>
        <a:bodyPr/>
        <a:lstStyle/>
        <a:p>
          <a:endParaRPr lang="LID4096"/>
        </a:p>
      </dgm:t>
    </dgm:pt>
    <dgm:pt modelId="{0257D444-3D10-46D4-935E-372E7D33112B}" type="sibTrans" cxnId="{F6108FD6-5600-4072-9CEE-3088D52E3366}">
      <dgm:prSet/>
      <dgm:spPr/>
      <dgm:t>
        <a:bodyPr/>
        <a:lstStyle/>
        <a:p>
          <a:endParaRPr lang="LID4096"/>
        </a:p>
      </dgm:t>
    </dgm:pt>
    <dgm:pt modelId="{3EBF0154-46FE-4B8C-8737-6C28FE1F831B}">
      <dgm:prSet phldrT="[Text]" custT="1"/>
      <dgm:spPr/>
      <dgm:t>
        <a:bodyPr/>
        <a:lstStyle/>
        <a:p>
          <a:r>
            <a:rPr lang="en-GB" sz="1400" dirty="0"/>
            <a:t>Items generated following qualitative review focused on health conditions (5)</a:t>
          </a:r>
          <a:endParaRPr lang="LID4096" sz="1400" dirty="0"/>
        </a:p>
      </dgm:t>
    </dgm:pt>
    <dgm:pt modelId="{0DB55AA2-E2AD-4043-8D22-C55BAB241CDE}" type="parTrans" cxnId="{AFF31946-5CEA-440A-91A9-B817FADEE3B3}">
      <dgm:prSet/>
      <dgm:spPr/>
      <dgm:t>
        <a:bodyPr/>
        <a:lstStyle/>
        <a:p>
          <a:endParaRPr lang="LID4096"/>
        </a:p>
      </dgm:t>
    </dgm:pt>
    <dgm:pt modelId="{C76326F4-1B3F-4FB2-8868-DC8C519C5BC3}" type="sibTrans" cxnId="{AFF31946-5CEA-440A-91A9-B817FADEE3B3}">
      <dgm:prSet/>
      <dgm:spPr/>
      <dgm:t>
        <a:bodyPr/>
        <a:lstStyle/>
        <a:p>
          <a:endParaRPr lang="LID4096"/>
        </a:p>
      </dgm:t>
    </dgm:pt>
    <dgm:pt modelId="{C349FE59-0C10-4963-AA03-429F042B76A3}">
      <dgm:prSet phldrT="[Text]" custT="1"/>
      <dgm:spPr/>
      <dgm:t>
        <a:bodyPr/>
        <a:lstStyle/>
        <a:p>
          <a:r>
            <a:rPr lang="en-GB" sz="1800" dirty="0"/>
            <a:t>SWB-5D</a:t>
          </a:r>
          <a:endParaRPr lang="LID4096" sz="2400" dirty="0"/>
        </a:p>
      </dgm:t>
    </dgm:pt>
    <dgm:pt modelId="{5E2A960B-C95F-4EF8-A064-A9C15B3CDBA2}" type="parTrans" cxnId="{6B31C7E0-91A1-468E-8E6D-F8F7E9D6DE15}">
      <dgm:prSet/>
      <dgm:spPr/>
      <dgm:t>
        <a:bodyPr/>
        <a:lstStyle/>
        <a:p>
          <a:endParaRPr lang="LID4096"/>
        </a:p>
      </dgm:t>
    </dgm:pt>
    <dgm:pt modelId="{25537717-F13E-4FA1-922D-BB0BA34DAF16}" type="sibTrans" cxnId="{6B31C7E0-91A1-468E-8E6D-F8F7E9D6DE15}">
      <dgm:prSet/>
      <dgm:spPr/>
      <dgm:t>
        <a:bodyPr/>
        <a:lstStyle/>
        <a:p>
          <a:endParaRPr lang="LID4096"/>
        </a:p>
      </dgm:t>
    </dgm:pt>
    <dgm:pt modelId="{9B38A1E5-9E76-4097-AFC0-7B1BC4899C91}">
      <dgm:prSet phldrT="[Text]" custT="1"/>
      <dgm:spPr/>
      <dgm:t>
        <a:bodyPr/>
        <a:lstStyle/>
        <a:p>
          <a:r>
            <a:rPr lang="en-GB" sz="1400" dirty="0"/>
            <a:t>Originated from Delphi study with overarching theme: “most important dimensions of health-related quality of life” (6)</a:t>
          </a:r>
          <a:endParaRPr lang="LID4096" sz="1400" dirty="0"/>
        </a:p>
      </dgm:t>
    </dgm:pt>
    <dgm:pt modelId="{194B2586-85C0-4C59-99C7-5DD01F75FBD4}" type="parTrans" cxnId="{AC303F78-0231-4C4B-A8BC-F6430A4B2E36}">
      <dgm:prSet/>
      <dgm:spPr/>
      <dgm:t>
        <a:bodyPr/>
        <a:lstStyle/>
        <a:p>
          <a:endParaRPr lang="LID4096"/>
        </a:p>
      </dgm:t>
    </dgm:pt>
    <dgm:pt modelId="{2B9C507A-4FC9-43CE-A645-6D556F3AA81B}" type="sibTrans" cxnId="{AC303F78-0231-4C4B-A8BC-F6430A4B2E36}">
      <dgm:prSet/>
      <dgm:spPr/>
      <dgm:t>
        <a:bodyPr/>
        <a:lstStyle/>
        <a:p>
          <a:endParaRPr lang="LID4096"/>
        </a:p>
      </dgm:t>
    </dgm:pt>
    <dgm:pt modelId="{5719F58A-9071-42E6-8DDA-8C6716F6A0FA}">
      <dgm:prSet phldrT="[Text]" custT="1"/>
      <dgm:spPr/>
      <dgm:t>
        <a:bodyPr/>
        <a:lstStyle/>
        <a:p>
          <a:r>
            <a:rPr lang="en-GB" sz="1800" dirty="0"/>
            <a:t>ICECAP-A</a:t>
          </a:r>
          <a:endParaRPr lang="LID4096" sz="2400" dirty="0"/>
        </a:p>
      </dgm:t>
    </dgm:pt>
    <dgm:pt modelId="{AC7810D9-3441-4D45-B1D2-7DC6C13403EF}" type="parTrans" cxnId="{207B6452-224B-44AF-8FC6-9FAC3A0EE3D1}">
      <dgm:prSet/>
      <dgm:spPr/>
      <dgm:t>
        <a:bodyPr/>
        <a:lstStyle/>
        <a:p>
          <a:endParaRPr lang="LID4096"/>
        </a:p>
      </dgm:t>
    </dgm:pt>
    <dgm:pt modelId="{A757FDA0-35EE-4748-BD1C-5D0EAD795F20}" type="sibTrans" cxnId="{207B6452-224B-44AF-8FC6-9FAC3A0EE3D1}">
      <dgm:prSet/>
      <dgm:spPr/>
      <dgm:t>
        <a:bodyPr/>
        <a:lstStyle/>
        <a:p>
          <a:endParaRPr lang="LID4096"/>
        </a:p>
      </dgm:t>
    </dgm:pt>
    <dgm:pt modelId="{2B23C46D-8A0F-4988-B4A2-FB61923F1960}">
      <dgm:prSet phldrT="[Text]" custT="1"/>
      <dgm:spPr/>
      <dgm:t>
        <a:bodyPr/>
        <a:lstStyle/>
        <a:p>
          <a:r>
            <a:rPr lang="en-GB" sz="1400" dirty="0"/>
            <a:t>Items identified with scoping review of existing well-being instruments</a:t>
          </a:r>
          <a:endParaRPr lang="LID4096" sz="1400" dirty="0"/>
        </a:p>
      </dgm:t>
    </dgm:pt>
    <dgm:pt modelId="{19F254FC-3179-4EFA-A32A-93C63AC6BA04}" type="parTrans" cxnId="{9EE0CE2D-262B-425A-916E-FCCE2C2D2FB7}">
      <dgm:prSet/>
      <dgm:spPr/>
      <dgm:t>
        <a:bodyPr/>
        <a:lstStyle/>
        <a:p>
          <a:endParaRPr lang="LID4096"/>
        </a:p>
      </dgm:t>
    </dgm:pt>
    <dgm:pt modelId="{4DA8D4FD-D805-4D25-83D1-0869C12837A1}" type="sibTrans" cxnId="{9EE0CE2D-262B-425A-916E-FCCE2C2D2FB7}">
      <dgm:prSet/>
      <dgm:spPr/>
      <dgm:t>
        <a:bodyPr/>
        <a:lstStyle/>
        <a:p>
          <a:endParaRPr lang="LID4096"/>
        </a:p>
      </dgm:t>
    </dgm:pt>
    <dgm:pt modelId="{E982C91C-ECA5-400C-A24F-C2CF148C1188}">
      <dgm:prSet phldrT="[Text]" custT="1"/>
      <dgm:spPr/>
      <dgm:t>
        <a:bodyPr/>
        <a:lstStyle/>
        <a:p>
          <a:r>
            <a:rPr lang="en-GB" sz="1400" dirty="0"/>
            <a:t>Selected based on theoretical framework of eleven broad domains of well-being (8)</a:t>
          </a:r>
          <a:endParaRPr lang="LID4096" sz="1400" dirty="0"/>
        </a:p>
      </dgm:t>
    </dgm:pt>
    <dgm:pt modelId="{F0BB557A-ACE4-4569-A6C8-4259EBE3B69E}" type="parTrans" cxnId="{12FDCD96-2CBD-468A-9441-AE1807E64B3A}">
      <dgm:prSet/>
      <dgm:spPr/>
      <dgm:t>
        <a:bodyPr/>
        <a:lstStyle/>
        <a:p>
          <a:endParaRPr lang="LID4096"/>
        </a:p>
      </dgm:t>
    </dgm:pt>
    <dgm:pt modelId="{0BD3F656-60EF-465A-9E07-09EE24D80022}" type="sibTrans" cxnId="{12FDCD96-2CBD-468A-9441-AE1807E64B3A}">
      <dgm:prSet/>
      <dgm:spPr/>
      <dgm:t>
        <a:bodyPr/>
        <a:lstStyle/>
        <a:p>
          <a:endParaRPr lang="LID4096"/>
        </a:p>
      </dgm:t>
    </dgm:pt>
    <dgm:pt modelId="{E48CE77F-04FE-4A7E-AA39-10D309D74528}">
      <dgm:prSet phldrT="[Text]" custT="1"/>
      <dgm:spPr/>
      <dgm:t>
        <a:bodyPr/>
        <a:lstStyle/>
        <a:p>
          <a:r>
            <a:rPr lang="en-GB" sz="1800" dirty="0"/>
            <a:t>WiX</a:t>
          </a:r>
          <a:endParaRPr lang="LID4096" sz="2400" dirty="0"/>
        </a:p>
      </dgm:t>
    </dgm:pt>
    <dgm:pt modelId="{38C92E55-EE04-4FA9-8516-A01868954E9F}" type="parTrans" cxnId="{31877B08-605F-43BD-8304-5AE272C2E68A}">
      <dgm:prSet/>
      <dgm:spPr/>
      <dgm:t>
        <a:bodyPr/>
        <a:lstStyle/>
        <a:p>
          <a:endParaRPr lang="LID4096"/>
        </a:p>
      </dgm:t>
    </dgm:pt>
    <dgm:pt modelId="{B585CD49-B74F-409E-83CF-C23389FC592F}" type="sibTrans" cxnId="{31877B08-605F-43BD-8304-5AE272C2E68A}">
      <dgm:prSet/>
      <dgm:spPr/>
      <dgm:t>
        <a:bodyPr/>
        <a:lstStyle/>
        <a:p>
          <a:endParaRPr lang="LID4096"/>
        </a:p>
      </dgm:t>
    </dgm:pt>
    <dgm:pt modelId="{ADD4F878-B1F3-43DD-93C4-2D660F5E7298}">
      <dgm:prSet phldrT="[Text]" custT="1"/>
      <dgm:spPr/>
      <dgm:t>
        <a:bodyPr/>
        <a:lstStyle/>
        <a:p>
          <a:r>
            <a:rPr lang="en-GB" sz="1400" dirty="0"/>
            <a:t>Based on capability approach</a:t>
          </a:r>
          <a:endParaRPr lang="LID4096" sz="1400" dirty="0"/>
        </a:p>
      </dgm:t>
    </dgm:pt>
    <dgm:pt modelId="{67CE792B-24C8-4BB1-9BFA-E51DFD9969F6}" type="parTrans" cxnId="{39F3BA1D-E258-4E46-A888-C77AF0AB2C0E}">
      <dgm:prSet/>
      <dgm:spPr/>
      <dgm:t>
        <a:bodyPr/>
        <a:lstStyle/>
        <a:p>
          <a:endParaRPr lang="LID4096"/>
        </a:p>
      </dgm:t>
    </dgm:pt>
    <dgm:pt modelId="{558FE758-CAB3-4979-BFB5-AB692AC842ED}" type="sibTrans" cxnId="{39F3BA1D-E258-4E46-A888-C77AF0AB2C0E}">
      <dgm:prSet/>
      <dgm:spPr/>
      <dgm:t>
        <a:bodyPr/>
        <a:lstStyle/>
        <a:p>
          <a:endParaRPr lang="LID4096"/>
        </a:p>
      </dgm:t>
    </dgm:pt>
    <dgm:pt modelId="{486058EC-EB0C-46FA-A4E5-4C3E930CB885}">
      <dgm:prSet phldrT="[Text]" custT="1"/>
      <dgm:spPr/>
      <dgm:t>
        <a:bodyPr/>
        <a:lstStyle/>
        <a:p>
          <a:r>
            <a:rPr lang="en-GB" sz="1400" dirty="0"/>
            <a:t>Items generated in interviews exploring what is important to individuals in their life (7)</a:t>
          </a:r>
          <a:endParaRPr lang="LID4096" sz="1400" dirty="0"/>
        </a:p>
      </dgm:t>
    </dgm:pt>
    <dgm:pt modelId="{2254AD01-5EF8-40A7-87D0-D2927AE43643}" type="parTrans" cxnId="{D4F880E5-580F-4CAD-8500-E89B96353E51}">
      <dgm:prSet/>
      <dgm:spPr/>
      <dgm:t>
        <a:bodyPr/>
        <a:lstStyle/>
        <a:p>
          <a:endParaRPr lang="LID4096"/>
        </a:p>
      </dgm:t>
    </dgm:pt>
    <dgm:pt modelId="{B53D1F22-77B2-441E-99BE-0D9D7889A2E4}" type="sibTrans" cxnId="{D4F880E5-580F-4CAD-8500-E89B96353E51}">
      <dgm:prSet/>
      <dgm:spPr/>
      <dgm:t>
        <a:bodyPr/>
        <a:lstStyle/>
        <a:p>
          <a:endParaRPr lang="LID4096"/>
        </a:p>
      </dgm:t>
    </dgm:pt>
    <dgm:pt modelId="{768E2364-DA5F-434C-83CB-8D78F23FE445}" type="pres">
      <dgm:prSet presAssocID="{7FFD22A0-2FED-450F-BA6A-F2D387670B08}" presName="Name0" presStyleCnt="0">
        <dgm:presLayoutVars>
          <dgm:dir/>
          <dgm:animLvl val="lvl"/>
          <dgm:resizeHandles val="exact"/>
        </dgm:presLayoutVars>
      </dgm:prSet>
      <dgm:spPr/>
    </dgm:pt>
    <dgm:pt modelId="{E7F8595C-C616-4E51-950F-F4AE8461713E}" type="pres">
      <dgm:prSet presAssocID="{01D2D3C3-556F-43FB-948F-A89F4DDFEECC}" presName="composite" presStyleCnt="0"/>
      <dgm:spPr/>
    </dgm:pt>
    <dgm:pt modelId="{F73C6672-1163-4EAC-8220-0683E97579A9}" type="pres">
      <dgm:prSet presAssocID="{01D2D3C3-556F-43FB-948F-A89F4DDFEECC}" presName="parTx" presStyleLbl="alignNode1" presStyleIdx="0" presStyleCnt="4">
        <dgm:presLayoutVars>
          <dgm:chMax val="0"/>
          <dgm:chPref val="0"/>
          <dgm:bulletEnabled val="1"/>
        </dgm:presLayoutVars>
      </dgm:prSet>
      <dgm:spPr/>
    </dgm:pt>
    <dgm:pt modelId="{E2A7F9DD-0169-40AF-934D-39FE69265804}" type="pres">
      <dgm:prSet presAssocID="{01D2D3C3-556F-43FB-948F-A89F4DDFEECC}" presName="desTx" presStyleLbl="alignAccFollowNode1" presStyleIdx="0" presStyleCnt="4">
        <dgm:presLayoutVars>
          <dgm:bulletEnabled val="1"/>
        </dgm:presLayoutVars>
      </dgm:prSet>
      <dgm:spPr/>
    </dgm:pt>
    <dgm:pt modelId="{C4478A27-6619-4B8A-B38C-44F740421E7B}" type="pres">
      <dgm:prSet presAssocID="{40FEEC16-7053-44CE-89C4-8884F27D2801}" presName="space" presStyleCnt="0"/>
      <dgm:spPr/>
    </dgm:pt>
    <dgm:pt modelId="{A9312909-1C69-4297-A58D-E5A6163E2C7F}" type="pres">
      <dgm:prSet presAssocID="{C349FE59-0C10-4963-AA03-429F042B76A3}" presName="composite" presStyleCnt="0"/>
      <dgm:spPr/>
    </dgm:pt>
    <dgm:pt modelId="{F05A4E50-1730-4ED0-BC7F-0DB9376AF7CD}" type="pres">
      <dgm:prSet presAssocID="{C349FE59-0C10-4963-AA03-429F042B76A3}" presName="parTx" presStyleLbl="alignNode1" presStyleIdx="1" presStyleCnt="4">
        <dgm:presLayoutVars>
          <dgm:chMax val="0"/>
          <dgm:chPref val="0"/>
          <dgm:bulletEnabled val="1"/>
        </dgm:presLayoutVars>
      </dgm:prSet>
      <dgm:spPr/>
    </dgm:pt>
    <dgm:pt modelId="{393B9C77-B24A-43F8-8758-E75C90C8236E}" type="pres">
      <dgm:prSet presAssocID="{C349FE59-0C10-4963-AA03-429F042B76A3}" presName="desTx" presStyleLbl="alignAccFollowNode1" presStyleIdx="1" presStyleCnt="4">
        <dgm:presLayoutVars>
          <dgm:bulletEnabled val="1"/>
        </dgm:presLayoutVars>
      </dgm:prSet>
      <dgm:spPr/>
    </dgm:pt>
    <dgm:pt modelId="{776AD983-9A4A-4F7A-8B02-EF6AE9D49259}" type="pres">
      <dgm:prSet presAssocID="{25537717-F13E-4FA1-922D-BB0BA34DAF16}" presName="space" presStyleCnt="0"/>
      <dgm:spPr/>
    </dgm:pt>
    <dgm:pt modelId="{70A6341C-5F46-4E36-A2C6-9487C0947188}" type="pres">
      <dgm:prSet presAssocID="{5719F58A-9071-42E6-8DDA-8C6716F6A0FA}" presName="composite" presStyleCnt="0"/>
      <dgm:spPr/>
    </dgm:pt>
    <dgm:pt modelId="{8DFE7B46-BADB-4B1C-8E91-1E5D46A2E5DA}" type="pres">
      <dgm:prSet presAssocID="{5719F58A-9071-42E6-8DDA-8C6716F6A0FA}" presName="parTx" presStyleLbl="alignNode1" presStyleIdx="2" presStyleCnt="4">
        <dgm:presLayoutVars>
          <dgm:chMax val="0"/>
          <dgm:chPref val="0"/>
          <dgm:bulletEnabled val="1"/>
        </dgm:presLayoutVars>
      </dgm:prSet>
      <dgm:spPr/>
    </dgm:pt>
    <dgm:pt modelId="{1F56AFDD-FD39-48B1-BFA1-121CA788A394}" type="pres">
      <dgm:prSet presAssocID="{5719F58A-9071-42E6-8DDA-8C6716F6A0FA}" presName="desTx" presStyleLbl="alignAccFollowNode1" presStyleIdx="2" presStyleCnt="4" custLinFactNeighborY="820">
        <dgm:presLayoutVars>
          <dgm:bulletEnabled val="1"/>
        </dgm:presLayoutVars>
      </dgm:prSet>
      <dgm:spPr/>
    </dgm:pt>
    <dgm:pt modelId="{120C7A66-C3C3-484E-8ECE-E59700F45172}" type="pres">
      <dgm:prSet presAssocID="{A757FDA0-35EE-4748-BD1C-5D0EAD795F20}" presName="space" presStyleCnt="0"/>
      <dgm:spPr/>
    </dgm:pt>
    <dgm:pt modelId="{FCDC0350-67F6-446B-8D13-FE77B7B163BF}" type="pres">
      <dgm:prSet presAssocID="{E48CE77F-04FE-4A7E-AA39-10D309D74528}" presName="composite" presStyleCnt="0"/>
      <dgm:spPr/>
    </dgm:pt>
    <dgm:pt modelId="{F1623F9A-8466-4B73-8BD2-B6E617780DCE}" type="pres">
      <dgm:prSet presAssocID="{E48CE77F-04FE-4A7E-AA39-10D309D74528}" presName="parTx" presStyleLbl="alignNode1" presStyleIdx="3" presStyleCnt="4">
        <dgm:presLayoutVars>
          <dgm:chMax val="0"/>
          <dgm:chPref val="0"/>
          <dgm:bulletEnabled val="1"/>
        </dgm:presLayoutVars>
      </dgm:prSet>
      <dgm:spPr/>
    </dgm:pt>
    <dgm:pt modelId="{C2917CB7-AD63-46A3-AE1D-6A38D101AC22}" type="pres">
      <dgm:prSet presAssocID="{E48CE77F-04FE-4A7E-AA39-10D309D74528}" presName="desTx" presStyleLbl="alignAccFollowNode1" presStyleIdx="3" presStyleCnt="4">
        <dgm:presLayoutVars>
          <dgm:bulletEnabled val="1"/>
        </dgm:presLayoutVars>
      </dgm:prSet>
      <dgm:spPr/>
    </dgm:pt>
  </dgm:ptLst>
  <dgm:cxnLst>
    <dgm:cxn modelId="{4ADB4A05-6DEC-4A28-88C6-356D53FE7D81}" type="presOf" srcId="{2B23C46D-8A0F-4988-B4A2-FB61923F1960}" destId="{C2917CB7-AD63-46A3-AE1D-6A38D101AC22}" srcOrd="0" destOrd="0" presId="urn:microsoft.com/office/officeart/2005/8/layout/hList1"/>
    <dgm:cxn modelId="{31877B08-605F-43BD-8304-5AE272C2E68A}" srcId="{7FFD22A0-2FED-450F-BA6A-F2D387670B08}" destId="{E48CE77F-04FE-4A7E-AA39-10D309D74528}" srcOrd="3" destOrd="0" parTransId="{38C92E55-EE04-4FA9-8516-A01868954E9F}" sibTransId="{B585CD49-B74F-409E-83CF-C23389FC592F}"/>
    <dgm:cxn modelId="{7FCD5F0B-C846-49B6-B2C1-A9B293B88C93}" type="presOf" srcId="{7FFD22A0-2FED-450F-BA6A-F2D387670B08}" destId="{768E2364-DA5F-434C-83CB-8D78F23FE445}" srcOrd="0" destOrd="0" presId="urn:microsoft.com/office/officeart/2005/8/layout/hList1"/>
    <dgm:cxn modelId="{39F3BA1D-E258-4E46-A888-C77AF0AB2C0E}" srcId="{5719F58A-9071-42E6-8DDA-8C6716F6A0FA}" destId="{ADD4F878-B1F3-43DD-93C4-2D660F5E7298}" srcOrd="0" destOrd="0" parTransId="{67CE792B-24C8-4BB1-9BFA-E51DFD9969F6}" sibTransId="{558FE758-CAB3-4979-BFB5-AB692AC842ED}"/>
    <dgm:cxn modelId="{9EE0CE2D-262B-425A-916E-FCCE2C2D2FB7}" srcId="{E48CE77F-04FE-4A7E-AA39-10D309D74528}" destId="{2B23C46D-8A0F-4988-B4A2-FB61923F1960}" srcOrd="0" destOrd="0" parTransId="{19F254FC-3179-4EFA-A32A-93C63AC6BA04}" sibTransId="{4DA8D4FD-D805-4D25-83D1-0869C12837A1}"/>
    <dgm:cxn modelId="{FA24C030-7AC8-425E-BCBE-569943BAC426}" type="presOf" srcId="{81CCC7FD-BF18-49B6-BFDD-27B705FC5F3B}" destId="{E2A7F9DD-0169-40AF-934D-39FE69265804}" srcOrd="0" destOrd="0" presId="urn:microsoft.com/office/officeart/2005/8/layout/hList1"/>
    <dgm:cxn modelId="{445E0934-3FA4-4919-8127-C37828847443}" type="presOf" srcId="{E48CE77F-04FE-4A7E-AA39-10D309D74528}" destId="{F1623F9A-8466-4B73-8BD2-B6E617780DCE}" srcOrd="0" destOrd="0" presId="urn:microsoft.com/office/officeart/2005/8/layout/hList1"/>
    <dgm:cxn modelId="{2A521E38-D7CB-4E7D-A2D6-DDBD6945A464}" type="presOf" srcId="{486058EC-EB0C-46FA-A4E5-4C3E930CB885}" destId="{1F56AFDD-FD39-48B1-BFA1-121CA788A394}" srcOrd="0" destOrd="1" presId="urn:microsoft.com/office/officeart/2005/8/layout/hList1"/>
    <dgm:cxn modelId="{AFF31946-5CEA-440A-91A9-B817FADEE3B3}" srcId="{01D2D3C3-556F-43FB-948F-A89F4DDFEECC}" destId="{3EBF0154-46FE-4B8C-8737-6C28FE1F831B}" srcOrd="1" destOrd="0" parTransId="{0DB55AA2-E2AD-4043-8D22-C55BAB241CDE}" sibTransId="{C76326F4-1B3F-4FB2-8868-DC8C519C5BC3}"/>
    <dgm:cxn modelId="{B79D7F47-7F3B-45B6-983B-DDF7ECB7D012}" type="presOf" srcId="{C349FE59-0C10-4963-AA03-429F042B76A3}" destId="{F05A4E50-1730-4ED0-BC7F-0DB9376AF7CD}" srcOrd="0" destOrd="0" presId="urn:microsoft.com/office/officeart/2005/8/layout/hList1"/>
    <dgm:cxn modelId="{207B6452-224B-44AF-8FC6-9FAC3A0EE3D1}" srcId="{7FFD22A0-2FED-450F-BA6A-F2D387670B08}" destId="{5719F58A-9071-42E6-8DDA-8C6716F6A0FA}" srcOrd="2" destOrd="0" parTransId="{AC7810D9-3441-4D45-B1D2-7DC6C13403EF}" sibTransId="{A757FDA0-35EE-4748-BD1C-5D0EAD795F20}"/>
    <dgm:cxn modelId="{AC303F78-0231-4C4B-A8BC-F6430A4B2E36}" srcId="{C349FE59-0C10-4963-AA03-429F042B76A3}" destId="{9B38A1E5-9E76-4097-AFC0-7B1BC4899C91}" srcOrd="0" destOrd="0" parTransId="{194B2586-85C0-4C59-99C7-5DD01F75FBD4}" sibTransId="{2B9C507A-4FC9-43CE-A645-6D556F3AA81B}"/>
    <dgm:cxn modelId="{A8C31F82-55D6-4603-B046-2A6630C69D0D}" srcId="{7FFD22A0-2FED-450F-BA6A-F2D387670B08}" destId="{01D2D3C3-556F-43FB-948F-A89F4DDFEECC}" srcOrd="0" destOrd="0" parTransId="{72E8E515-152F-4CF0-ACA0-96591F0044B9}" sibTransId="{40FEEC16-7053-44CE-89C4-8884F27D2801}"/>
    <dgm:cxn modelId="{9604CE91-E43A-4DFE-91A6-24D69DA4637B}" type="presOf" srcId="{5719F58A-9071-42E6-8DDA-8C6716F6A0FA}" destId="{8DFE7B46-BADB-4B1C-8E91-1E5D46A2E5DA}" srcOrd="0" destOrd="0" presId="urn:microsoft.com/office/officeart/2005/8/layout/hList1"/>
    <dgm:cxn modelId="{12FDCD96-2CBD-468A-9441-AE1807E64B3A}" srcId="{E48CE77F-04FE-4A7E-AA39-10D309D74528}" destId="{E982C91C-ECA5-400C-A24F-C2CF148C1188}" srcOrd="1" destOrd="0" parTransId="{F0BB557A-ACE4-4569-A6C8-4259EBE3B69E}" sibTransId="{0BD3F656-60EF-465A-9E07-09EE24D80022}"/>
    <dgm:cxn modelId="{7F49C9A8-CE52-46D1-B958-A97AA1BA2B09}" type="presOf" srcId="{3EBF0154-46FE-4B8C-8737-6C28FE1F831B}" destId="{E2A7F9DD-0169-40AF-934D-39FE69265804}" srcOrd="0" destOrd="1" presId="urn:microsoft.com/office/officeart/2005/8/layout/hList1"/>
    <dgm:cxn modelId="{B0B8EABE-F8BE-4E8D-AD03-2A76CE2BB13D}" type="presOf" srcId="{01D2D3C3-556F-43FB-948F-A89F4DDFEECC}" destId="{F73C6672-1163-4EAC-8220-0683E97579A9}" srcOrd="0" destOrd="0" presId="urn:microsoft.com/office/officeart/2005/8/layout/hList1"/>
    <dgm:cxn modelId="{F8B18DC3-4595-474A-9419-602873CA85C9}" type="presOf" srcId="{E982C91C-ECA5-400C-A24F-C2CF148C1188}" destId="{C2917CB7-AD63-46A3-AE1D-6A38D101AC22}" srcOrd="0" destOrd="1" presId="urn:microsoft.com/office/officeart/2005/8/layout/hList1"/>
    <dgm:cxn modelId="{7BEB82C6-8536-402B-99CD-DEB05FAA25AE}" type="presOf" srcId="{ADD4F878-B1F3-43DD-93C4-2D660F5E7298}" destId="{1F56AFDD-FD39-48B1-BFA1-121CA788A394}" srcOrd="0" destOrd="0" presId="urn:microsoft.com/office/officeart/2005/8/layout/hList1"/>
    <dgm:cxn modelId="{F6108FD6-5600-4072-9CEE-3088D52E3366}" srcId="{01D2D3C3-556F-43FB-948F-A89F4DDFEECC}" destId="{81CCC7FD-BF18-49B6-BFDD-27B705FC5F3B}" srcOrd="0" destOrd="0" parTransId="{A8A0FE75-2FB3-4A7A-A1A2-7F3FF2EFE901}" sibTransId="{0257D444-3D10-46D4-935E-372E7D33112B}"/>
    <dgm:cxn modelId="{6B31C7E0-91A1-468E-8E6D-F8F7E9D6DE15}" srcId="{7FFD22A0-2FED-450F-BA6A-F2D387670B08}" destId="{C349FE59-0C10-4963-AA03-429F042B76A3}" srcOrd="1" destOrd="0" parTransId="{5E2A960B-C95F-4EF8-A064-A9C15B3CDBA2}" sibTransId="{25537717-F13E-4FA1-922D-BB0BA34DAF16}"/>
    <dgm:cxn modelId="{D4F880E5-580F-4CAD-8500-E89B96353E51}" srcId="{5719F58A-9071-42E6-8DDA-8C6716F6A0FA}" destId="{486058EC-EB0C-46FA-A4E5-4C3E930CB885}" srcOrd="1" destOrd="0" parTransId="{2254AD01-5EF8-40A7-87D0-D2927AE43643}" sibTransId="{B53D1F22-77B2-441E-99BE-0D9D7889A2E4}"/>
    <dgm:cxn modelId="{C8A7FCEA-3078-44EC-B019-FE27501F92CC}" type="presOf" srcId="{9B38A1E5-9E76-4097-AFC0-7B1BC4899C91}" destId="{393B9C77-B24A-43F8-8758-E75C90C8236E}" srcOrd="0" destOrd="0" presId="urn:microsoft.com/office/officeart/2005/8/layout/hList1"/>
    <dgm:cxn modelId="{37A81052-B7EC-4DA2-8D67-80A75248FB6A}" type="presParOf" srcId="{768E2364-DA5F-434C-83CB-8D78F23FE445}" destId="{E7F8595C-C616-4E51-950F-F4AE8461713E}" srcOrd="0" destOrd="0" presId="urn:microsoft.com/office/officeart/2005/8/layout/hList1"/>
    <dgm:cxn modelId="{5F4C54AF-2C68-48B0-BD39-0D9012ED0BC5}" type="presParOf" srcId="{E7F8595C-C616-4E51-950F-F4AE8461713E}" destId="{F73C6672-1163-4EAC-8220-0683E97579A9}" srcOrd="0" destOrd="0" presId="urn:microsoft.com/office/officeart/2005/8/layout/hList1"/>
    <dgm:cxn modelId="{D4D53E1A-4734-4114-8245-8CDF6C050B1B}" type="presParOf" srcId="{E7F8595C-C616-4E51-950F-F4AE8461713E}" destId="{E2A7F9DD-0169-40AF-934D-39FE69265804}" srcOrd="1" destOrd="0" presId="urn:microsoft.com/office/officeart/2005/8/layout/hList1"/>
    <dgm:cxn modelId="{3110F83F-097F-4088-839C-BAFEF30B4F6E}" type="presParOf" srcId="{768E2364-DA5F-434C-83CB-8D78F23FE445}" destId="{C4478A27-6619-4B8A-B38C-44F740421E7B}" srcOrd="1" destOrd="0" presId="urn:microsoft.com/office/officeart/2005/8/layout/hList1"/>
    <dgm:cxn modelId="{2040B663-6A07-4C5D-8BD9-24DEFA2B65DB}" type="presParOf" srcId="{768E2364-DA5F-434C-83CB-8D78F23FE445}" destId="{A9312909-1C69-4297-A58D-E5A6163E2C7F}" srcOrd="2" destOrd="0" presId="urn:microsoft.com/office/officeart/2005/8/layout/hList1"/>
    <dgm:cxn modelId="{15B595D1-78C3-49DD-B2B2-14D730942E5F}" type="presParOf" srcId="{A9312909-1C69-4297-A58D-E5A6163E2C7F}" destId="{F05A4E50-1730-4ED0-BC7F-0DB9376AF7CD}" srcOrd="0" destOrd="0" presId="urn:microsoft.com/office/officeart/2005/8/layout/hList1"/>
    <dgm:cxn modelId="{F4BDFDE4-F387-4727-A34B-0926B6CDB0A0}" type="presParOf" srcId="{A9312909-1C69-4297-A58D-E5A6163E2C7F}" destId="{393B9C77-B24A-43F8-8758-E75C90C8236E}" srcOrd="1" destOrd="0" presId="urn:microsoft.com/office/officeart/2005/8/layout/hList1"/>
    <dgm:cxn modelId="{7255EE21-A4BD-446A-A7F5-1CB483782340}" type="presParOf" srcId="{768E2364-DA5F-434C-83CB-8D78F23FE445}" destId="{776AD983-9A4A-4F7A-8B02-EF6AE9D49259}" srcOrd="3" destOrd="0" presId="urn:microsoft.com/office/officeart/2005/8/layout/hList1"/>
    <dgm:cxn modelId="{F2494DCE-968E-4568-8757-2A15F440A24B}" type="presParOf" srcId="{768E2364-DA5F-434C-83CB-8D78F23FE445}" destId="{70A6341C-5F46-4E36-A2C6-9487C0947188}" srcOrd="4" destOrd="0" presId="urn:microsoft.com/office/officeart/2005/8/layout/hList1"/>
    <dgm:cxn modelId="{A304EF7B-6B1C-4BCC-AFA2-67B045497D67}" type="presParOf" srcId="{70A6341C-5F46-4E36-A2C6-9487C0947188}" destId="{8DFE7B46-BADB-4B1C-8E91-1E5D46A2E5DA}" srcOrd="0" destOrd="0" presId="urn:microsoft.com/office/officeart/2005/8/layout/hList1"/>
    <dgm:cxn modelId="{A6F35CF3-76DE-4DE4-A802-8F060C89F170}" type="presParOf" srcId="{70A6341C-5F46-4E36-A2C6-9487C0947188}" destId="{1F56AFDD-FD39-48B1-BFA1-121CA788A394}" srcOrd="1" destOrd="0" presId="urn:microsoft.com/office/officeart/2005/8/layout/hList1"/>
    <dgm:cxn modelId="{4B305F27-F1E6-4CE9-A0C9-44C55D210C55}" type="presParOf" srcId="{768E2364-DA5F-434C-83CB-8D78F23FE445}" destId="{120C7A66-C3C3-484E-8ECE-E59700F45172}" srcOrd="5" destOrd="0" presId="urn:microsoft.com/office/officeart/2005/8/layout/hList1"/>
    <dgm:cxn modelId="{CCCA088F-B43D-4B3F-8C24-DE9DDBDD7CAD}" type="presParOf" srcId="{768E2364-DA5F-434C-83CB-8D78F23FE445}" destId="{FCDC0350-67F6-446B-8D13-FE77B7B163BF}" srcOrd="6" destOrd="0" presId="urn:microsoft.com/office/officeart/2005/8/layout/hList1"/>
    <dgm:cxn modelId="{62729E3D-8B28-4755-ACE4-4295741D2EEC}" type="presParOf" srcId="{FCDC0350-67F6-446B-8D13-FE77B7B163BF}" destId="{F1623F9A-8466-4B73-8BD2-B6E617780DCE}" srcOrd="0" destOrd="0" presId="urn:microsoft.com/office/officeart/2005/8/layout/hList1"/>
    <dgm:cxn modelId="{DBD96723-1670-480F-8BA8-196D33A250CF}" type="presParOf" srcId="{FCDC0350-67F6-446B-8D13-FE77B7B163BF}" destId="{C2917CB7-AD63-46A3-AE1D-6A38D101AC2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2CEDC13-78D1-4AAE-9E6A-2E03373C37F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LID4096"/>
        </a:p>
      </dgm:t>
    </dgm:pt>
    <dgm:pt modelId="{B4EFECBA-9C68-4FCF-9371-CD7283A9BC4C}">
      <dgm:prSet custT="1"/>
      <dgm:spPr/>
      <dgm:t>
        <a:bodyPr/>
        <a:lstStyle/>
        <a:p>
          <a:r>
            <a:rPr lang="en-GB" sz="2000" b="0" i="0" baseline="0" dirty="0"/>
            <a:t>1. </a:t>
          </a:r>
          <a:r>
            <a:rPr lang="en-GB" sz="2000" dirty="0"/>
            <a:t>To concurrently investigate the psychometric properties of multiple well-being instruments</a:t>
          </a:r>
          <a:endParaRPr lang="en-NL" sz="2000" dirty="0"/>
        </a:p>
      </dgm:t>
    </dgm:pt>
    <dgm:pt modelId="{972D9A1C-36F8-4D43-9B6C-224B18F055F7}" type="parTrans" cxnId="{DB2C08BC-9589-43D4-8263-DB251E14EC62}">
      <dgm:prSet/>
      <dgm:spPr/>
      <dgm:t>
        <a:bodyPr/>
        <a:lstStyle/>
        <a:p>
          <a:endParaRPr lang="LID4096"/>
        </a:p>
      </dgm:t>
    </dgm:pt>
    <dgm:pt modelId="{112D7C6B-3788-4E43-8D8C-CCEFD88D26AA}" type="sibTrans" cxnId="{DB2C08BC-9589-43D4-8263-DB251E14EC62}">
      <dgm:prSet/>
      <dgm:spPr/>
      <dgm:t>
        <a:bodyPr/>
        <a:lstStyle/>
        <a:p>
          <a:endParaRPr lang="LID4096"/>
        </a:p>
      </dgm:t>
    </dgm:pt>
    <dgm:pt modelId="{45DF0F26-E0C1-4EAC-81B5-B84D67EAC153}" type="pres">
      <dgm:prSet presAssocID="{72CEDC13-78D1-4AAE-9E6A-2E03373C37F6}" presName="linear" presStyleCnt="0">
        <dgm:presLayoutVars>
          <dgm:animLvl val="lvl"/>
          <dgm:resizeHandles val="exact"/>
        </dgm:presLayoutVars>
      </dgm:prSet>
      <dgm:spPr/>
    </dgm:pt>
    <dgm:pt modelId="{1C30C354-8DE7-4435-ACEE-4D15A1C4D9D2}" type="pres">
      <dgm:prSet presAssocID="{B4EFECBA-9C68-4FCF-9371-CD7283A9BC4C}" presName="parentText" presStyleLbl="node1" presStyleIdx="0" presStyleCnt="1">
        <dgm:presLayoutVars>
          <dgm:chMax val="0"/>
          <dgm:bulletEnabled val="1"/>
        </dgm:presLayoutVars>
      </dgm:prSet>
      <dgm:spPr/>
    </dgm:pt>
  </dgm:ptLst>
  <dgm:cxnLst>
    <dgm:cxn modelId="{89285C2F-2E5A-4428-9A1E-05D35FCFC33E}" type="presOf" srcId="{72CEDC13-78D1-4AAE-9E6A-2E03373C37F6}" destId="{45DF0F26-E0C1-4EAC-81B5-B84D67EAC153}" srcOrd="0" destOrd="0" presId="urn:microsoft.com/office/officeart/2005/8/layout/vList2"/>
    <dgm:cxn modelId="{820D1F4C-6A27-430A-975D-416C29B8B8B6}" type="presOf" srcId="{B4EFECBA-9C68-4FCF-9371-CD7283A9BC4C}" destId="{1C30C354-8DE7-4435-ACEE-4D15A1C4D9D2}" srcOrd="0" destOrd="0" presId="urn:microsoft.com/office/officeart/2005/8/layout/vList2"/>
    <dgm:cxn modelId="{DB2C08BC-9589-43D4-8263-DB251E14EC62}" srcId="{72CEDC13-78D1-4AAE-9E6A-2E03373C37F6}" destId="{B4EFECBA-9C68-4FCF-9371-CD7283A9BC4C}" srcOrd="0" destOrd="0" parTransId="{972D9A1C-36F8-4D43-9B6C-224B18F055F7}" sibTransId="{112D7C6B-3788-4E43-8D8C-CCEFD88D26AA}"/>
    <dgm:cxn modelId="{91747C44-21E0-4898-B35B-85F7EE0C42B5}" type="presParOf" srcId="{45DF0F26-E0C1-4EAC-81B5-B84D67EAC153}" destId="{1C30C354-8DE7-4435-ACEE-4D15A1C4D9D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CEDC13-78D1-4AAE-9E6A-2E03373C37F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LID4096"/>
        </a:p>
      </dgm:t>
    </dgm:pt>
    <dgm:pt modelId="{B4EFECBA-9C68-4FCF-9371-CD7283A9BC4C}">
      <dgm:prSet custT="1"/>
      <dgm:spPr/>
      <dgm:t>
        <a:bodyPr/>
        <a:lstStyle/>
        <a:p>
          <a:r>
            <a:rPr lang="en-GB" sz="2000" b="0" i="0" baseline="0" dirty="0"/>
            <a:t>2. </a:t>
          </a:r>
          <a:r>
            <a:rPr lang="en-GB" sz="2000" dirty="0"/>
            <a:t>To conduct the psychometric investigation separately for different target populations, including general, older, social care and older social care user populations</a:t>
          </a:r>
          <a:endParaRPr lang="en-NL" sz="2000" dirty="0"/>
        </a:p>
      </dgm:t>
    </dgm:pt>
    <dgm:pt modelId="{972D9A1C-36F8-4D43-9B6C-224B18F055F7}" type="parTrans" cxnId="{DB2C08BC-9589-43D4-8263-DB251E14EC62}">
      <dgm:prSet/>
      <dgm:spPr/>
      <dgm:t>
        <a:bodyPr/>
        <a:lstStyle/>
        <a:p>
          <a:endParaRPr lang="LID4096"/>
        </a:p>
      </dgm:t>
    </dgm:pt>
    <dgm:pt modelId="{112D7C6B-3788-4E43-8D8C-CCEFD88D26AA}" type="sibTrans" cxnId="{DB2C08BC-9589-43D4-8263-DB251E14EC62}">
      <dgm:prSet/>
      <dgm:spPr/>
      <dgm:t>
        <a:bodyPr/>
        <a:lstStyle/>
        <a:p>
          <a:endParaRPr lang="LID4096"/>
        </a:p>
      </dgm:t>
    </dgm:pt>
    <dgm:pt modelId="{45DF0F26-E0C1-4EAC-81B5-B84D67EAC153}" type="pres">
      <dgm:prSet presAssocID="{72CEDC13-78D1-4AAE-9E6A-2E03373C37F6}" presName="linear" presStyleCnt="0">
        <dgm:presLayoutVars>
          <dgm:animLvl val="lvl"/>
          <dgm:resizeHandles val="exact"/>
        </dgm:presLayoutVars>
      </dgm:prSet>
      <dgm:spPr/>
    </dgm:pt>
    <dgm:pt modelId="{1C30C354-8DE7-4435-ACEE-4D15A1C4D9D2}" type="pres">
      <dgm:prSet presAssocID="{B4EFECBA-9C68-4FCF-9371-CD7283A9BC4C}" presName="parentText" presStyleLbl="node1" presStyleIdx="0" presStyleCnt="1" custLinFactNeighborY="6891">
        <dgm:presLayoutVars>
          <dgm:chMax val="0"/>
          <dgm:bulletEnabled val="1"/>
        </dgm:presLayoutVars>
      </dgm:prSet>
      <dgm:spPr/>
    </dgm:pt>
  </dgm:ptLst>
  <dgm:cxnLst>
    <dgm:cxn modelId="{89285C2F-2E5A-4428-9A1E-05D35FCFC33E}" type="presOf" srcId="{72CEDC13-78D1-4AAE-9E6A-2E03373C37F6}" destId="{45DF0F26-E0C1-4EAC-81B5-B84D67EAC153}" srcOrd="0" destOrd="0" presId="urn:microsoft.com/office/officeart/2005/8/layout/vList2"/>
    <dgm:cxn modelId="{820D1F4C-6A27-430A-975D-416C29B8B8B6}" type="presOf" srcId="{B4EFECBA-9C68-4FCF-9371-CD7283A9BC4C}" destId="{1C30C354-8DE7-4435-ACEE-4D15A1C4D9D2}" srcOrd="0" destOrd="0" presId="urn:microsoft.com/office/officeart/2005/8/layout/vList2"/>
    <dgm:cxn modelId="{DB2C08BC-9589-43D4-8263-DB251E14EC62}" srcId="{72CEDC13-78D1-4AAE-9E6A-2E03373C37F6}" destId="{B4EFECBA-9C68-4FCF-9371-CD7283A9BC4C}" srcOrd="0" destOrd="0" parTransId="{972D9A1C-36F8-4D43-9B6C-224B18F055F7}" sibTransId="{112D7C6B-3788-4E43-8D8C-CCEFD88D26AA}"/>
    <dgm:cxn modelId="{91747C44-21E0-4898-B35B-85F7EE0C42B5}" type="presParOf" srcId="{45DF0F26-E0C1-4EAC-81B5-B84D67EAC153}" destId="{1C30C354-8DE7-4435-ACEE-4D15A1C4D9D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53F6A-09BF-49A2-A78A-B471E0B1F928}">
      <dsp:nvSpPr>
        <dsp:cNvPr id="0" name=""/>
        <dsp:cNvSpPr/>
      </dsp:nvSpPr>
      <dsp:spPr>
        <a:xfrm>
          <a:off x="0" y="408"/>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1EBD801-96D3-4FC9-B0F1-4BF7FE260D2D}">
      <dsp:nvSpPr>
        <dsp:cNvPr id="0" name=""/>
        <dsp:cNvSpPr/>
      </dsp:nvSpPr>
      <dsp:spPr>
        <a:xfrm>
          <a:off x="0" y="408"/>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Background and project aim</a:t>
          </a:r>
          <a:endParaRPr lang="en-US" sz="3100" kern="1200" dirty="0"/>
        </a:p>
      </dsp:txBody>
      <dsp:txXfrm>
        <a:off x="0" y="408"/>
        <a:ext cx="8172000" cy="669436"/>
      </dsp:txXfrm>
    </dsp:sp>
    <dsp:sp modelId="{5E6F0AE0-96CA-497B-9795-A41CEEA2E63F}">
      <dsp:nvSpPr>
        <dsp:cNvPr id="0" name=""/>
        <dsp:cNvSpPr/>
      </dsp:nvSpPr>
      <dsp:spPr>
        <a:xfrm>
          <a:off x="0" y="669845"/>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F08367A-393C-4A1E-A3FB-1D535F5EF0F4}">
      <dsp:nvSpPr>
        <dsp:cNvPr id="0" name=""/>
        <dsp:cNvSpPr/>
      </dsp:nvSpPr>
      <dsp:spPr>
        <a:xfrm>
          <a:off x="0" y="669845"/>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Methodology</a:t>
          </a:r>
        </a:p>
      </dsp:txBody>
      <dsp:txXfrm>
        <a:off x="0" y="669845"/>
        <a:ext cx="8172000" cy="669436"/>
      </dsp:txXfrm>
    </dsp:sp>
    <dsp:sp modelId="{8BED15E9-4D84-4E55-81F4-2BACAC303614}">
      <dsp:nvSpPr>
        <dsp:cNvPr id="0" name=""/>
        <dsp:cNvSpPr/>
      </dsp:nvSpPr>
      <dsp:spPr>
        <a:xfrm>
          <a:off x="0" y="1339281"/>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2936584-2F6C-4EA2-9547-088E68068B2F}">
      <dsp:nvSpPr>
        <dsp:cNvPr id="0" name=""/>
        <dsp:cNvSpPr/>
      </dsp:nvSpPr>
      <dsp:spPr>
        <a:xfrm>
          <a:off x="0" y="1339281"/>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Results</a:t>
          </a:r>
        </a:p>
      </dsp:txBody>
      <dsp:txXfrm>
        <a:off x="0" y="1339281"/>
        <a:ext cx="8172000" cy="669436"/>
      </dsp:txXfrm>
    </dsp:sp>
    <dsp:sp modelId="{5CAE7371-A42A-4610-A550-85D137C96FB7}">
      <dsp:nvSpPr>
        <dsp:cNvPr id="0" name=""/>
        <dsp:cNvSpPr/>
      </dsp:nvSpPr>
      <dsp:spPr>
        <a:xfrm>
          <a:off x="0" y="2008718"/>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FD3F0F4E-7411-4ED1-9351-194FB43019A7}">
      <dsp:nvSpPr>
        <dsp:cNvPr id="0" name=""/>
        <dsp:cNvSpPr/>
      </dsp:nvSpPr>
      <dsp:spPr>
        <a:xfrm>
          <a:off x="0" y="2008718"/>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Discussion</a:t>
          </a:r>
        </a:p>
      </dsp:txBody>
      <dsp:txXfrm>
        <a:off x="0" y="2008718"/>
        <a:ext cx="8172000" cy="669436"/>
      </dsp:txXfrm>
    </dsp:sp>
    <dsp:sp modelId="{F47B3973-6AFB-4252-B9C8-D51CD4D7E708}">
      <dsp:nvSpPr>
        <dsp:cNvPr id="0" name=""/>
        <dsp:cNvSpPr/>
      </dsp:nvSpPr>
      <dsp:spPr>
        <a:xfrm>
          <a:off x="0" y="2678154"/>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AE7F060-2E20-4BD2-9841-280DD3CA9416}">
      <dsp:nvSpPr>
        <dsp:cNvPr id="0" name=""/>
        <dsp:cNvSpPr/>
      </dsp:nvSpPr>
      <dsp:spPr>
        <a:xfrm>
          <a:off x="0" y="2678154"/>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Q&amp;A</a:t>
          </a:r>
        </a:p>
      </dsp:txBody>
      <dsp:txXfrm>
        <a:off x="0" y="2678154"/>
        <a:ext cx="8172000" cy="669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23FE-8E42-4119-A30D-2BEC1543683E}">
      <dsp:nvSpPr>
        <dsp:cNvPr id="0" name=""/>
        <dsp:cNvSpPr/>
      </dsp:nvSpPr>
      <dsp:spPr>
        <a:xfrm>
          <a:off x="729674"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3A715F-62A4-4306-8633-637DE0546470}">
      <dsp:nvSpPr>
        <dsp:cNvPr id="0" name=""/>
        <dsp:cNvSpPr/>
      </dsp:nvSpPr>
      <dsp:spPr>
        <a:xfrm>
          <a:off x="70396"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GB" sz="1300" kern="1200" dirty="0"/>
            <a:t>Economic evaluations (EE) advocated to be used in long-term care (LTC) and non-curative settings</a:t>
          </a:r>
          <a:endParaRPr lang="en-US" sz="1300" kern="1200" dirty="0"/>
        </a:p>
      </dsp:txBody>
      <dsp:txXfrm>
        <a:off x="70396" y="2012210"/>
        <a:ext cx="2397375" cy="720000"/>
      </dsp:txXfrm>
    </dsp:sp>
    <dsp:sp modelId="{2C4C7F15-4867-437F-AAD1-EBE859D1D492}">
      <dsp:nvSpPr>
        <dsp:cNvPr id="0" name=""/>
        <dsp:cNvSpPr/>
      </dsp:nvSpPr>
      <dsp:spPr>
        <a:xfrm>
          <a:off x="3546590"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66103C-F821-4D52-8171-4F526828A44E}">
      <dsp:nvSpPr>
        <dsp:cNvPr id="0" name=""/>
        <dsp:cNvSpPr/>
      </dsp:nvSpPr>
      <dsp:spPr>
        <a:xfrm>
          <a:off x="2887312"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Current outcome measures are inadequate given their focus on (physical) health</a:t>
          </a:r>
        </a:p>
      </dsp:txBody>
      <dsp:txXfrm>
        <a:off x="2887312" y="2012210"/>
        <a:ext cx="2397375" cy="720000"/>
      </dsp:txXfrm>
    </dsp:sp>
    <dsp:sp modelId="{10E2E386-C7C2-40F9-B677-CAA4E8FE6707}">
      <dsp:nvSpPr>
        <dsp:cNvPr id="0" name=""/>
        <dsp:cNvSpPr/>
      </dsp:nvSpPr>
      <dsp:spPr>
        <a:xfrm>
          <a:off x="6363506"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6D0AE9-4DD0-4F7D-8B79-C1A759F92750}">
      <dsp:nvSpPr>
        <dsp:cNvPr id="0" name=""/>
        <dsp:cNvSpPr/>
      </dsp:nvSpPr>
      <dsp:spPr>
        <a:xfrm>
          <a:off x="5704228"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GB" sz="1300" kern="1200" dirty="0"/>
            <a:t>Extending applications of EE to LTC settings will require focusing on broader outcomes, such as well-being </a:t>
          </a:r>
          <a:endParaRPr lang="en-US" sz="1300" kern="1200" dirty="0"/>
        </a:p>
      </dsp:txBody>
      <dsp:txXfrm>
        <a:off x="5704228" y="2012210"/>
        <a:ext cx="2397375"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53E5A-B396-476B-827A-0C8D97374C75}">
      <dsp:nvSpPr>
        <dsp:cNvPr id="0" name=""/>
        <dsp:cNvSpPr/>
      </dsp:nvSpPr>
      <dsp:spPr>
        <a:xfrm>
          <a:off x="13699"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C7FCF0-0F83-47EF-B4E3-DFC332FF1F37}">
      <dsp:nvSpPr>
        <dsp:cNvPr id="0" name=""/>
        <dsp:cNvSpPr/>
      </dsp:nvSpPr>
      <dsp:spPr>
        <a:xfrm>
          <a:off x="240131" y="537606"/>
          <a:ext cx="625382" cy="625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A6F0F9-EA6E-4353-8B79-17ADEFD3C042}">
      <dsp:nvSpPr>
        <dsp:cNvPr id="0" name=""/>
        <dsp:cNvSpPr/>
      </dsp:nvSpPr>
      <dsp:spPr>
        <a:xfrm>
          <a:off x="1322997"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Several well-being questionnaires </a:t>
          </a:r>
          <a:r>
            <a:rPr lang="en-US" sz="1400" b="0" i="0" kern="1200" baseline="0" dirty="0"/>
            <a:t>have been developed to use in non-curative care to evaluate technology and services </a:t>
          </a:r>
          <a:endParaRPr lang="en-US" sz="1400" kern="1200" dirty="0"/>
        </a:p>
      </dsp:txBody>
      <dsp:txXfrm>
        <a:off x="1322997" y="311174"/>
        <a:ext cx="2541577" cy="1078245"/>
      </dsp:txXfrm>
    </dsp:sp>
    <dsp:sp modelId="{52945532-4D0E-4A42-AFCC-9F2780655FA8}">
      <dsp:nvSpPr>
        <dsp:cNvPr id="0" name=""/>
        <dsp:cNvSpPr/>
      </dsp:nvSpPr>
      <dsp:spPr>
        <a:xfrm>
          <a:off x="4307425"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1B79D-04EB-43A0-BA2A-C452246017CA}">
      <dsp:nvSpPr>
        <dsp:cNvPr id="0" name=""/>
        <dsp:cNvSpPr/>
      </dsp:nvSpPr>
      <dsp:spPr>
        <a:xfrm>
          <a:off x="4533856" y="537606"/>
          <a:ext cx="625382" cy="625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8B7C78-FA24-4234-8110-E6665DAB46DC}">
      <dsp:nvSpPr>
        <dsp:cNvPr id="0" name=""/>
        <dsp:cNvSpPr/>
      </dsp:nvSpPr>
      <dsp:spPr>
        <a:xfrm>
          <a:off x="5616722"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These questionnaires are at </a:t>
          </a:r>
          <a:r>
            <a:rPr lang="en-US" sz="1400" b="0" i="0" u="sng" kern="1200" baseline="0" dirty="0"/>
            <a:t>different stages of development </a:t>
          </a:r>
          <a:r>
            <a:rPr lang="en-US" sz="1400" b="0" i="0" kern="1200" baseline="0" dirty="0"/>
            <a:t>and have never been compared altogether in the same context/population</a:t>
          </a:r>
          <a:endParaRPr lang="en-US" sz="1400" kern="1200" dirty="0"/>
        </a:p>
      </dsp:txBody>
      <dsp:txXfrm>
        <a:off x="5616722" y="311174"/>
        <a:ext cx="2541577" cy="1078245"/>
      </dsp:txXfrm>
    </dsp:sp>
    <dsp:sp modelId="{BAD7A230-F1EC-4C6A-80A2-438C5474875B}">
      <dsp:nvSpPr>
        <dsp:cNvPr id="0" name=""/>
        <dsp:cNvSpPr/>
      </dsp:nvSpPr>
      <dsp:spPr>
        <a:xfrm>
          <a:off x="13699"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2E7F33-FF3A-4A19-A3B8-9F924A69D859}">
      <dsp:nvSpPr>
        <dsp:cNvPr id="0" name=""/>
        <dsp:cNvSpPr/>
      </dsp:nvSpPr>
      <dsp:spPr>
        <a:xfrm>
          <a:off x="240131" y="2185011"/>
          <a:ext cx="625382" cy="62538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0A4869-D9AD-4E3D-B229-F0274C8DBFB6}">
      <dsp:nvSpPr>
        <dsp:cNvPr id="0" name=""/>
        <dsp:cNvSpPr/>
      </dsp:nvSpPr>
      <dsp:spPr>
        <a:xfrm>
          <a:off x="1322997"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It is still unclear which instruments should be used </a:t>
          </a:r>
          <a:r>
            <a:rPr lang="en-US" sz="1400" b="0" i="0" kern="1200" baseline="0" dirty="0"/>
            <a:t>to assess the effectiveness of an intervention targeting well-being in a specific context</a:t>
          </a:r>
          <a:endParaRPr lang="en-US" sz="1400" kern="1200" dirty="0"/>
        </a:p>
      </dsp:txBody>
      <dsp:txXfrm>
        <a:off x="1322997" y="1958580"/>
        <a:ext cx="2541577" cy="1078245"/>
      </dsp:txXfrm>
    </dsp:sp>
    <dsp:sp modelId="{BBFC21C5-6BDD-4EA1-8473-C9B72A532417}">
      <dsp:nvSpPr>
        <dsp:cNvPr id="0" name=""/>
        <dsp:cNvSpPr/>
      </dsp:nvSpPr>
      <dsp:spPr>
        <a:xfrm>
          <a:off x="4307425"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649E1-7345-4F7D-9E37-E3124D0AF362}">
      <dsp:nvSpPr>
        <dsp:cNvPr id="0" name=""/>
        <dsp:cNvSpPr/>
      </dsp:nvSpPr>
      <dsp:spPr>
        <a:xfrm>
          <a:off x="4533856" y="2185011"/>
          <a:ext cx="625382" cy="62538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A970FB-A119-4878-9E73-BBEE04865926}">
      <dsp:nvSpPr>
        <dsp:cNvPr id="0" name=""/>
        <dsp:cNvSpPr/>
      </dsp:nvSpPr>
      <dsp:spPr>
        <a:xfrm>
          <a:off x="5616722"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This question led to the project named “</a:t>
          </a:r>
          <a:r>
            <a:rPr lang="en-US" sz="1400" b="0" i="0" u="sng" kern="1200" baseline="0" dirty="0"/>
            <a:t>The Well-being Multi-Instrument Comparison</a:t>
          </a:r>
          <a:r>
            <a:rPr lang="en-US" sz="1400" b="0" i="0" kern="1200" baseline="0" dirty="0"/>
            <a:t>” (W-MIC) study </a:t>
          </a:r>
          <a:endParaRPr lang="en-US" sz="1400" kern="1200" dirty="0"/>
        </a:p>
      </dsp:txBody>
      <dsp:txXfrm>
        <a:off x="5616722" y="1958580"/>
        <a:ext cx="2541577" cy="10782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1E958-D3DF-4C96-95B5-A9ED077BFBED}">
      <dsp:nvSpPr>
        <dsp:cNvPr id="0" name=""/>
        <dsp:cNvSpPr/>
      </dsp:nvSpPr>
      <dsp:spPr>
        <a:xfrm>
          <a:off x="343703"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29F06-730A-4663-AE00-5B682949F0F4}">
      <dsp:nvSpPr>
        <dsp:cNvPr id="0" name=""/>
        <dsp:cNvSpPr/>
      </dsp:nvSpPr>
      <dsp:spPr>
        <a:xfrm>
          <a:off x="572676"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39ED06-E50D-4B8F-B46F-932D2668C39C}">
      <dsp:nvSpPr>
        <dsp:cNvPr id="0" name=""/>
        <dsp:cNvSpPr/>
      </dsp:nvSpPr>
      <dsp:spPr>
        <a:xfrm>
          <a:off x="244"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u="none" kern="1200" cap="none" dirty="0"/>
            <a:t>Cross-sectional survey with follow-up measurement</a:t>
          </a:r>
        </a:p>
      </dsp:txBody>
      <dsp:txXfrm>
        <a:off x="244" y="1950678"/>
        <a:ext cx="1761328" cy="855706"/>
      </dsp:txXfrm>
    </dsp:sp>
    <dsp:sp modelId="{B3D78F0F-5BA8-4D81-BBB3-FDA42BFA0EEE}">
      <dsp:nvSpPr>
        <dsp:cNvPr id="0" name=""/>
        <dsp:cNvSpPr/>
      </dsp:nvSpPr>
      <dsp:spPr>
        <a:xfrm>
          <a:off x="2413264"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19993-CAE1-449C-A1FD-EE5E9947A967}">
      <dsp:nvSpPr>
        <dsp:cNvPr id="0" name=""/>
        <dsp:cNvSpPr/>
      </dsp:nvSpPr>
      <dsp:spPr>
        <a:xfrm>
          <a:off x="2642236"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85C12A-9539-4464-8C2A-A98109C8560B}">
      <dsp:nvSpPr>
        <dsp:cNvPr id="0" name=""/>
        <dsp:cNvSpPr/>
      </dsp:nvSpPr>
      <dsp:spPr>
        <a:xfrm>
          <a:off x="2069805"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7000 US and NL participants, with quotas for specific subgroups (general, older, targeted health conditions)</a:t>
          </a:r>
          <a:endParaRPr lang="en-US" sz="1100" b="0" kern="1200" cap="none" dirty="0"/>
        </a:p>
      </dsp:txBody>
      <dsp:txXfrm>
        <a:off x="2069805" y="1950678"/>
        <a:ext cx="1761328" cy="855706"/>
      </dsp:txXfrm>
    </dsp:sp>
    <dsp:sp modelId="{4A640C46-4883-4811-A235-4BA4A2CEF0B7}">
      <dsp:nvSpPr>
        <dsp:cNvPr id="0" name=""/>
        <dsp:cNvSpPr/>
      </dsp:nvSpPr>
      <dsp:spPr>
        <a:xfrm>
          <a:off x="4731779"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FFD93-E3BB-42DF-A3E1-A8C7B889D6BE}">
      <dsp:nvSpPr>
        <dsp:cNvPr id="0" name=""/>
        <dsp:cNvSpPr/>
      </dsp:nvSpPr>
      <dsp:spPr>
        <a:xfrm>
          <a:off x="4960752"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0DB5F7-4370-41F2-A6AF-F8E0A31CC79A}">
      <dsp:nvSpPr>
        <dsp:cNvPr id="0" name=""/>
        <dsp:cNvSpPr/>
      </dsp:nvSpPr>
      <dsp:spPr>
        <a:xfrm>
          <a:off x="4139365" y="1933324"/>
          <a:ext cx="2259237"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Demographics (Module A), Well-being instruments (Module B), Clinical severity (Module C), General health (Module D), General well-being (Module E)</a:t>
          </a:r>
        </a:p>
      </dsp:txBody>
      <dsp:txXfrm>
        <a:off x="4139365" y="1933324"/>
        <a:ext cx="2259237" cy="855706"/>
      </dsp:txXfrm>
    </dsp:sp>
    <dsp:sp modelId="{9ABBF986-0F25-462F-980B-460A660F9190}">
      <dsp:nvSpPr>
        <dsp:cNvPr id="0" name=""/>
        <dsp:cNvSpPr/>
      </dsp:nvSpPr>
      <dsp:spPr>
        <a:xfrm>
          <a:off x="7050295"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4DE8EE-4CFB-4AC7-8FE5-9E7595F568FE}">
      <dsp:nvSpPr>
        <dsp:cNvPr id="0" name=""/>
        <dsp:cNvSpPr/>
      </dsp:nvSpPr>
      <dsp:spPr>
        <a:xfrm>
          <a:off x="7279267" y="770588"/>
          <a:ext cx="616464" cy="616464"/>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FB75D4-2B99-4F4E-AD9B-437636C197EF}">
      <dsp:nvSpPr>
        <dsp:cNvPr id="0" name=""/>
        <dsp:cNvSpPr/>
      </dsp:nvSpPr>
      <dsp:spPr>
        <a:xfrm>
          <a:off x="6706836"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err="1"/>
            <a:t>Dynata</a:t>
          </a:r>
          <a:r>
            <a:rPr lang="en-US" sz="1100" kern="1200" cap="none" dirty="0"/>
            <a:t> hosted and recruited participants</a:t>
          </a:r>
        </a:p>
      </dsp:txBody>
      <dsp:txXfrm>
        <a:off x="6706836" y="1950678"/>
        <a:ext cx="1761328" cy="8557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23FE-8E42-4119-A30D-2BEC1543683E}">
      <dsp:nvSpPr>
        <dsp:cNvPr id="0" name=""/>
        <dsp:cNvSpPr/>
      </dsp:nvSpPr>
      <dsp:spPr>
        <a:xfrm>
          <a:off x="729674"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3A715F-62A4-4306-8633-637DE0546470}">
      <dsp:nvSpPr>
        <dsp:cNvPr id="0" name=""/>
        <dsp:cNvSpPr/>
      </dsp:nvSpPr>
      <dsp:spPr>
        <a:xfrm>
          <a:off x="70396"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All instruments demonstrated good psychometric performance (particularly the WiX and EQ-HWB-9)</a:t>
          </a:r>
        </a:p>
      </dsp:txBody>
      <dsp:txXfrm>
        <a:off x="70396" y="2012210"/>
        <a:ext cx="2397375" cy="720000"/>
      </dsp:txXfrm>
    </dsp:sp>
    <dsp:sp modelId="{2C4C7F15-4867-437F-AAD1-EBE859D1D492}">
      <dsp:nvSpPr>
        <dsp:cNvPr id="0" name=""/>
        <dsp:cNvSpPr/>
      </dsp:nvSpPr>
      <dsp:spPr>
        <a:xfrm>
          <a:off x="3546590" y="615789"/>
          <a:ext cx="1078818" cy="1078818"/>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66103C-F821-4D52-8171-4F526828A44E}">
      <dsp:nvSpPr>
        <dsp:cNvPr id="0" name=""/>
        <dsp:cNvSpPr/>
      </dsp:nvSpPr>
      <dsp:spPr>
        <a:xfrm>
          <a:off x="2887312"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EQ-HWB-9 and SWB-5D seemed more sensitive to variations in health</a:t>
          </a:r>
        </a:p>
      </dsp:txBody>
      <dsp:txXfrm>
        <a:off x="2887312" y="2012210"/>
        <a:ext cx="2397375" cy="720000"/>
      </dsp:txXfrm>
    </dsp:sp>
    <dsp:sp modelId="{10E2E386-C7C2-40F9-B677-CAA4E8FE6707}">
      <dsp:nvSpPr>
        <dsp:cNvPr id="0" name=""/>
        <dsp:cNvSpPr/>
      </dsp:nvSpPr>
      <dsp:spPr>
        <a:xfrm>
          <a:off x="6363506" y="615789"/>
          <a:ext cx="1078818" cy="1078818"/>
        </a:xfrm>
        <a:prstGeom prst="rect">
          <a:avLst/>
        </a:prstGeom>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6D0AE9-4DD0-4F7D-8B79-C1A759F92750}">
      <dsp:nvSpPr>
        <dsp:cNvPr id="0" name=""/>
        <dsp:cNvSpPr/>
      </dsp:nvSpPr>
      <dsp:spPr>
        <a:xfrm>
          <a:off x="5704228"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ICECAP-A and WiX had higher sensitivity in broader well-being domains</a:t>
          </a:r>
        </a:p>
      </dsp:txBody>
      <dsp:txXfrm>
        <a:off x="5704228" y="2012210"/>
        <a:ext cx="2397375"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3C6672-1163-4EAC-8220-0683E97579A9}">
      <dsp:nvSpPr>
        <dsp:cNvPr id="0" name=""/>
        <dsp:cNvSpPr/>
      </dsp:nvSpPr>
      <dsp:spPr>
        <a:xfrm>
          <a:off x="321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EQ-HWB</a:t>
          </a:r>
          <a:endParaRPr lang="LID4096" sz="2400" kern="1200" dirty="0"/>
        </a:p>
      </dsp:txBody>
      <dsp:txXfrm>
        <a:off x="3218" y="16010"/>
        <a:ext cx="1935517" cy="403200"/>
      </dsp:txXfrm>
    </dsp:sp>
    <dsp:sp modelId="{E2A7F9DD-0169-40AF-934D-39FE69265804}">
      <dsp:nvSpPr>
        <dsp:cNvPr id="0" name=""/>
        <dsp:cNvSpPr/>
      </dsp:nvSpPr>
      <dsp:spPr>
        <a:xfrm>
          <a:off x="321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Based on Wilson and Cleary’s model of health-related quality of life</a:t>
          </a:r>
          <a:endParaRPr lang="LID4096" sz="1400" kern="1200" dirty="0"/>
        </a:p>
        <a:p>
          <a:pPr marL="114300" lvl="1" indent="-114300" algn="l" defTabSz="622300">
            <a:lnSpc>
              <a:spcPct val="90000"/>
            </a:lnSpc>
            <a:spcBef>
              <a:spcPct val="0"/>
            </a:spcBef>
            <a:spcAft>
              <a:spcPct val="15000"/>
            </a:spcAft>
            <a:buChar char="•"/>
          </a:pPr>
          <a:r>
            <a:rPr lang="en-GB" sz="1400" kern="1200" dirty="0"/>
            <a:t>Items generated following qualitative review focused on health conditions (5)</a:t>
          </a:r>
          <a:endParaRPr lang="LID4096" sz="1400" kern="1200" dirty="0"/>
        </a:p>
      </dsp:txBody>
      <dsp:txXfrm>
        <a:off x="3218" y="419210"/>
        <a:ext cx="1935517" cy="2143673"/>
      </dsp:txXfrm>
    </dsp:sp>
    <dsp:sp modelId="{F05A4E50-1730-4ED0-BC7F-0DB9376AF7CD}">
      <dsp:nvSpPr>
        <dsp:cNvPr id="0" name=""/>
        <dsp:cNvSpPr/>
      </dsp:nvSpPr>
      <dsp:spPr>
        <a:xfrm>
          <a:off x="220970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SWB-5D</a:t>
          </a:r>
          <a:endParaRPr lang="LID4096" sz="2400" kern="1200" dirty="0"/>
        </a:p>
      </dsp:txBody>
      <dsp:txXfrm>
        <a:off x="2209708" y="16010"/>
        <a:ext cx="1935517" cy="403200"/>
      </dsp:txXfrm>
    </dsp:sp>
    <dsp:sp modelId="{393B9C77-B24A-43F8-8758-E75C90C8236E}">
      <dsp:nvSpPr>
        <dsp:cNvPr id="0" name=""/>
        <dsp:cNvSpPr/>
      </dsp:nvSpPr>
      <dsp:spPr>
        <a:xfrm>
          <a:off x="220970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Originated from Delphi study with overarching theme: “most important dimensions of health-related quality of life” (6)</a:t>
          </a:r>
          <a:endParaRPr lang="LID4096" sz="1400" kern="1200" dirty="0"/>
        </a:p>
      </dsp:txBody>
      <dsp:txXfrm>
        <a:off x="2209708" y="419210"/>
        <a:ext cx="1935517" cy="2143673"/>
      </dsp:txXfrm>
    </dsp:sp>
    <dsp:sp modelId="{8DFE7B46-BADB-4B1C-8E91-1E5D46A2E5DA}">
      <dsp:nvSpPr>
        <dsp:cNvPr id="0" name=""/>
        <dsp:cNvSpPr/>
      </dsp:nvSpPr>
      <dsp:spPr>
        <a:xfrm>
          <a:off x="441619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ICECAP-A</a:t>
          </a:r>
          <a:endParaRPr lang="LID4096" sz="2400" kern="1200" dirty="0"/>
        </a:p>
      </dsp:txBody>
      <dsp:txXfrm>
        <a:off x="4416198" y="16010"/>
        <a:ext cx="1935517" cy="403200"/>
      </dsp:txXfrm>
    </dsp:sp>
    <dsp:sp modelId="{1F56AFDD-FD39-48B1-BFA1-121CA788A394}">
      <dsp:nvSpPr>
        <dsp:cNvPr id="0" name=""/>
        <dsp:cNvSpPr/>
      </dsp:nvSpPr>
      <dsp:spPr>
        <a:xfrm>
          <a:off x="4416198" y="435221"/>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Based on capability approach</a:t>
          </a:r>
          <a:endParaRPr lang="LID4096" sz="1400" kern="1200" dirty="0"/>
        </a:p>
        <a:p>
          <a:pPr marL="114300" lvl="1" indent="-114300" algn="l" defTabSz="622300">
            <a:lnSpc>
              <a:spcPct val="90000"/>
            </a:lnSpc>
            <a:spcBef>
              <a:spcPct val="0"/>
            </a:spcBef>
            <a:spcAft>
              <a:spcPct val="15000"/>
            </a:spcAft>
            <a:buChar char="•"/>
          </a:pPr>
          <a:r>
            <a:rPr lang="en-GB" sz="1400" kern="1200" dirty="0"/>
            <a:t>Items generated in interviews exploring what is important to individuals in their life (7)</a:t>
          </a:r>
          <a:endParaRPr lang="LID4096" sz="1400" kern="1200" dirty="0"/>
        </a:p>
      </dsp:txBody>
      <dsp:txXfrm>
        <a:off x="4416198" y="435221"/>
        <a:ext cx="1935517" cy="2143673"/>
      </dsp:txXfrm>
    </dsp:sp>
    <dsp:sp modelId="{F1623F9A-8466-4B73-8BD2-B6E617780DCE}">
      <dsp:nvSpPr>
        <dsp:cNvPr id="0" name=""/>
        <dsp:cNvSpPr/>
      </dsp:nvSpPr>
      <dsp:spPr>
        <a:xfrm>
          <a:off x="662268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WiX</a:t>
          </a:r>
          <a:endParaRPr lang="LID4096" sz="2400" kern="1200" dirty="0"/>
        </a:p>
      </dsp:txBody>
      <dsp:txXfrm>
        <a:off x="6622688" y="16010"/>
        <a:ext cx="1935517" cy="403200"/>
      </dsp:txXfrm>
    </dsp:sp>
    <dsp:sp modelId="{C2917CB7-AD63-46A3-AE1D-6A38D101AC22}">
      <dsp:nvSpPr>
        <dsp:cNvPr id="0" name=""/>
        <dsp:cNvSpPr/>
      </dsp:nvSpPr>
      <dsp:spPr>
        <a:xfrm>
          <a:off x="662268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Items identified with scoping review of existing well-being instruments</a:t>
          </a:r>
          <a:endParaRPr lang="LID4096" sz="1400" kern="1200" dirty="0"/>
        </a:p>
        <a:p>
          <a:pPr marL="114300" lvl="1" indent="-114300" algn="l" defTabSz="622300">
            <a:lnSpc>
              <a:spcPct val="90000"/>
            </a:lnSpc>
            <a:spcBef>
              <a:spcPct val="0"/>
            </a:spcBef>
            <a:spcAft>
              <a:spcPct val="15000"/>
            </a:spcAft>
            <a:buChar char="•"/>
          </a:pPr>
          <a:r>
            <a:rPr lang="en-GB" sz="1400" kern="1200" dirty="0"/>
            <a:t>Selected based on theoretical framework of eleven broad domains of well-being (8)</a:t>
          </a:r>
          <a:endParaRPr lang="LID4096" sz="1400" kern="1200" dirty="0"/>
        </a:p>
      </dsp:txBody>
      <dsp:txXfrm>
        <a:off x="6622688" y="419210"/>
        <a:ext cx="1935517" cy="21436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30C354-8DE7-4435-ACEE-4D15A1C4D9D2}">
      <dsp:nvSpPr>
        <dsp:cNvPr id="0" name=""/>
        <dsp:cNvSpPr/>
      </dsp:nvSpPr>
      <dsp:spPr>
        <a:xfrm>
          <a:off x="0" y="241230"/>
          <a:ext cx="8172000"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baseline="0" dirty="0"/>
            <a:t>1. </a:t>
          </a:r>
          <a:r>
            <a:rPr lang="en-GB" sz="2000" kern="1200" dirty="0"/>
            <a:t>To concurrently investigate the psychometric properties of multiple well-being instruments</a:t>
          </a:r>
          <a:endParaRPr lang="en-NL" sz="2000" kern="1200" dirty="0"/>
        </a:p>
      </dsp:txBody>
      <dsp:txXfrm>
        <a:off x="59399" y="300629"/>
        <a:ext cx="8053202" cy="10980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30C354-8DE7-4435-ACEE-4D15A1C4D9D2}">
      <dsp:nvSpPr>
        <dsp:cNvPr id="0" name=""/>
        <dsp:cNvSpPr/>
      </dsp:nvSpPr>
      <dsp:spPr>
        <a:xfrm>
          <a:off x="0" y="325080"/>
          <a:ext cx="8172000"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baseline="0" dirty="0"/>
            <a:t>2. </a:t>
          </a:r>
          <a:r>
            <a:rPr lang="en-GB" sz="2000" kern="1200" dirty="0"/>
            <a:t>To conduct the psychometric investigation separately for different target populations, including general, older, social care and older social care user populations</a:t>
          </a:r>
          <a:endParaRPr lang="en-NL" sz="2000" kern="1200" dirty="0"/>
        </a:p>
      </dsp:txBody>
      <dsp:txXfrm>
        <a:off x="59399" y="384479"/>
        <a:ext cx="8053202" cy="109800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88427-736F-48E5-AB0B-6B2DE6C7E3F9}" type="datetimeFigureOut">
              <a:rPr lang="en-GB" smtClean="0"/>
              <a:pPr/>
              <a:t>02/07/2026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BB00A-71ED-40C6-A1CF-164C43AE5CE4}" type="slidenum">
              <a:rPr lang="en-GB" smtClean="0"/>
              <a:pPr/>
              <a:t>‹#›</a:t>
            </a:fld>
            <a:endParaRPr lang="en-GB"/>
          </a:p>
        </p:txBody>
      </p:sp>
    </p:spTree>
    <p:extLst>
      <p:ext uri="{BB962C8B-B14F-4D97-AF65-F5344CB8AC3E}">
        <p14:creationId xmlns:p14="http://schemas.microsoft.com/office/powerpoint/2010/main" val="264247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1</a:t>
            </a:fld>
            <a:endParaRPr lang="en-GB"/>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a:t>
            </a:fld>
            <a:endParaRPr lang="en-GB"/>
          </a:p>
        </p:txBody>
      </p:sp>
    </p:spTree>
    <p:extLst>
      <p:ext uri="{BB962C8B-B14F-4D97-AF65-F5344CB8AC3E}">
        <p14:creationId xmlns:p14="http://schemas.microsoft.com/office/powerpoint/2010/main" val="3149325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3</a:t>
            </a:fld>
            <a:endParaRPr lang="en-GB"/>
          </a:p>
        </p:txBody>
      </p:sp>
    </p:spTree>
    <p:extLst>
      <p:ext uri="{BB962C8B-B14F-4D97-AF65-F5344CB8AC3E}">
        <p14:creationId xmlns:p14="http://schemas.microsoft.com/office/powerpoint/2010/main" val="2140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EA95-E48B-18D6-A091-82D0EA720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2B106-1C69-CA1F-F37C-2CB7778144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810C153-AA32-268A-F38B-96FDF44E0AC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B34010A-57D3-F299-489C-271D0A51A33E}"/>
              </a:ext>
            </a:extLst>
          </p:cNvPr>
          <p:cNvSpPr>
            <a:spLocks noGrp="1"/>
          </p:cNvSpPr>
          <p:nvPr>
            <p:ph type="sldNum" sz="quarter" idx="10"/>
          </p:nvPr>
        </p:nvSpPr>
        <p:spPr/>
        <p:txBody>
          <a:bodyPr/>
          <a:lstStyle/>
          <a:p>
            <a:fld id="{482BB00A-71ED-40C6-A1CF-164C43AE5CE4}" type="slidenum">
              <a:rPr lang="en-GB" smtClean="0"/>
              <a:pPr/>
              <a:t>6</a:t>
            </a:fld>
            <a:endParaRPr lang="en-GB"/>
          </a:p>
        </p:txBody>
      </p:sp>
    </p:spTree>
    <p:extLst>
      <p:ext uri="{BB962C8B-B14F-4D97-AF65-F5344CB8AC3E}">
        <p14:creationId xmlns:p14="http://schemas.microsoft.com/office/powerpoint/2010/main" val="1776589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7</a:t>
            </a:fld>
            <a:endParaRPr lang="en-GB"/>
          </a:p>
        </p:txBody>
      </p:sp>
    </p:spTree>
    <p:extLst>
      <p:ext uri="{BB962C8B-B14F-4D97-AF65-F5344CB8AC3E}">
        <p14:creationId xmlns:p14="http://schemas.microsoft.com/office/powerpoint/2010/main" val="4058573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11D4C-1120-62B9-BC1F-BB4185892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71C71-6D99-522A-9406-E0F101FF827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814D17-1F33-955B-6C78-601BFB17C7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B85E8E0-0CA3-4C8A-EA98-F8A2F9D14D5C}"/>
              </a:ext>
            </a:extLst>
          </p:cNvPr>
          <p:cNvSpPr>
            <a:spLocks noGrp="1"/>
          </p:cNvSpPr>
          <p:nvPr>
            <p:ph type="sldNum" sz="quarter" idx="10"/>
          </p:nvPr>
        </p:nvSpPr>
        <p:spPr/>
        <p:txBody>
          <a:bodyPr/>
          <a:lstStyle/>
          <a:p>
            <a:fld id="{482BB00A-71ED-40C6-A1CF-164C43AE5CE4}" type="slidenum">
              <a:rPr lang="en-GB" smtClean="0"/>
              <a:pPr/>
              <a:t>10</a:t>
            </a:fld>
            <a:endParaRPr lang="en-GB"/>
          </a:p>
        </p:txBody>
      </p:sp>
    </p:spTree>
    <p:extLst>
      <p:ext uri="{BB962C8B-B14F-4D97-AF65-F5344CB8AC3E}">
        <p14:creationId xmlns:p14="http://schemas.microsoft.com/office/powerpoint/2010/main" val="187767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706E1-2C1B-3B46-A452-0D45C30D4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1FFCF-78F2-60AF-5D66-5C8842DAC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68677-1494-FB7D-C554-124142127701}"/>
              </a:ext>
            </a:extLst>
          </p:cNvPr>
          <p:cNvSpPr>
            <a:spLocks noGrp="1"/>
          </p:cNvSpPr>
          <p:nvPr>
            <p:ph type="body" idx="1"/>
          </p:nvPr>
        </p:nvSpPr>
        <p:spPr/>
        <p:txBody>
          <a:bodyPr/>
          <a:lstStyle/>
          <a:p>
            <a:r>
              <a:rPr lang="en-GB" dirty="0"/>
              <a:t>Mean age is 58 years (SD=16)</a:t>
            </a:r>
            <a:endParaRPr lang="LID4096" dirty="0"/>
          </a:p>
        </p:txBody>
      </p:sp>
      <p:sp>
        <p:nvSpPr>
          <p:cNvPr id="4" name="Slide Number Placeholder 3">
            <a:extLst>
              <a:ext uri="{FF2B5EF4-FFF2-40B4-BE49-F238E27FC236}">
                <a16:creationId xmlns:a16="http://schemas.microsoft.com/office/drawing/2014/main" id="{48573D39-5D5D-9C8D-774A-AE0736DF84A0}"/>
              </a:ext>
            </a:extLst>
          </p:cNvPr>
          <p:cNvSpPr>
            <a:spLocks noGrp="1"/>
          </p:cNvSpPr>
          <p:nvPr>
            <p:ph type="sldNum" sz="quarter" idx="5"/>
          </p:nvPr>
        </p:nvSpPr>
        <p:spPr/>
        <p:txBody>
          <a:bodyPr/>
          <a:lstStyle/>
          <a:p>
            <a:fld id="{482BB00A-71ED-40C6-A1CF-164C43AE5CE4}" type="slidenum">
              <a:rPr lang="en-GB" smtClean="0"/>
              <a:pPr/>
              <a:t>11</a:t>
            </a:fld>
            <a:endParaRPr lang="en-GB"/>
          </a:p>
        </p:txBody>
      </p:sp>
    </p:spTree>
    <p:extLst>
      <p:ext uri="{BB962C8B-B14F-4D97-AF65-F5344CB8AC3E}">
        <p14:creationId xmlns:p14="http://schemas.microsoft.com/office/powerpoint/2010/main" val="1299900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0BD-3952-DCA7-7DE3-F80C31D54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9352E-6985-A8B6-CDE7-8920741D7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B8F99-8707-0F26-C8E6-01B701DDBE4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76EF5E7-A2BF-1DC8-539B-813611724888}"/>
              </a:ext>
            </a:extLst>
          </p:cNvPr>
          <p:cNvSpPr>
            <a:spLocks noGrp="1"/>
          </p:cNvSpPr>
          <p:nvPr>
            <p:ph type="sldNum" sz="quarter" idx="5"/>
          </p:nvPr>
        </p:nvSpPr>
        <p:spPr/>
        <p:txBody>
          <a:bodyPr/>
          <a:lstStyle/>
          <a:p>
            <a:fld id="{482BB00A-71ED-40C6-A1CF-164C43AE5CE4}" type="slidenum">
              <a:rPr lang="en-GB" smtClean="0"/>
              <a:pPr/>
              <a:t>12</a:t>
            </a:fld>
            <a:endParaRPr lang="en-GB"/>
          </a:p>
        </p:txBody>
      </p:sp>
    </p:spTree>
    <p:extLst>
      <p:ext uri="{BB962C8B-B14F-4D97-AF65-F5344CB8AC3E}">
        <p14:creationId xmlns:p14="http://schemas.microsoft.com/office/powerpoint/2010/main" val="4162345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7F3-0F09-DBF3-16AB-EA35F1F06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7795B-96B8-FA21-D711-5D2E6D251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7CC18-FCBA-57EC-B7C4-36FED9E5BD71}"/>
              </a:ext>
            </a:extLst>
          </p:cNvPr>
          <p:cNvSpPr>
            <a:spLocks noGrp="1"/>
          </p:cNvSpPr>
          <p:nvPr>
            <p:ph type="body" idx="1"/>
          </p:nvPr>
        </p:nvSpPr>
        <p:spPr/>
        <p:txBody>
          <a:bodyPr/>
          <a:lstStyle/>
          <a:p>
            <a:r>
              <a:rPr lang="en-GB" dirty="0"/>
              <a:t>Adjust the reliability </a:t>
            </a:r>
            <a:endParaRPr lang="LID4096" dirty="0"/>
          </a:p>
        </p:txBody>
      </p:sp>
      <p:sp>
        <p:nvSpPr>
          <p:cNvPr id="4" name="Slide Number Placeholder 3">
            <a:extLst>
              <a:ext uri="{FF2B5EF4-FFF2-40B4-BE49-F238E27FC236}">
                <a16:creationId xmlns:a16="http://schemas.microsoft.com/office/drawing/2014/main" id="{43F3DEA2-1633-3190-E67E-DC438B4CFBD9}"/>
              </a:ext>
            </a:extLst>
          </p:cNvPr>
          <p:cNvSpPr>
            <a:spLocks noGrp="1"/>
          </p:cNvSpPr>
          <p:nvPr>
            <p:ph type="sldNum" sz="quarter" idx="5"/>
          </p:nvPr>
        </p:nvSpPr>
        <p:spPr/>
        <p:txBody>
          <a:bodyPr/>
          <a:lstStyle/>
          <a:p>
            <a:fld id="{482BB00A-71ED-40C6-A1CF-164C43AE5CE4}" type="slidenum">
              <a:rPr lang="en-GB" smtClean="0"/>
              <a:pPr/>
              <a:t>13</a:t>
            </a:fld>
            <a:endParaRPr lang="en-GB"/>
          </a:p>
        </p:txBody>
      </p:sp>
    </p:spTree>
    <p:extLst>
      <p:ext uri="{BB962C8B-B14F-4D97-AF65-F5344CB8AC3E}">
        <p14:creationId xmlns:p14="http://schemas.microsoft.com/office/powerpoint/2010/main" val="2534201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DD1A-1C26-6D5C-8B04-8E67F2EE7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25F3D-BF90-4C6E-CAEE-F448265FF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A9861-DC98-F3DB-6255-8B7B9AC4AFAD}"/>
              </a:ext>
            </a:extLst>
          </p:cNvPr>
          <p:cNvSpPr>
            <a:spLocks noGrp="1"/>
          </p:cNvSpPr>
          <p:nvPr>
            <p:ph type="body" idx="1"/>
          </p:nvPr>
        </p:nvSpPr>
        <p:spPr/>
        <p:txBody>
          <a:bodyPr/>
          <a:lstStyle/>
          <a:p>
            <a:r>
              <a:rPr lang="en-GB"/>
              <a:t>Formal care -&gt; </a:t>
            </a:r>
            <a:endParaRPr lang="LID4096" dirty="0"/>
          </a:p>
        </p:txBody>
      </p:sp>
      <p:sp>
        <p:nvSpPr>
          <p:cNvPr id="4" name="Slide Number Placeholder 3">
            <a:extLst>
              <a:ext uri="{FF2B5EF4-FFF2-40B4-BE49-F238E27FC236}">
                <a16:creationId xmlns:a16="http://schemas.microsoft.com/office/drawing/2014/main" id="{D3433AEB-CA2B-D546-E694-FB70ADEF2BD5}"/>
              </a:ext>
            </a:extLst>
          </p:cNvPr>
          <p:cNvSpPr>
            <a:spLocks noGrp="1"/>
          </p:cNvSpPr>
          <p:nvPr>
            <p:ph type="sldNum" sz="quarter" idx="5"/>
          </p:nvPr>
        </p:nvSpPr>
        <p:spPr/>
        <p:txBody>
          <a:bodyPr/>
          <a:lstStyle/>
          <a:p>
            <a:fld id="{482BB00A-71ED-40C6-A1CF-164C43AE5CE4}" type="slidenum">
              <a:rPr lang="en-GB" smtClean="0"/>
              <a:pPr/>
              <a:t>14</a:t>
            </a:fld>
            <a:endParaRPr lang="en-GB"/>
          </a:p>
        </p:txBody>
      </p:sp>
    </p:spTree>
    <p:extLst>
      <p:ext uri="{BB962C8B-B14F-4D97-AF65-F5344CB8AC3E}">
        <p14:creationId xmlns:p14="http://schemas.microsoft.com/office/powerpoint/2010/main" val="944124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E322-54BE-A653-BA07-0D5321B16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1D761-4808-DF1A-61AB-061DC2D56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5A99B-B520-814B-64AA-A14384C229F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472F348-8207-3952-4271-A4FDC7DC8693}"/>
              </a:ext>
            </a:extLst>
          </p:cNvPr>
          <p:cNvSpPr>
            <a:spLocks noGrp="1"/>
          </p:cNvSpPr>
          <p:nvPr>
            <p:ph type="sldNum" sz="quarter" idx="5"/>
          </p:nvPr>
        </p:nvSpPr>
        <p:spPr/>
        <p:txBody>
          <a:bodyPr/>
          <a:lstStyle/>
          <a:p>
            <a:fld id="{482BB00A-71ED-40C6-A1CF-164C43AE5CE4}" type="slidenum">
              <a:rPr lang="en-GB" smtClean="0"/>
              <a:pPr/>
              <a:t>15</a:t>
            </a:fld>
            <a:endParaRPr lang="en-GB"/>
          </a:p>
        </p:txBody>
      </p:sp>
    </p:spTree>
    <p:extLst>
      <p:ext uri="{BB962C8B-B14F-4D97-AF65-F5344CB8AC3E}">
        <p14:creationId xmlns:p14="http://schemas.microsoft.com/office/powerpoint/2010/main" val="57283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90601-4C7A-E1F5-30C7-0716B8E79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D36F4-3A30-DE6A-430E-FDDFE810278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09BD39E-40CB-5CC8-BED8-01629A721C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0575AF-B17B-60FB-7EEA-56A006252085}"/>
              </a:ext>
            </a:extLst>
          </p:cNvPr>
          <p:cNvSpPr>
            <a:spLocks noGrp="1"/>
          </p:cNvSpPr>
          <p:nvPr>
            <p:ph type="sldNum" sz="quarter" idx="10"/>
          </p:nvPr>
        </p:nvSpPr>
        <p:spPr/>
        <p:txBody>
          <a:bodyPr/>
          <a:lstStyle/>
          <a:p>
            <a:fld id="{482BB00A-71ED-40C6-A1CF-164C43AE5CE4}" type="slidenum">
              <a:rPr lang="en-GB" smtClean="0"/>
              <a:pPr/>
              <a:t>16</a:t>
            </a:fld>
            <a:endParaRPr lang="en-GB"/>
          </a:p>
        </p:txBody>
      </p:sp>
    </p:spTree>
    <p:extLst>
      <p:ext uri="{BB962C8B-B14F-4D97-AF65-F5344CB8AC3E}">
        <p14:creationId xmlns:p14="http://schemas.microsoft.com/office/powerpoint/2010/main" val="3433673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EQ-HWB-9 and SWB-6D: lower scores in conditions impacting physical health and stronger effect sizes in targeted health conditions</a:t>
            </a:r>
          </a:p>
          <a:p>
            <a:r>
              <a:rPr lang="en-GB" dirty="0"/>
              <a:t>ICECAP-A and WiX: lower scores in individuals with no health conditions and significant differences between different types of social care users</a:t>
            </a:r>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17</a:t>
            </a:fld>
            <a:endParaRPr lang="en-GB"/>
          </a:p>
        </p:txBody>
      </p:sp>
    </p:spTree>
    <p:extLst>
      <p:ext uri="{BB962C8B-B14F-4D97-AF65-F5344CB8AC3E}">
        <p14:creationId xmlns:p14="http://schemas.microsoft.com/office/powerpoint/2010/main" val="4072464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18</a:t>
            </a:fld>
            <a:endParaRPr lang="en-GB"/>
          </a:p>
        </p:txBody>
      </p:sp>
    </p:spTree>
    <p:extLst>
      <p:ext uri="{BB962C8B-B14F-4D97-AF65-F5344CB8AC3E}">
        <p14:creationId xmlns:p14="http://schemas.microsoft.com/office/powerpoint/2010/main" val="1057792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D452-F2D5-016E-4E75-B58A55BCD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04E2D-4F7C-9033-9B8C-D4E921FE9B3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28E7108-F19B-E483-B956-67DABB56590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666338-28FB-DF7B-7CD3-4069BA1C754E}"/>
              </a:ext>
            </a:extLst>
          </p:cNvPr>
          <p:cNvSpPr>
            <a:spLocks noGrp="1"/>
          </p:cNvSpPr>
          <p:nvPr>
            <p:ph type="sldNum" sz="quarter" idx="10"/>
          </p:nvPr>
        </p:nvSpPr>
        <p:spPr/>
        <p:txBody>
          <a:bodyPr/>
          <a:lstStyle/>
          <a:p>
            <a:fld id="{482BB00A-71ED-40C6-A1CF-164C43AE5CE4}" type="slidenum">
              <a:rPr lang="en-GB" smtClean="0"/>
              <a:pPr/>
              <a:t>19</a:t>
            </a:fld>
            <a:endParaRPr lang="en-GB"/>
          </a:p>
        </p:txBody>
      </p:sp>
    </p:spTree>
    <p:extLst>
      <p:ext uri="{BB962C8B-B14F-4D97-AF65-F5344CB8AC3E}">
        <p14:creationId xmlns:p14="http://schemas.microsoft.com/office/powerpoint/2010/main" val="971143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71271-56AC-2474-9EDE-2CEFD2732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7A23E-6963-2A9E-EC5D-F97D4AE12F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7803C9-FCA7-BD25-ED19-CF5353EB0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653071-FE2C-9694-9488-F18DCD6CE4E4}"/>
              </a:ext>
            </a:extLst>
          </p:cNvPr>
          <p:cNvSpPr>
            <a:spLocks noGrp="1"/>
          </p:cNvSpPr>
          <p:nvPr>
            <p:ph type="sldNum" sz="quarter" idx="10"/>
          </p:nvPr>
        </p:nvSpPr>
        <p:spPr/>
        <p:txBody>
          <a:bodyPr/>
          <a:lstStyle/>
          <a:p>
            <a:fld id="{482BB00A-71ED-40C6-A1CF-164C43AE5CE4}" type="slidenum">
              <a:rPr lang="en-GB" smtClean="0"/>
              <a:pPr/>
              <a:t>20</a:t>
            </a:fld>
            <a:endParaRPr lang="en-GB"/>
          </a:p>
        </p:txBody>
      </p:sp>
    </p:spTree>
    <p:extLst>
      <p:ext uri="{BB962C8B-B14F-4D97-AF65-F5344CB8AC3E}">
        <p14:creationId xmlns:p14="http://schemas.microsoft.com/office/powerpoint/2010/main" val="4180712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provide an overview of the conceptual coverage across all instruments (well-being measures, disease-specific measures and generic health and well-being questionnaires).</a:t>
            </a:r>
          </a:p>
          <a:p>
            <a:r>
              <a:rPr lang="en-US" dirty="0"/>
              <a:t>As it can be seen, the survey will cover a wide range of aspects, with particular attention to mental health and physical health as well as other broader aspects of well-being such as their relationship, activities and independence.</a:t>
            </a:r>
          </a:p>
          <a:p>
            <a:r>
              <a:rPr lang="en-US" dirty="0"/>
              <a:t>Other less commonly covered aspects will also be investigated, such as their feelings of personal safety and finance satisfaction.</a:t>
            </a:r>
          </a:p>
          <a:p>
            <a:endParaRPr lang="en-US" dirty="0"/>
          </a:p>
          <a:p>
            <a:r>
              <a:rPr lang="en-US" dirty="0"/>
              <a:t>The x indicates full coverage, meaning that the items in the questionnaire directly enquire about that specific aspect. The cells in yellow indicate partial coverage, meaning that they do not fully address that aspect or only touches upon it broadly.</a:t>
            </a:r>
          </a:p>
          <a:p>
            <a:r>
              <a:rPr lang="en-US" dirty="0"/>
              <a:t>An example is an item from the SWB-5D which asks about whether their health restricts their physical activities. This is not directly asking about their physical health nor about their ability to engage in all types of activities (but rather only physical ones), therefore this is why it was categorized as partial coverage. </a:t>
            </a:r>
          </a:p>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21</a:t>
            </a:fld>
            <a:endParaRPr lang="en-GB"/>
          </a:p>
        </p:txBody>
      </p:sp>
    </p:spTree>
    <p:extLst>
      <p:ext uri="{BB962C8B-B14F-4D97-AF65-F5344CB8AC3E}">
        <p14:creationId xmlns:p14="http://schemas.microsoft.com/office/powerpoint/2010/main" val="3238735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25</a:t>
            </a:fld>
            <a:endParaRPr lang="en-GB"/>
          </a:p>
        </p:txBody>
      </p:sp>
    </p:spTree>
    <p:extLst>
      <p:ext uri="{BB962C8B-B14F-4D97-AF65-F5344CB8AC3E}">
        <p14:creationId xmlns:p14="http://schemas.microsoft.com/office/powerpoint/2010/main" val="21094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B49B-642A-D9D6-FE07-82F07BD78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1BA5F-A517-C22C-89EE-694F587A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D9570-1063-2D07-ABD6-892D28238E0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EDDAAE8-8F01-C98F-F817-51E7ECE4054C}"/>
              </a:ext>
            </a:extLst>
          </p:cNvPr>
          <p:cNvSpPr>
            <a:spLocks noGrp="1"/>
          </p:cNvSpPr>
          <p:nvPr>
            <p:ph type="sldNum" sz="quarter" idx="5"/>
          </p:nvPr>
        </p:nvSpPr>
        <p:spPr/>
        <p:txBody>
          <a:bodyPr/>
          <a:lstStyle/>
          <a:p>
            <a:fld id="{482BB00A-71ED-40C6-A1CF-164C43AE5CE4}" type="slidenum">
              <a:rPr lang="en-GB" smtClean="0"/>
              <a:pPr/>
              <a:t>26</a:t>
            </a:fld>
            <a:endParaRPr lang="en-GB"/>
          </a:p>
        </p:txBody>
      </p:sp>
    </p:spTree>
    <p:extLst>
      <p:ext uri="{BB962C8B-B14F-4D97-AF65-F5344CB8AC3E}">
        <p14:creationId xmlns:p14="http://schemas.microsoft.com/office/powerpoint/2010/main" val="951165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0E60-33F6-A8E4-67B4-0261DD235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A4F9-3D5E-F4E9-C38F-41A8AEF82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9D79C-77D7-C90F-B50D-BE90E37199C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9A5DB46-F355-2A63-CC80-788FC06AADAB}"/>
              </a:ext>
            </a:extLst>
          </p:cNvPr>
          <p:cNvSpPr>
            <a:spLocks noGrp="1"/>
          </p:cNvSpPr>
          <p:nvPr>
            <p:ph type="sldNum" sz="quarter" idx="5"/>
          </p:nvPr>
        </p:nvSpPr>
        <p:spPr/>
        <p:txBody>
          <a:bodyPr/>
          <a:lstStyle/>
          <a:p>
            <a:fld id="{482BB00A-71ED-40C6-A1CF-164C43AE5CE4}" type="slidenum">
              <a:rPr lang="en-GB" smtClean="0"/>
              <a:pPr/>
              <a:t>27</a:t>
            </a:fld>
            <a:endParaRPr lang="en-GB"/>
          </a:p>
        </p:txBody>
      </p:sp>
    </p:spTree>
    <p:extLst>
      <p:ext uri="{BB962C8B-B14F-4D97-AF65-F5344CB8AC3E}">
        <p14:creationId xmlns:p14="http://schemas.microsoft.com/office/powerpoint/2010/main" val="2722644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2E34-DA06-7C64-7094-C2DB4F95A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F168B-8D37-4CE7-5A7B-E9D913255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25D04-4CFF-7EDD-ACDF-A43EE302FA4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241BA39-B9A3-D45D-33A8-68491E81377C}"/>
              </a:ext>
            </a:extLst>
          </p:cNvPr>
          <p:cNvSpPr>
            <a:spLocks noGrp="1"/>
          </p:cNvSpPr>
          <p:nvPr>
            <p:ph type="sldNum" sz="quarter" idx="5"/>
          </p:nvPr>
        </p:nvSpPr>
        <p:spPr/>
        <p:txBody>
          <a:bodyPr/>
          <a:lstStyle/>
          <a:p>
            <a:fld id="{482BB00A-71ED-40C6-A1CF-164C43AE5CE4}" type="slidenum">
              <a:rPr lang="en-GB" smtClean="0"/>
              <a:pPr/>
              <a:t>28</a:t>
            </a:fld>
            <a:endParaRPr lang="en-GB"/>
          </a:p>
        </p:txBody>
      </p:sp>
    </p:spTree>
    <p:extLst>
      <p:ext uri="{BB962C8B-B14F-4D97-AF65-F5344CB8AC3E}">
        <p14:creationId xmlns:p14="http://schemas.microsoft.com/office/powerpoint/2010/main" val="2905676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93FA-9261-5C31-154F-624240F44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62D75-FA3C-7E68-7F19-AC1B3F355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746E9-AAD0-FE26-D67C-078DBED1858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EFEA4CEA-6DF2-55CA-52B9-2080648A200C}"/>
              </a:ext>
            </a:extLst>
          </p:cNvPr>
          <p:cNvSpPr>
            <a:spLocks noGrp="1"/>
          </p:cNvSpPr>
          <p:nvPr>
            <p:ph type="sldNum" sz="quarter" idx="5"/>
          </p:nvPr>
        </p:nvSpPr>
        <p:spPr/>
        <p:txBody>
          <a:bodyPr/>
          <a:lstStyle/>
          <a:p>
            <a:fld id="{482BB00A-71ED-40C6-A1CF-164C43AE5CE4}" type="slidenum">
              <a:rPr lang="en-GB" smtClean="0"/>
              <a:pPr/>
              <a:t>29</a:t>
            </a:fld>
            <a:endParaRPr lang="en-GB"/>
          </a:p>
        </p:txBody>
      </p:sp>
    </p:spTree>
    <p:extLst>
      <p:ext uri="{BB962C8B-B14F-4D97-AF65-F5344CB8AC3E}">
        <p14:creationId xmlns:p14="http://schemas.microsoft.com/office/powerpoint/2010/main" val="1771697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1948-41AA-FF91-7E18-70E2B0DB0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DD432-B254-48D1-40B4-CAF09DDE6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75C06-B4E0-ED77-74BC-5CAC267AC8A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BD6BEFE-D3BF-2B89-9B5F-2C77A1C468FB}"/>
              </a:ext>
            </a:extLst>
          </p:cNvPr>
          <p:cNvSpPr>
            <a:spLocks noGrp="1"/>
          </p:cNvSpPr>
          <p:nvPr>
            <p:ph type="sldNum" sz="quarter" idx="5"/>
          </p:nvPr>
        </p:nvSpPr>
        <p:spPr/>
        <p:txBody>
          <a:bodyPr/>
          <a:lstStyle/>
          <a:p>
            <a:fld id="{482BB00A-71ED-40C6-A1CF-164C43AE5CE4}" type="slidenum">
              <a:rPr lang="en-GB" smtClean="0"/>
              <a:pPr/>
              <a:t>30</a:t>
            </a:fld>
            <a:endParaRPr lang="en-GB"/>
          </a:p>
        </p:txBody>
      </p:sp>
    </p:spTree>
    <p:extLst>
      <p:ext uri="{BB962C8B-B14F-4D97-AF65-F5344CB8AC3E}">
        <p14:creationId xmlns:p14="http://schemas.microsoft.com/office/powerpoint/2010/main" val="2304975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E66A-6D74-795D-F572-3F9791F30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5028C-3567-DB13-AB54-21829C5BD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85452-DED1-2BC0-26BB-66BFF8264C5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07DFBF6-CA8C-B8C2-F0A0-EFE34F0C4ABA}"/>
              </a:ext>
            </a:extLst>
          </p:cNvPr>
          <p:cNvSpPr>
            <a:spLocks noGrp="1"/>
          </p:cNvSpPr>
          <p:nvPr>
            <p:ph type="sldNum" sz="quarter" idx="5"/>
          </p:nvPr>
        </p:nvSpPr>
        <p:spPr/>
        <p:txBody>
          <a:bodyPr/>
          <a:lstStyle/>
          <a:p>
            <a:fld id="{482BB00A-71ED-40C6-A1CF-164C43AE5CE4}" type="slidenum">
              <a:rPr lang="en-GB" smtClean="0"/>
              <a:pPr/>
              <a:t>31</a:t>
            </a:fld>
            <a:endParaRPr lang="en-GB"/>
          </a:p>
        </p:txBody>
      </p:sp>
    </p:spTree>
    <p:extLst>
      <p:ext uri="{BB962C8B-B14F-4D97-AF65-F5344CB8AC3E}">
        <p14:creationId xmlns:p14="http://schemas.microsoft.com/office/powerpoint/2010/main" val="463845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93BA6-B4FB-E292-1687-55DDABA64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CB062-EB83-28B1-BF8B-DCC479337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A2F84-5E31-6F5C-BA3C-AE9DE004383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A09AF61-8713-E782-3351-D35B702E3300}"/>
              </a:ext>
            </a:extLst>
          </p:cNvPr>
          <p:cNvSpPr>
            <a:spLocks noGrp="1"/>
          </p:cNvSpPr>
          <p:nvPr>
            <p:ph type="sldNum" sz="quarter" idx="5"/>
          </p:nvPr>
        </p:nvSpPr>
        <p:spPr/>
        <p:txBody>
          <a:bodyPr/>
          <a:lstStyle/>
          <a:p>
            <a:fld id="{482BB00A-71ED-40C6-A1CF-164C43AE5CE4}" type="slidenum">
              <a:rPr lang="en-GB" smtClean="0"/>
              <a:pPr/>
              <a:t>32</a:t>
            </a:fld>
            <a:endParaRPr lang="en-GB"/>
          </a:p>
        </p:txBody>
      </p:sp>
    </p:spTree>
    <p:extLst>
      <p:ext uri="{BB962C8B-B14F-4D97-AF65-F5344CB8AC3E}">
        <p14:creationId xmlns:p14="http://schemas.microsoft.com/office/powerpoint/2010/main" val="804191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185E-9955-88A6-E66E-F285DD4BE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72E42-23D6-6C60-DC8F-19129E496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08F6E-FFF9-554D-7ABE-A0957B5E70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141B06F-8F47-E88E-01DB-BD735FE14F13}"/>
              </a:ext>
            </a:extLst>
          </p:cNvPr>
          <p:cNvSpPr>
            <a:spLocks noGrp="1"/>
          </p:cNvSpPr>
          <p:nvPr>
            <p:ph type="sldNum" sz="quarter" idx="5"/>
          </p:nvPr>
        </p:nvSpPr>
        <p:spPr/>
        <p:txBody>
          <a:bodyPr/>
          <a:lstStyle/>
          <a:p>
            <a:fld id="{482BB00A-71ED-40C6-A1CF-164C43AE5CE4}" type="slidenum">
              <a:rPr lang="en-GB" smtClean="0"/>
              <a:pPr/>
              <a:t>33</a:t>
            </a:fld>
            <a:endParaRPr lang="en-GB"/>
          </a:p>
        </p:txBody>
      </p:sp>
    </p:spTree>
    <p:extLst>
      <p:ext uri="{BB962C8B-B14F-4D97-AF65-F5344CB8AC3E}">
        <p14:creationId xmlns:p14="http://schemas.microsoft.com/office/powerpoint/2010/main" val="26676878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197F-B5F3-45DA-6C91-07F9B70B2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04BED-402F-B3E6-C441-D40E5578E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08968-27D8-0D3D-F154-D0E83B60A26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375FE32-38E7-4C14-91B7-FDED83B6B7E5}"/>
              </a:ext>
            </a:extLst>
          </p:cNvPr>
          <p:cNvSpPr>
            <a:spLocks noGrp="1"/>
          </p:cNvSpPr>
          <p:nvPr>
            <p:ph type="sldNum" sz="quarter" idx="5"/>
          </p:nvPr>
        </p:nvSpPr>
        <p:spPr/>
        <p:txBody>
          <a:bodyPr/>
          <a:lstStyle/>
          <a:p>
            <a:fld id="{482BB00A-71ED-40C6-A1CF-164C43AE5CE4}" type="slidenum">
              <a:rPr lang="en-GB" smtClean="0"/>
              <a:pPr/>
              <a:t>34</a:t>
            </a:fld>
            <a:endParaRPr lang="en-GB"/>
          </a:p>
        </p:txBody>
      </p:sp>
    </p:spTree>
    <p:extLst>
      <p:ext uri="{BB962C8B-B14F-4D97-AF65-F5344CB8AC3E}">
        <p14:creationId xmlns:p14="http://schemas.microsoft.com/office/powerpoint/2010/main" val="25459482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590F-DB59-1B46-23F6-931D67BF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DB85C-49E0-226A-22AB-F01D80588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3AAFF-E596-5ACB-4FE1-0BB6AE52CDF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DE01DC9-595A-B663-61A3-300A3D9337B6}"/>
              </a:ext>
            </a:extLst>
          </p:cNvPr>
          <p:cNvSpPr>
            <a:spLocks noGrp="1"/>
          </p:cNvSpPr>
          <p:nvPr>
            <p:ph type="sldNum" sz="quarter" idx="5"/>
          </p:nvPr>
        </p:nvSpPr>
        <p:spPr/>
        <p:txBody>
          <a:bodyPr/>
          <a:lstStyle/>
          <a:p>
            <a:fld id="{482BB00A-71ED-40C6-A1CF-164C43AE5CE4}" type="slidenum">
              <a:rPr lang="en-GB" smtClean="0"/>
              <a:pPr/>
              <a:t>35</a:t>
            </a:fld>
            <a:endParaRPr lang="en-GB"/>
          </a:p>
        </p:txBody>
      </p:sp>
    </p:spTree>
    <p:extLst>
      <p:ext uri="{BB962C8B-B14F-4D97-AF65-F5344CB8AC3E}">
        <p14:creationId xmlns:p14="http://schemas.microsoft.com/office/powerpoint/2010/main" val="4237507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9885-E011-34EF-BCEE-B0AF62946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3252C-ADCE-4435-BA0D-266E372F7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15504-6E52-512F-B0D4-BEB0059700E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40F6E5E-EC6E-58EA-72ED-94390117B774}"/>
              </a:ext>
            </a:extLst>
          </p:cNvPr>
          <p:cNvSpPr>
            <a:spLocks noGrp="1"/>
          </p:cNvSpPr>
          <p:nvPr>
            <p:ph type="sldNum" sz="quarter" idx="5"/>
          </p:nvPr>
        </p:nvSpPr>
        <p:spPr/>
        <p:txBody>
          <a:bodyPr/>
          <a:lstStyle/>
          <a:p>
            <a:fld id="{482BB00A-71ED-40C6-A1CF-164C43AE5CE4}" type="slidenum">
              <a:rPr lang="en-GB" smtClean="0"/>
              <a:pPr/>
              <a:t>36</a:t>
            </a:fld>
            <a:endParaRPr lang="en-GB"/>
          </a:p>
        </p:txBody>
      </p:sp>
    </p:spTree>
    <p:extLst>
      <p:ext uri="{BB962C8B-B14F-4D97-AF65-F5344CB8AC3E}">
        <p14:creationId xmlns:p14="http://schemas.microsoft.com/office/powerpoint/2010/main" val="19819659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EAAE-20B8-4312-1D23-0F1629E3D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23C32-B2C7-3529-C591-8957A5691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C44E3-B334-13FA-7E35-93A95206A19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F1EE0B5-D7E2-FFCF-DD99-991E0CCB4787}"/>
              </a:ext>
            </a:extLst>
          </p:cNvPr>
          <p:cNvSpPr>
            <a:spLocks noGrp="1"/>
          </p:cNvSpPr>
          <p:nvPr>
            <p:ph type="sldNum" sz="quarter" idx="5"/>
          </p:nvPr>
        </p:nvSpPr>
        <p:spPr/>
        <p:txBody>
          <a:bodyPr/>
          <a:lstStyle/>
          <a:p>
            <a:fld id="{482BB00A-71ED-40C6-A1CF-164C43AE5CE4}" type="slidenum">
              <a:rPr lang="en-GB" smtClean="0"/>
              <a:pPr/>
              <a:t>37</a:t>
            </a:fld>
            <a:endParaRPr lang="en-GB"/>
          </a:p>
        </p:txBody>
      </p:sp>
    </p:spTree>
    <p:extLst>
      <p:ext uri="{BB962C8B-B14F-4D97-AF65-F5344CB8AC3E}">
        <p14:creationId xmlns:p14="http://schemas.microsoft.com/office/powerpoint/2010/main" val="1156774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44D8-40E4-CD05-3E9B-250E53A0B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CBBC0-9428-F507-07FE-B160C795C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67664-2166-27F1-7AA0-73033DCCF37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38F6223-4D44-13CA-A7A8-6A51DF341A36}"/>
              </a:ext>
            </a:extLst>
          </p:cNvPr>
          <p:cNvSpPr>
            <a:spLocks noGrp="1"/>
          </p:cNvSpPr>
          <p:nvPr>
            <p:ph type="sldNum" sz="quarter" idx="5"/>
          </p:nvPr>
        </p:nvSpPr>
        <p:spPr/>
        <p:txBody>
          <a:bodyPr/>
          <a:lstStyle/>
          <a:p>
            <a:fld id="{482BB00A-71ED-40C6-A1CF-164C43AE5CE4}" type="slidenum">
              <a:rPr lang="en-GB" smtClean="0"/>
              <a:pPr/>
              <a:t>38</a:t>
            </a:fld>
            <a:endParaRPr lang="en-GB"/>
          </a:p>
        </p:txBody>
      </p:sp>
    </p:spTree>
    <p:extLst>
      <p:ext uri="{BB962C8B-B14F-4D97-AF65-F5344CB8AC3E}">
        <p14:creationId xmlns:p14="http://schemas.microsoft.com/office/powerpoint/2010/main" val="1836936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7AD9F-AC86-CD09-DCEE-D7F570DE8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9150F-B79B-140B-95A0-1FB747E38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1C9E2-E444-A08F-DDF3-63F210F05E6F}"/>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8912FFD6-D1E4-CCB0-44E8-13F02DC00DE1}"/>
              </a:ext>
            </a:extLst>
          </p:cNvPr>
          <p:cNvSpPr>
            <a:spLocks noGrp="1"/>
          </p:cNvSpPr>
          <p:nvPr>
            <p:ph type="sldNum" sz="quarter" idx="5"/>
          </p:nvPr>
        </p:nvSpPr>
        <p:spPr/>
        <p:txBody>
          <a:bodyPr/>
          <a:lstStyle/>
          <a:p>
            <a:fld id="{482BB00A-71ED-40C6-A1CF-164C43AE5CE4}" type="slidenum">
              <a:rPr lang="en-GB" smtClean="0"/>
              <a:pPr/>
              <a:t>39</a:t>
            </a:fld>
            <a:endParaRPr lang="en-GB"/>
          </a:p>
        </p:txBody>
      </p:sp>
    </p:spTree>
    <p:extLst>
      <p:ext uri="{BB962C8B-B14F-4D97-AF65-F5344CB8AC3E}">
        <p14:creationId xmlns:p14="http://schemas.microsoft.com/office/powerpoint/2010/main" val="4197149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1B89-5D45-73DD-6EDB-B4BC00AC0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F7DB0-E342-7EFD-2091-AA3E9D033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D3FB2-F33B-A5D0-0182-0E416DE7B7D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1A2630E-5451-2C1A-FA5A-6B544D6145A3}"/>
              </a:ext>
            </a:extLst>
          </p:cNvPr>
          <p:cNvSpPr>
            <a:spLocks noGrp="1"/>
          </p:cNvSpPr>
          <p:nvPr>
            <p:ph type="sldNum" sz="quarter" idx="5"/>
          </p:nvPr>
        </p:nvSpPr>
        <p:spPr/>
        <p:txBody>
          <a:bodyPr/>
          <a:lstStyle/>
          <a:p>
            <a:fld id="{482BB00A-71ED-40C6-A1CF-164C43AE5CE4}" type="slidenum">
              <a:rPr lang="en-GB" smtClean="0"/>
              <a:pPr/>
              <a:t>40</a:t>
            </a:fld>
            <a:endParaRPr lang="en-GB"/>
          </a:p>
        </p:txBody>
      </p:sp>
    </p:spTree>
    <p:extLst>
      <p:ext uri="{BB962C8B-B14F-4D97-AF65-F5344CB8AC3E}">
        <p14:creationId xmlns:p14="http://schemas.microsoft.com/office/powerpoint/2010/main" val="3209817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43D5-9A07-5840-6213-5C3EA6D32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2AD68-DE3E-762B-982C-33FF5E3F8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16F9A-6A9C-EE30-4EA2-967E53075D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8EAF143-0951-A678-D4CD-07150764E00C}"/>
              </a:ext>
            </a:extLst>
          </p:cNvPr>
          <p:cNvSpPr>
            <a:spLocks noGrp="1"/>
          </p:cNvSpPr>
          <p:nvPr>
            <p:ph type="sldNum" sz="quarter" idx="5"/>
          </p:nvPr>
        </p:nvSpPr>
        <p:spPr/>
        <p:txBody>
          <a:bodyPr/>
          <a:lstStyle/>
          <a:p>
            <a:fld id="{482BB00A-71ED-40C6-A1CF-164C43AE5CE4}" type="slidenum">
              <a:rPr lang="en-GB" smtClean="0"/>
              <a:pPr/>
              <a:t>41</a:t>
            </a:fld>
            <a:endParaRPr lang="en-GB"/>
          </a:p>
        </p:txBody>
      </p:sp>
    </p:spTree>
    <p:extLst>
      <p:ext uri="{BB962C8B-B14F-4D97-AF65-F5344CB8AC3E}">
        <p14:creationId xmlns:p14="http://schemas.microsoft.com/office/powerpoint/2010/main" val="946921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AB63E-A98F-5B0A-00C3-72B0034D7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DF108-BC93-6031-351F-3AF7C87FF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FE684E-229C-E5F6-EC55-CF8F7F75D80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012D58A-B593-7B95-668D-CEC3171C8B06}"/>
              </a:ext>
            </a:extLst>
          </p:cNvPr>
          <p:cNvSpPr>
            <a:spLocks noGrp="1"/>
          </p:cNvSpPr>
          <p:nvPr>
            <p:ph type="sldNum" sz="quarter" idx="5"/>
          </p:nvPr>
        </p:nvSpPr>
        <p:spPr/>
        <p:txBody>
          <a:bodyPr/>
          <a:lstStyle/>
          <a:p>
            <a:fld id="{482BB00A-71ED-40C6-A1CF-164C43AE5CE4}" type="slidenum">
              <a:rPr lang="en-GB" smtClean="0"/>
              <a:pPr/>
              <a:t>42</a:t>
            </a:fld>
            <a:endParaRPr lang="en-GB"/>
          </a:p>
        </p:txBody>
      </p:sp>
    </p:spTree>
    <p:extLst>
      <p:ext uri="{BB962C8B-B14F-4D97-AF65-F5344CB8AC3E}">
        <p14:creationId xmlns:p14="http://schemas.microsoft.com/office/powerpoint/2010/main" val="3342536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78831-3192-173D-1F21-75ED24E2F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6AA36-1162-D21A-E804-48FA77A5F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B538B-489C-972B-DF78-5F661C6D452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8AC59DE5-ADC7-77FE-5702-05D11BE8C3F2}"/>
              </a:ext>
            </a:extLst>
          </p:cNvPr>
          <p:cNvSpPr>
            <a:spLocks noGrp="1"/>
          </p:cNvSpPr>
          <p:nvPr>
            <p:ph type="sldNum" sz="quarter" idx="5"/>
          </p:nvPr>
        </p:nvSpPr>
        <p:spPr/>
        <p:txBody>
          <a:bodyPr/>
          <a:lstStyle/>
          <a:p>
            <a:fld id="{482BB00A-71ED-40C6-A1CF-164C43AE5CE4}" type="slidenum">
              <a:rPr lang="en-GB" smtClean="0"/>
              <a:pPr/>
              <a:t>43</a:t>
            </a:fld>
            <a:endParaRPr lang="en-GB"/>
          </a:p>
        </p:txBody>
      </p:sp>
    </p:spTree>
    <p:extLst>
      <p:ext uri="{BB962C8B-B14F-4D97-AF65-F5344CB8AC3E}">
        <p14:creationId xmlns:p14="http://schemas.microsoft.com/office/powerpoint/2010/main" val="55158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chemeClr val="bg1"/>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chemeClr val="bg1"/>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Click to edit 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rgbClr val="FFFFFF"/>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rgbClr val="FFFFFF"/>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Insert a picture and move it backwards </a:t>
            </a:r>
            <a:br>
              <a:rPr lang="en-GB" noProof="0" dirty="0"/>
            </a:br>
            <a:r>
              <a:rPr lang="en-GB" noProof="0" dirty="0"/>
              <a:t>with right mouse button &gt; send to back</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5" y="396000"/>
            <a:ext cx="8172000" cy="576000"/>
          </a:xfrm>
        </p:spPr>
        <p:txBody>
          <a:bodyPr/>
          <a:lstStyle>
            <a:lvl1pPr>
              <a:defRPr/>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a:defRPr baseline="0"/>
            </a:lvl1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2-7-2026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en-GB" noProof="0" dirty="0"/>
              <a:t>Click to edit text</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2-7-2026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sz="half" idx="1" hasCustomPrompt="1"/>
          </p:nvPr>
        </p:nvSpPr>
        <p:spPr>
          <a:xfrm>
            <a:off x="493200" y="972000"/>
            <a:ext cx="4014000"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inhoud 3"/>
          <p:cNvSpPr>
            <a:spLocks noGrp="1"/>
          </p:cNvSpPr>
          <p:nvPr>
            <p:ph sz="half" idx="2" hasCustomPrompt="1"/>
          </p:nvPr>
        </p:nvSpPr>
        <p:spPr>
          <a:xfrm>
            <a:off x="4648201" y="971999"/>
            <a:ext cx="4015325"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2-7-2026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tekst 4"/>
          <p:cNvSpPr>
            <a:spLocks noGrp="1"/>
          </p:cNvSpPr>
          <p:nvPr>
            <p:ph type="body" sz="quarter" idx="3" hasCustomPrompt="1"/>
          </p:nvPr>
        </p:nvSpPr>
        <p:spPr>
          <a:xfrm>
            <a:off x="4645026" y="972000"/>
            <a:ext cx="4014000"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6" name="Tijdelijke aanduiding voor inhoud 5"/>
          <p:cNvSpPr>
            <a:spLocks noGrp="1"/>
          </p:cNvSpPr>
          <p:nvPr>
            <p:ph sz="quarter" idx="4" hasCustomPrompt="1"/>
          </p:nvPr>
        </p:nvSpPr>
        <p:spPr>
          <a:xfrm>
            <a:off x="4645025" y="1296000"/>
            <a:ext cx="40140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2-7-2026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2-7-2026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381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2 Pictures">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baseline="0"/>
            </a:lvl1pPr>
          </a:lstStyle>
          <a:p>
            <a:r>
              <a:rPr lang="en-GB" noProof="0" dirty="0"/>
              <a:t>Click to edit title</a:t>
            </a:r>
          </a:p>
        </p:txBody>
      </p:sp>
      <p:sp>
        <p:nvSpPr>
          <p:cNvPr id="3" name="Tijdelijke aanduiding voor tekst 2"/>
          <p:cNvSpPr>
            <a:spLocks noGrp="1"/>
          </p:cNvSpPr>
          <p:nvPr>
            <p:ph type="body" idx="1" hasCustomPrompt="1"/>
          </p:nvPr>
        </p:nvSpPr>
        <p:spPr>
          <a:xfrm>
            <a:off x="491524" y="972000"/>
            <a:ext cx="3999600" cy="324000"/>
          </a:xfrm>
        </p:spPr>
        <p:txBody>
          <a:bodyPr anchor="t" anchorCtr="0"/>
          <a:lstStyle>
            <a:lvl1pPr marL="0" indent="0">
              <a:buNone/>
              <a:defRPr sz="1800" b="0" i="0">
                <a:solidFill>
                  <a:schemeClr val="tx1"/>
                </a:solidFill>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2-7-2026</a:t>
            </a:fld>
            <a:endParaRPr lang="nl-NL" dirty="0"/>
          </a:p>
        </p:txBody>
      </p:sp>
      <p:sp>
        <p:nvSpPr>
          <p:cNvPr id="8" name="Tijdelijke aanduiding voor voettekst 7"/>
          <p:cNvSpPr>
            <a:spLocks noGrp="1"/>
          </p:cNvSpPr>
          <p:nvPr>
            <p:ph type="ftr" sz="quarter" idx="11"/>
          </p:nvPr>
        </p:nvSpPr>
        <p:spPr/>
        <p:txBody>
          <a:bodyPr/>
          <a:lstStyle/>
          <a:p>
            <a:endParaRPr lang="nl-NL" dirty="0"/>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183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a:p>
            <a:endParaRPr lang="nl-NL" dirty="0"/>
          </a:p>
        </p:txBody>
      </p:sp>
      <p:sp>
        <p:nvSpPr>
          <p:cNvPr id="11" name="Tijdelijke aanduiding voor afbeelding 2"/>
          <p:cNvSpPr>
            <a:spLocks noGrp="1"/>
          </p:cNvSpPr>
          <p:nvPr>
            <p:ph type="pic" idx="14" hasCustomPrompt="1"/>
          </p:nvPr>
        </p:nvSpPr>
        <p:spPr>
          <a:xfrm>
            <a:off x="4643999" y="2376000"/>
            <a:ext cx="4014000" cy="1836000"/>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2-7-2026</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2-7-2026</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491525" y="792000"/>
            <a:ext cx="8172000" cy="3418613"/>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
        <p:nvSpPr>
          <p:cNvPr id="2" name="Titel 1"/>
          <p:cNvSpPr>
            <a:spLocks noGrp="1"/>
          </p:cNvSpPr>
          <p:nvPr>
            <p:ph type="title" hasCustomPrompt="1"/>
          </p:nvPr>
        </p:nvSpPr>
        <p:spPr>
          <a:xfrm>
            <a:off x="491525" y="396000"/>
            <a:ext cx="8172000" cy="396000"/>
          </a:xfrm>
        </p:spPr>
        <p:txBody>
          <a:bodyPr anchor="t" anchorCtr="0"/>
          <a:lstStyle>
            <a:lvl1pPr algn="l">
              <a:lnSpc>
                <a:spcPts val="2500"/>
              </a:lnSpc>
              <a:defRPr sz="2000" b="1" baseline="0">
                <a:solidFill>
                  <a:schemeClr val="tx1"/>
                </a:solidFill>
                <a:latin typeface="+mj-lt"/>
              </a:defRPr>
            </a:lvl1pPr>
          </a:lstStyle>
          <a:p>
            <a:r>
              <a:rPr lang="en-GB" noProof="0" dirty="0"/>
              <a:t>Click to edit title</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2-7-2026</a:t>
            </a:fld>
            <a:endParaRPr lang="nl-NL"/>
          </a:p>
        </p:txBody>
      </p:sp>
      <p:sp>
        <p:nvSpPr>
          <p:cNvPr id="6" name="Tijdelijke aanduiding voor voettekst 5"/>
          <p:cNvSpPr>
            <a:spLocks noGrp="1"/>
          </p:cNvSpPr>
          <p:nvPr>
            <p:ph type="ftr" sz="quarter" idx="11"/>
          </p:nvPr>
        </p:nvSpPr>
        <p:spPr/>
        <p:txBody>
          <a:bodyPr/>
          <a:lstStyle/>
          <a:p>
            <a:endParaRPr lang="nl-NL" dirty="0"/>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7308000" y="4298400"/>
            <a:ext cx="1432608" cy="576091"/>
          </a:xfrm>
          <a:prstGeom prst="rect">
            <a:avLst/>
          </a:prstGeom>
        </p:spPr>
      </p:pic>
      <p:sp>
        <p:nvSpPr>
          <p:cNvPr id="2" name="Tijdelijke aanduiding voor titel 1"/>
          <p:cNvSpPr>
            <a:spLocks noGrp="1"/>
          </p:cNvSpPr>
          <p:nvPr>
            <p:ph type="title"/>
          </p:nvPr>
        </p:nvSpPr>
        <p:spPr>
          <a:xfrm>
            <a:off x="491525" y="396000"/>
            <a:ext cx="8172000" cy="576000"/>
          </a:xfrm>
          <a:prstGeom prst="rect">
            <a:avLst/>
          </a:prstGeom>
        </p:spPr>
        <p:txBody>
          <a:bodyPr vert="horz" lIns="0" tIns="0" rIns="0" bIns="0" rtlCol="0" anchor="t" anchorCtr="0">
            <a:noAutofit/>
          </a:bodyPr>
          <a:lstStyle/>
          <a:p>
            <a:r>
              <a:rPr lang="en-GB" noProof="0" dirty="0"/>
              <a:t>Click to edit title</a:t>
            </a:r>
          </a:p>
        </p:txBody>
      </p:sp>
      <p:sp>
        <p:nvSpPr>
          <p:cNvPr id="3" name="Tijdelijke aanduiding voor tekst 2"/>
          <p:cNvSpPr>
            <a:spLocks noGrp="1"/>
          </p:cNvSpPr>
          <p:nvPr>
            <p:ph type="body" idx="1"/>
          </p:nvPr>
        </p:nvSpPr>
        <p:spPr>
          <a:xfrm>
            <a:off x="491524" y="971551"/>
            <a:ext cx="8172000" cy="3348000"/>
          </a:xfrm>
          <a:prstGeom prst="rect">
            <a:avLst/>
          </a:prstGeom>
        </p:spPr>
        <p:txBody>
          <a:bodyPr vert="horz" lIns="0" tIns="0" rIns="0" bIns="0" rtlCol="0" anchor="t" anchorCtr="0">
            <a:noAutofit/>
          </a:body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2"/>
          </p:nvPr>
        </p:nvSpPr>
        <p:spPr>
          <a:xfrm>
            <a:off x="817200" y="4663178"/>
            <a:ext cx="756000" cy="180285"/>
          </a:xfrm>
          <a:prstGeom prst="rect">
            <a:avLst/>
          </a:prstGeom>
        </p:spPr>
        <p:txBody>
          <a:bodyPr vert="horz" lIns="0" tIns="0" rIns="0" bIns="0" rtlCol="0" anchor="t" anchorCtr="0">
            <a:noAutofit/>
          </a:bodyPr>
          <a:lstStyle>
            <a:lvl1pPr algn="l">
              <a:defRPr sz="1000">
                <a:solidFill>
                  <a:schemeClr val="tx1"/>
                </a:solidFill>
                <a:latin typeface="Museo Sans 100"/>
                <a:cs typeface="Museo Sans 100"/>
              </a:defRPr>
            </a:lvl1pPr>
          </a:lstStyle>
          <a:p>
            <a:fld id="{F10973AC-957D-C346-BA56-D82065FA2AEB}" type="datetimeFigureOut">
              <a:rPr lang="nl-NL" smtClean="0"/>
              <a:pPr/>
              <a:t>2-7-2026</a:t>
            </a:fld>
            <a:endParaRPr lang="nl-NL" dirty="0"/>
          </a:p>
        </p:txBody>
      </p:sp>
      <p:sp>
        <p:nvSpPr>
          <p:cNvPr id="5" name="Tijdelijke aanduiding voor voettekst 4"/>
          <p:cNvSpPr>
            <a:spLocks noGrp="1"/>
          </p:cNvSpPr>
          <p:nvPr>
            <p:ph type="ftr" sz="quarter" idx="3"/>
          </p:nvPr>
        </p:nvSpPr>
        <p:spPr>
          <a:xfrm>
            <a:off x="1573200" y="4663178"/>
            <a:ext cx="510292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endParaRPr lang="nl-NL" dirty="0"/>
          </a:p>
        </p:txBody>
      </p:sp>
      <p:sp>
        <p:nvSpPr>
          <p:cNvPr id="6" name="Tijdelijke aanduiding voor dianummer 5"/>
          <p:cNvSpPr>
            <a:spLocks noGrp="1"/>
          </p:cNvSpPr>
          <p:nvPr>
            <p:ph type="sldNum" sz="quarter" idx="4"/>
          </p:nvPr>
        </p:nvSpPr>
        <p:spPr>
          <a:xfrm>
            <a:off x="491525" y="4663178"/>
            <a:ext cx="32400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fld id="{8C6BC05E-DB9A-EB4A-A776-575FA40369A3}" type="slidenum">
              <a:rPr lang="nl-NL" smtClean="0"/>
              <a:pPr/>
              <a:t>‹#›</a:t>
            </a:fld>
            <a:endParaRPr lang="nl-NL" dirty="0"/>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9" r:id="rId4"/>
    <p:sldLayoutId id="2147483652" r:id="rId5"/>
    <p:sldLayoutId id="2147483653" r:id="rId6"/>
    <p:sldLayoutId id="2147483660" r:id="rId7"/>
    <p:sldLayoutId id="2147483661" r:id="rId8"/>
    <p:sldLayoutId id="2147483654" r:id="rId9"/>
    <p:sldLayoutId id="2147483655" r:id="rId10"/>
    <p:sldLayoutId id="2147483657" r:id="rId11"/>
  </p:sldLayoutIdLst>
  <p:txStyles>
    <p:titleStyle>
      <a:lvl1pPr algn="l" defTabSz="457200" rtl="0" eaLnBrk="1" latinLnBrk="0" hangingPunct="1">
        <a:lnSpc>
          <a:spcPts val="3200"/>
        </a:lnSpc>
        <a:spcBef>
          <a:spcPct val="0"/>
        </a:spcBef>
        <a:buNone/>
        <a:defRPr sz="2800" b="0" i="0" kern="1200">
          <a:solidFill>
            <a:schemeClr val="tx2"/>
          </a:solidFill>
          <a:latin typeface="+mj-lt"/>
          <a:ea typeface="+mj-ea"/>
          <a:cs typeface="Museo Sans 700"/>
        </a:defRPr>
      </a:lvl1pPr>
    </p:titleStyle>
    <p:body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465942" y="1266914"/>
            <a:ext cx="5623379" cy="1224000"/>
          </a:xfrm>
        </p:spPr>
        <p:txBody>
          <a:bodyPr/>
          <a:lstStyle/>
          <a:p>
            <a:r>
              <a:rPr lang="en-GB" sz="3600" b="1" dirty="0"/>
              <a:t>Psychometric results from the Wellbeing Multi-Instrument Comparison (W-MIC) study</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a:t>Agenda</a:t>
            </a:r>
          </a:p>
        </p:txBody>
      </p:sp>
      <p:graphicFrame>
        <p:nvGraphicFramePr>
          <p:cNvPr id="8" name="Tijdelijke aanduiding voor inhoud 5">
            <a:extLst>
              <a:ext uri="{FF2B5EF4-FFF2-40B4-BE49-F238E27FC236}">
                <a16:creationId xmlns:a16="http://schemas.microsoft.com/office/drawing/2014/main" id="{7E712DF1-C4C0-CF47-6CDB-B99272492809}"/>
              </a:ext>
            </a:extLst>
          </p:cNvPr>
          <p:cNvGraphicFramePr>
            <a:graphicFrameLocks noGrp="1"/>
          </p:cNvGraphicFramePr>
          <p:nvPr>
            <p:ph idx="1"/>
            <p:extLst>
              <p:ext uri="{D42A27DB-BD31-4B8C-83A1-F6EECF244321}">
                <p14:modId xmlns:p14="http://schemas.microsoft.com/office/powerpoint/2010/main" val="2629099885"/>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782424" y="1976520"/>
            <a:ext cx="5100975" cy="611472"/>
          </a:xfrm>
        </p:spPr>
        <p:txBody>
          <a:bodyPr/>
          <a:lstStyle/>
          <a:p>
            <a:r>
              <a:rPr lang="en-US" dirty="0"/>
              <a:t>Background and research aim</a:t>
            </a:r>
          </a:p>
        </p:txBody>
      </p:sp>
    </p:spTree>
    <p:extLst>
      <p:ext uri="{BB962C8B-B14F-4D97-AF65-F5344CB8AC3E}">
        <p14:creationId xmlns:p14="http://schemas.microsoft.com/office/powerpoint/2010/main" val="1508604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B3F8-DE61-FC7E-C94A-F35BD2213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30EF1-EF63-085B-FA42-231CE1118FC4}"/>
              </a:ext>
            </a:extLst>
          </p:cNvPr>
          <p:cNvSpPr>
            <a:spLocks noGrp="1"/>
          </p:cNvSpPr>
          <p:nvPr>
            <p:ph type="title"/>
          </p:nvPr>
        </p:nvSpPr>
        <p:spPr>
          <a:xfrm>
            <a:off x="491525" y="396000"/>
            <a:ext cx="8172000" cy="576000"/>
          </a:xfrm>
        </p:spPr>
        <p:txBody>
          <a:bodyPr anchor="t">
            <a:normAutofit/>
          </a:bodyPr>
          <a:lstStyle/>
          <a:p>
            <a:r>
              <a:rPr lang="en-GB" dirty="0"/>
              <a:t>Background (1/2)</a:t>
            </a:r>
            <a:endParaRPr lang="LID4096" dirty="0"/>
          </a:p>
        </p:txBody>
      </p:sp>
      <p:graphicFrame>
        <p:nvGraphicFramePr>
          <p:cNvPr id="11" name="Content Placeholder 2">
            <a:extLst>
              <a:ext uri="{FF2B5EF4-FFF2-40B4-BE49-F238E27FC236}">
                <a16:creationId xmlns:a16="http://schemas.microsoft.com/office/drawing/2014/main" id="{995622C2-26B3-0920-0B03-47A4830FE372}"/>
              </a:ext>
            </a:extLst>
          </p:cNvPr>
          <p:cNvGraphicFramePr>
            <a:graphicFrameLocks noGrp="1"/>
          </p:cNvGraphicFramePr>
          <p:nvPr>
            <p:ph idx="1"/>
            <p:extLst>
              <p:ext uri="{D42A27DB-BD31-4B8C-83A1-F6EECF244321}">
                <p14:modId xmlns:p14="http://schemas.microsoft.com/office/powerpoint/2010/main" val="1181580335"/>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4948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GB" dirty="0"/>
              <a:t>Background (2/2)</a:t>
            </a:r>
            <a:endParaRPr lang="en-US" dirty="0"/>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492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DD635-C9D1-6683-2D93-1A1E6B42D1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8EDE8C5-8D84-B8FE-7611-96786940DD8A}"/>
              </a:ext>
            </a:extLst>
          </p:cNvPr>
          <p:cNvSpPr>
            <a:spLocks noGrp="1"/>
          </p:cNvSpPr>
          <p:nvPr>
            <p:ph type="ctrTitle"/>
          </p:nvPr>
        </p:nvSpPr>
        <p:spPr>
          <a:xfrm>
            <a:off x="1782424" y="1976520"/>
            <a:ext cx="5100975" cy="611472"/>
          </a:xfrm>
        </p:spPr>
        <p:txBody>
          <a:bodyPr/>
          <a:lstStyle/>
          <a:p>
            <a:r>
              <a:rPr lang="en-US" dirty="0"/>
              <a:t>Methodology</a:t>
            </a:r>
          </a:p>
        </p:txBody>
      </p:sp>
    </p:spTree>
    <p:extLst>
      <p:ext uri="{BB962C8B-B14F-4D97-AF65-F5344CB8AC3E}">
        <p14:creationId xmlns:p14="http://schemas.microsoft.com/office/powerpoint/2010/main" val="337232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Methodology</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extLst>
              <p:ext uri="{D42A27DB-BD31-4B8C-83A1-F6EECF244321}">
                <p14:modId xmlns:p14="http://schemas.microsoft.com/office/powerpoint/2010/main" val="4040886537"/>
              </p:ext>
            </p:extLst>
          </p:nvPr>
        </p:nvGraphicFramePr>
        <p:xfrm>
          <a:off x="337795" y="971551"/>
          <a:ext cx="8468409"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9CBA48AD-BF37-A4CF-0C1B-C9A3425BBABE}"/>
              </a:ext>
            </a:extLst>
          </p:cNvPr>
          <p:cNvSpPr txBox="1"/>
          <p:nvPr/>
        </p:nvSpPr>
        <p:spPr>
          <a:xfrm>
            <a:off x="534230" y="2644155"/>
            <a:ext cx="1293707" cy="276999"/>
          </a:xfrm>
          <a:prstGeom prst="rect">
            <a:avLst/>
          </a:prstGeom>
          <a:noFill/>
        </p:spPr>
        <p:txBody>
          <a:bodyPr wrap="square" rtlCol="0">
            <a:spAutoFit/>
          </a:bodyPr>
          <a:lstStyle/>
          <a:p>
            <a:pPr algn="ctr"/>
            <a:r>
              <a:rPr lang="en-US" sz="1200" b="1" dirty="0"/>
              <a:t>Study design</a:t>
            </a:r>
          </a:p>
        </p:txBody>
      </p:sp>
      <p:sp>
        <p:nvSpPr>
          <p:cNvPr id="3" name="TextBox 2">
            <a:extLst>
              <a:ext uri="{FF2B5EF4-FFF2-40B4-BE49-F238E27FC236}">
                <a16:creationId xmlns:a16="http://schemas.microsoft.com/office/drawing/2014/main" id="{6EC9AC52-07F3-39D2-E07E-15F48AC5AE79}"/>
              </a:ext>
            </a:extLst>
          </p:cNvPr>
          <p:cNvSpPr txBox="1"/>
          <p:nvPr/>
        </p:nvSpPr>
        <p:spPr>
          <a:xfrm>
            <a:off x="2665535" y="2644155"/>
            <a:ext cx="1293707" cy="276999"/>
          </a:xfrm>
          <a:prstGeom prst="rect">
            <a:avLst/>
          </a:prstGeom>
          <a:noFill/>
        </p:spPr>
        <p:txBody>
          <a:bodyPr wrap="square" rtlCol="0">
            <a:spAutoFit/>
          </a:bodyPr>
          <a:lstStyle/>
          <a:p>
            <a:pPr algn="ctr"/>
            <a:r>
              <a:rPr lang="en-US" sz="1200" b="1" dirty="0"/>
              <a:t>Population</a:t>
            </a:r>
          </a:p>
        </p:txBody>
      </p:sp>
      <p:sp>
        <p:nvSpPr>
          <p:cNvPr id="4" name="TextBox 3">
            <a:extLst>
              <a:ext uri="{FF2B5EF4-FFF2-40B4-BE49-F238E27FC236}">
                <a16:creationId xmlns:a16="http://schemas.microsoft.com/office/drawing/2014/main" id="{CE0A5B97-0C69-3A9F-F7C9-D39DC7B4EB5B}"/>
              </a:ext>
            </a:extLst>
          </p:cNvPr>
          <p:cNvSpPr txBox="1"/>
          <p:nvPr/>
        </p:nvSpPr>
        <p:spPr>
          <a:xfrm>
            <a:off x="4942673" y="2640779"/>
            <a:ext cx="1293707" cy="276999"/>
          </a:xfrm>
          <a:prstGeom prst="rect">
            <a:avLst/>
          </a:prstGeom>
          <a:noFill/>
        </p:spPr>
        <p:txBody>
          <a:bodyPr wrap="square" rtlCol="0">
            <a:spAutoFit/>
          </a:bodyPr>
          <a:lstStyle/>
          <a:p>
            <a:pPr algn="ctr"/>
            <a:r>
              <a:rPr lang="en-US" sz="1200" b="1" dirty="0"/>
              <a:t>Measures</a:t>
            </a:r>
          </a:p>
        </p:txBody>
      </p:sp>
      <p:sp>
        <p:nvSpPr>
          <p:cNvPr id="6" name="TextBox 5">
            <a:extLst>
              <a:ext uri="{FF2B5EF4-FFF2-40B4-BE49-F238E27FC236}">
                <a16:creationId xmlns:a16="http://schemas.microsoft.com/office/drawing/2014/main" id="{BCA72E37-3700-2540-6EC8-65E9AB37609C}"/>
              </a:ext>
            </a:extLst>
          </p:cNvPr>
          <p:cNvSpPr txBox="1"/>
          <p:nvPr/>
        </p:nvSpPr>
        <p:spPr>
          <a:xfrm>
            <a:off x="7219811" y="2644155"/>
            <a:ext cx="1389959" cy="276999"/>
          </a:xfrm>
          <a:prstGeom prst="rect">
            <a:avLst/>
          </a:prstGeom>
          <a:noFill/>
        </p:spPr>
        <p:txBody>
          <a:bodyPr wrap="square" rtlCol="0">
            <a:spAutoFit/>
          </a:bodyPr>
          <a:lstStyle/>
          <a:p>
            <a:pPr algn="ctr"/>
            <a:r>
              <a:rPr lang="en-US" sz="1200" b="1" dirty="0"/>
              <a:t>Data collection</a:t>
            </a:r>
          </a:p>
        </p:txBody>
      </p:sp>
    </p:spTree>
    <p:extLst>
      <p:ext uri="{BB962C8B-B14F-4D97-AF65-F5344CB8AC3E}">
        <p14:creationId xmlns:p14="http://schemas.microsoft.com/office/powerpoint/2010/main" val="2854233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37FB-7167-DEBA-BB01-C1C1A0E16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B7C4F-E72D-4F58-EB70-9CDBE7DFC710}"/>
              </a:ext>
            </a:extLst>
          </p:cNvPr>
          <p:cNvSpPr>
            <a:spLocks noGrp="1"/>
          </p:cNvSpPr>
          <p:nvPr>
            <p:ph type="title"/>
          </p:nvPr>
        </p:nvSpPr>
        <p:spPr>
          <a:xfrm>
            <a:off x="491525" y="396000"/>
            <a:ext cx="8172000" cy="576000"/>
          </a:xfrm>
        </p:spPr>
        <p:txBody>
          <a:bodyPr anchor="t">
            <a:normAutofit/>
          </a:bodyPr>
          <a:lstStyle/>
          <a:p>
            <a:r>
              <a:rPr lang="en-GB" dirty="0"/>
              <a:t>Survey logic</a:t>
            </a:r>
            <a:endParaRPr lang="LID4096" dirty="0"/>
          </a:p>
        </p:txBody>
      </p:sp>
      <p:pic>
        <p:nvPicPr>
          <p:cNvPr id="7" name="Picture 6" descr="A close-up of a diagram&#10;&#10;AI-generated content may be incorrect.">
            <a:extLst>
              <a:ext uri="{FF2B5EF4-FFF2-40B4-BE49-F238E27FC236}">
                <a16:creationId xmlns:a16="http://schemas.microsoft.com/office/drawing/2014/main" id="{D508F72E-469E-0732-46A4-EECF34455AD2}"/>
              </a:ext>
            </a:extLst>
          </p:cNvPr>
          <p:cNvPicPr>
            <a:picLocks noChangeAspect="1"/>
          </p:cNvPicPr>
          <p:nvPr/>
        </p:nvPicPr>
        <p:blipFill>
          <a:blip r:embed="rId2"/>
          <a:srcRect t="25667" b="26591"/>
          <a:stretch/>
        </p:blipFill>
        <p:spPr>
          <a:xfrm>
            <a:off x="491524" y="1278248"/>
            <a:ext cx="8172000" cy="2734606"/>
          </a:xfrm>
          <a:prstGeom prst="rect">
            <a:avLst/>
          </a:prstGeom>
          <a:noFill/>
        </p:spPr>
      </p:pic>
    </p:spTree>
    <p:extLst>
      <p:ext uri="{BB962C8B-B14F-4D97-AF65-F5344CB8AC3E}">
        <p14:creationId xmlns:p14="http://schemas.microsoft.com/office/powerpoint/2010/main" val="2423323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E91AC-ED2D-BFCB-B71D-49DAA3C17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2D61A-B303-616F-5578-D62805F91C27}"/>
              </a:ext>
            </a:extLst>
          </p:cNvPr>
          <p:cNvSpPr>
            <a:spLocks noGrp="1"/>
          </p:cNvSpPr>
          <p:nvPr>
            <p:ph type="title"/>
          </p:nvPr>
        </p:nvSpPr>
        <p:spPr>
          <a:xfrm>
            <a:off x="491525" y="396000"/>
            <a:ext cx="8172000" cy="576000"/>
          </a:xfrm>
        </p:spPr>
        <p:txBody>
          <a:bodyPr anchor="t">
            <a:normAutofit/>
          </a:bodyPr>
          <a:lstStyle/>
          <a:p>
            <a:r>
              <a:rPr lang="en-GB" dirty="0"/>
              <a:t>Statistical analysis</a:t>
            </a:r>
            <a:endParaRPr lang="LID4096" dirty="0"/>
          </a:p>
        </p:txBody>
      </p:sp>
      <p:sp>
        <p:nvSpPr>
          <p:cNvPr id="9" name="Content Placeholder 2">
            <a:extLst>
              <a:ext uri="{FF2B5EF4-FFF2-40B4-BE49-F238E27FC236}">
                <a16:creationId xmlns:a16="http://schemas.microsoft.com/office/drawing/2014/main" id="{2A7F3807-A864-B03E-CFD3-684AD51D3B75}"/>
              </a:ext>
            </a:extLst>
          </p:cNvPr>
          <p:cNvSpPr>
            <a:spLocks noGrp="1"/>
          </p:cNvSpPr>
          <p:nvPr>
            <p:ph sz="half" idx="1"/>
          </p:nvPr>
        </p:nvSpPr>
        <p:spPr>
          <a:xfrm>
            <a:off x="493199" y="972000"/>
            <a:ext cx="8018283" cy="3348000"/>
          </a:xfrm>
        </p:spPr>
        <p:txBody>
          <a:bodyPr/>
          <a:lstStyle/>
          <a:p>
            <a:r>
              <a:rPr lang="en-US" dirty="0"/>
              <a:t>Ceiling/floor effects</a:t>
            </a:r>
          </a:p>
          <a:p>
            <a:r>
              <a:rPr lang="en-US" dirty="0"/>
              <a:t>Convergent validity</a:t>
            </a:r>
          </a:p>
          <a:p>
            <a:r>
              <a:rPr lang="en-US" dirty="0"/>
              <a:t>Known-groups validity</a:t>
            </a:r>
          </a:p>
          <a:p>
            <a:r>
              <a:rPr lang="en-US" dirty="0"/>
              <a:t>Test-retest reliability</a:t>
            </a:r>
          </a:p>
          <a:p>
            <a:pPr marL="0" indent="0">
              <a:buNone/>
            </a:pPr>
            <a:endParaRPr lang="en-US" dirty="0"/>
          </a:p>
          <a:p>
            <a:r>
              <a:rPr lang="en-US" dirty="0"/>
              <a:t>To facilitate comparison between instruments with different scoring systems, level sum scores were linearly transformed to a standardized 0–100 scale.</a:t>
            </a:r>
          </a:p>
        </p:txBody>
      </p:sp>
    </p:spTree>
    <p:extLst>
      <p:ext uri="{BB962C8B-B14F-4D97-AF65-F5344CB8AC3E}">
        <p14:creationId xmlns:p14="http://schemas.microsoft.com/office/powerpoint/2010/main" val="2265299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4454-7AAB-A6B4-4C20-A96BB30CAA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BAD266-1409-79A0-75E0-496B69719CF6}"/>
              </a:ext>
            </a:extLst>
          </p:cNvPr>
          <p:cNvSpPr>
            <a:spLocks noGrp="1"/>
          </p:cNvSpPr>
          <p:nvPr>
            <p:ph type="ctrTitle"/>
          </p:nvPr>
        </p:nvSpPr>
        <p:spPr>
          <a:xfrm>
            <a:off x="1782424" y="1976520"/>
            <a:ext cx="5100975" cy="611472"/>
          </a:xfrm>
        </p:spPr>
        <p:txBody>
          <a:bodyPr/>
          <a:lstStyle/>
          <a:p>
            <a:r>
              <a:rPr lang="en-US" dirty="0"/>
              <a:t>Results</a:t>
            </a:r>
          </a:p>
        </p:txBody>
      </p:sp>
    </p:spTree>
    <p:extLst>
      <p:ext uri="{BB962C8B-B14F-4D97-AF65-F5344CB8AC3E}">
        <p14:creationId xmlns:p14="http://schemas.microsoft.com/office/powerpoint/2010/main" val="389810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EA26-DDDD-6D19-DB4F-78131E59D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8CEE-5861-A291-B34D-F0A0EB56E8E8}"/>
              </a:ext>
            </a:extLst>
          </p:cNvPr>
          <p:cNvSpPr>
            <a:spLocks noGrp="1"/>
          </p:cNvSpPr>
          <p:nvPr>
            <p:ph type="title"/>
          </p:nvPr>
        </p:nvSpPr>
        <p:spPr>
          <a:xfrm>
            <a:off x="491525" y="396000"/>
            <a:ext cx="8172000" cy="576000"/>
          </a:xfrm>
        </p:spPr>
        <p:txBody>
          <a:bodyPr anchor="t">
            <a:normAutofit/>
          </a:bodyPr>
          <a:lstStyle/>
          <a:p>
            <a:r>
              <a:rPr lang="en-GB" dirty="0"/>
              <a:t>Demographics</a:t>
            </a:r>
            <a:endParaRPr lang="LID4096" dirty="0"/>
          </a:p>
        </p:txBody>
      </p:sp>
      <p:pic>
        <p:nvPicPr>
          <p:cNvPr id="6" name="Picture 5">
            <a:extLst>
              <a:ext uri="{FF2B5EF4-FFF2-40B4-BE49-F238E27FC236}">
                <a16:creationId xmlns:a16="http://schemas.microsoft.com/office/drawing/2014/main" id="{0CCD7D85-6DDA-4DA4-4F63-401C5107CA1B}"/>
              </a:ext>
            </a:extLst>
          </p:cNvPr>
          <p:cNvPicPr>
            <a:picLocks noChangeAspect="1"/>
          </p:cNvPicPr>
          <p:nvPr/>
        </p:nvPicPr>
        <p:blipFill>
          <a:blip r:embed="rId3"/>
          <a:srcRect/>
          <a:stretch/>
        </p:blipFill>
        <p:spPr>
          <a:xfrm>
            <a:off x="804397" y="1229161"/>
            <a:ext cx="7848078" cy="3837964"/>
          </a:xfrm>
          <a:prstGeom prst="rect">
            <a:avLst/>
          </a:prstGeom>
          <a:noFill/>
        </p:spPr>
      </p:pic>
      <p:sp>
        <p:nvSpPr>
          <p:cNvPr id="8" name="Tijdelijke aanduiding voor inhoud 5">
            <a:extLst>
              <a:ext uri="{FF2B5EF4-FFF2-40B4-BE49-F238E27FC236}">
                <a16:creationId xmlns:a16="http://schemas.microsoft.com/office/drawing/2014/main" id="{A1AADBC1-5FFE-EDFC-18D1-478C6985437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9E273D09-D378-CAFE-0B27-90B3B7B993AF}"/>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7155 final sample </a:t>
            </a:r>
            <a:r>
              <a:rPr lang="pt-BR" sz="1400" dirty="0"/>
              <a:t>(US: n= 3606, 50%; NL: n=3549, 50%)</a:t>
            </a:r>
          </a:p>
        </p:txBody>
      </p:sp>
    </p:spTree>
    <p:extLst>
      <p:ext uri="{BB962C8B-B14F-4D97-AF65-F5344CB8AC3E}">
        <p14:creationId xmlns:p14="http://schemas.microsoft.com/office/powerpoint/2010/main" val="1554710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A338-B74F-43F3-DB95-7A35FDFD1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0C80B-0F00-63AD-BE82-187469602EB3}"/>
              </a:ext>
            </a:extLst>
          </p:cNvPr>
          <p:cNvSpPr>
            <a:spLocks noGrp="1"/>
          </p:cNvSpPr>
          <p:nvPr>
            <p:ph type="title"/>
          </p:nvPr>
        </p:nvSpPr>
        <p:spPr>
          <a:xfrm>
            <a:off x="491525" y="396000"/>
            <a:ext cx="8172000" cy="576000"/>
          </a:xfrm>
        </p:spPr>
        <p:txBody>
          <a:bodyPr anchor="t">
            <a:normAutofit/>
          </a:bodyPr>
          <a:lstStyle/>
          <a:p>
            <a:r>
              <a:rPr lang="en-GB" dirty="0"/>
              <a:t>Descriptive statistics</a:t>
            </a:r>
            <a:endParaRPr lang="LID4096" dirty="0"/>
          </a:p>
        </p:txBody>
      </p:sp>
      <p:sp>
        <p:nvSpPr>
          <p:cNvPr id="8" name="Tijdelijke aanduiding voor inhoud 5">
            <a:extLst>
              <a:ext uri="{FF2B5EF4-FFF2-40B4-BE49-F238E27FC236}">
                <a16:creationId xmlns:a16="http://schemas.microsoft.com/office/drawing/2014/main" id="{4A280A69-72B9-B703-1754-295174AAD18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5" name="Picture 4">
            <a:extLst>
              <a:ext uri="{FF2B5EF4-FFF2-40B4-BE49-F238E27FC236}">
                <a16:creationId xmlns:a16="http://schemas.microsoft.com/office/drawing/2014/main" id="{1D647ED5-C134-84CA-79C4-0AE6EE680734}"/>
              </a:ext>
            </a:extLst>
          </p:cNvPr>
          <p:cNvPicPr>
            <a:picLocks noChangeAspect="1"/>
          </p:cNvPicPr>
          <p:nvPr/>
        </p:nvPicPr>
        <p:blipFill>
          <a:blip r:embed="rId3"/>
          <a:srcRect/>
          <a:stretch/>
        </p:blipFill>
        <p:spPr>
          <a:xfrm>
            <a:off x="2586137" y="941954"/>
            <a:ext cx="6202595" cy="3259592"/>
          </a:xfrm>
          <a:prstGeom prst="rect">
            <a:avLst/>
          </a:prstGeom>
        </p:spPr>
      </p:pic>
      <p:sp>
        <p:nvSpPr>
          <p:cNvPr id="9" name="Content Placeholder 3">
            <a:extLst>
              <a:ext uri="{FF2B5EF4-FFF2-40B4-BE49-F238E27FC236}">
                <a16:creationId xmlns:a16="http://schemas.microsoft.com/office/drawing/2014/main" id="{18E53376-3765-080E-C23F-9EA4E46E8C89}"/>
              </a:ext>
            </a:extLst>
          </p:cNvPr>
          <p:cNvSpPr txBox="1">
            <a:spLocks/>
          </p:cNvSpPr>
          <p:nvPr/>
        </p:nvSpPr>
        <p:spPr>
          <a:xfrm>
            <a:off x="491525" y="971999"/>
            <a:ext cx="209165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Participants had moderate to high levels of well-being across instruments</a:t>
            </a:r>
          </a:p>
          <a:p>
            <a:r>
              <a:rPr lang="en-GB" sz="1400" dirty="0"/>
              <a:t>More negatively skewed in the EQ-HWB-9 and WOOP</a:t>
            </a:r>
            <a:endParaRPr lang="pt-BR" sz="1400" dirty="0"/>
          </a:p>
          <a:p>
            <a:endParaRPr lang="en-US" sz="1400" dirty="0"/>
          </a:p>
        </p:txBody>
      </p:sp>
    </p:spTree>
    <p:extLst>
      <p:ext uri="{BB962C8B-B14F-4D97-AF65-F5344CB8AC3E}">
        <p14:creationId xmlns:p14="http://schemas.microsoft.com/office/powerpoint/2010/main" val="619764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29CD-245F-DF93-9DE8-D50AF5D20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0135D-07D1-F348-A372-F69AA061DF94}"/>
              </a:ext>
            </a:extLst>
          </p:cNvPr>
          <p:cNvSpPr>
            <a:spLocks noGrp="1"/>
          </p:cNvSpPr>
          <p:nvPr>
            <p:ph type="title"/>
          </p:nvPr>
        </p:nvSpPr>
        <p:spPr>
          <a:xfrm>
            <a:off x="491525" y="396000"/>
            <a:ext cx="8172000" cy="576000"/>
          </a:xfrm>
        </p:spPr>
        <p:txBody>
          <a:bodyPr anchor="t">
            <a:normAutofit/>
          </a:bodyPr>
          <a:lstStyle/>
          <a:p>
            <a:r>
              <a:rPr lang="en-GB" dirty="0"/>
              <a:t>Convergent validity</a:t>
            </a:r>
            <a:endParaRPr lang="LID4096" dirty="0"/>
          </a:p>
        </p:txBody>
      </p:sp>
      <p:sp>
        <p:nvSpPr>
          <p:cNvPr id="8" name="Tijdelijke aanduiding voor inhoud 5">
            <a:extLst>
              <a:ext uri="{FF2B5EF4-FFF2-40B4-BE49-F238E27FC236}">
                <a16:creationId xmlns:a16="http://schemas.microsoft.com/office/drawing/2014/main" id="{D1268A7E-AE7A-9970-33CA-E4656FC5192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12" name="Picture 11">
            <a:extLst>
              <a:ext uri="{FF2B5EF4-FFF2-40B4-BE49-F238E27FC236}">
                <a16:creationId xmlns:a16="http://schemas.microsoft.com/office/drawing/2014/main" id="{F570B821-79AB-2CDF-A163-7FF0884748E6}"/>
              </a:ext>
            </a:extLst>
          </p:cNvPr>
          <p:cNvPicPr>
            <a:picLocks noChangeAspect="1"/>
          </p:cNvPicPr>
          <p:nvPr/>
        </p:nvPicPr>
        <p:blipFill>
          <a:blip r:embed="rId3"/>
          <a:srcRect/>
          <a:stretch/>
        </p:blipFill>
        <p:spPr>
          <a:xfrm>
            <a:off x="4093624" y="684000"/>
            <a:ext cx="4711490" cy="4386370"/>
          </a:xfrm>
          <a:prstGeom prst="rect">
            <a:avLst/>
          </a:prstGeom>
        </p:spPr>
      </p:pic>
      <p:sp>
        <p:nvSpPr>
          <p:cNvPr id="13" name="Content Placeholder 3">
            <a:extLst>
              <a:ext uri="{FF2B5EF4-FFF2-40B4-BE49-F238E27FC236}">
                <a16:creationId xmlns:a16="http://schemas.microsoft.com/office/drawing/2014/main" id="{3DFAE245-0713-8806-CAD5-0B27C2EBF63F}"/>
              </a:ext>
            </a:extLst>
          </p:cNvPr>
          <p:cNvSpPr txBox="1">
            <a:spLocks/>
          </p:cNvSpPr>
          <p:nvPr/>
        </p:nvSpPr>
        <p:spPr>
          <a:xfrm>
            <a:off x="491525" y="971999"/>
            <a:ext cx="3406707"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strong correlations among them</a:t>
            </a:r>
          </a:p>
          <a:p>
            <a:r>
              <a:rPr lang="en-GB" sz="1400" dirty="0"/>
              <a:t>EQ-HWB-9 was more strongly correlated with EQ-5D-5L</a:t>
            </a:r>
          </a:p>
          <a:p>
            <a:r>
              <a:rPr lang="en-GB" sz="1400" dirty="0"/>
              <a:t>WiX was more strongly correlated with ICECAP-A and general well-being questionnaires</a:t>
            </a:r>
            <a:endParaRPr lang="pt-BR" sz="1400" dirty="0"/>
          </a:p>
          <a:p>
            <a:endParaRPr lang="en-US" sz="1400" dirty="0"/>
          </a:p>
        </p:txBody>
      </p:sp>
    </p:spTree>
    <p:extLst>
      <p:ext uri="{BB962C8B-B14F-4D97-AF65-F5344CB8AC3E}">
        <p14:creationId xmlns:p14="http://schemas.microsoft.com/office/powerpoint/2010/main" val="1890494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821B4-D3DB-99EE-4E21-EF5622426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E65D2-3101-B3DD-E161-C98E1A5BDAF8}"/>
              </a:ext>
            </a:extLst>
          </p:cNvPr>
          <p:cNvSpPr>
            <a:spLocks noGrp="1"/>
          </p:cNvSpPr>
          <p:nvPr>
            <p:ph type="title"/>
          </p:nvPr>
        </p:nvSpPr>
        <p:spPr>
          <a:xfrm>
            <a:off x="491525" y="396000"/>
            <a:ext cx="8172000" cy="576000"/>
          </a:xfrm>
        </p:spPr>
        <p:txBody>
          <a:bodyPr anchor="t">
            <a:normAutofit/>
          </a:bodyPr>
          <a:lstStyle/>
          <a:p>
            <a:r>
              <a:rPr lang="en-GB" dirty="0"/>
              <a:t>Known-group validity</a:t>
            </a:r>
            <a:endParaRPr lang="LID4096" dirty="0"/>
          </a:p>
        </p:txBody>
      </p:sp>
      <p:sp>
        <p:nvSpPr>
          <p:cNvPr id="8" name="Tijdelijke aanduiding voor inhoud 5">
            <a:extLst>
              <a:ext uri="{FF2B5EF4-FFF2-40B4-BE49-F238E27FC236}">
                <a16:creationId xmlns:a16="http://schemas.microsoft.com/office/drawing/2014/main" id="{DB44CE21-FD8A-2661-BD32-2471305C5CA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9A5F05C3-FC82-FDA3-593C-EE22A7D3FF38}"/>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graphicFrame>
        <p:nvGraphicFramePr>
          <p:cNvPr id="7" name="Table 6">
            <a:extLst>
              <a:ext uri="{FF2B5EF4-FFF2-40B4-BE49-F238E27FC236}">
                <a16:creationId xmlns:a16="http://schemas.microsoft.com/office/drawing/2014/main" id="{0698F77C-0B02-DEA4-4A80-7A98ED5C88AD}"/>
              </a:ext>
            </a:extLst>
          </p:cNvPr>
          <p:cNvGraphicFramePr>
            <a:graphicFrameLocks noGrp="1"/>
          </p:cNvGraphicFramePr>
          <p:nvPr>
            <p:extLst>
              <p:ext uri="{D42A27DB-BD31-4B8C-83A1-F6EECF244321}">
                <p14:modId xmlns:p14="http://schemas.microsoft.com/office/powerpoint/2010/main" val="1275376968"/>
              </p:ext>
            </p:extLst>
          </p:nvPr>
        </p:nvGraphicFramePr>
        <p:xfrm>
          <a:off x="3148123" y="987008"/>
          <a:ext cx="5775871" cy="3656411"/>
        </p:xfrm>
        <a:graphic>
          <a:graphicData uri="http://schemas.openxmlformats.org/drawingml/2006/table">
            <a:tbl>
              <a:tblPr firstRow="1" firstCol="1" bandRow="1"/>
              <a:tblGrid>
                <a:gridCol w="1763224">
                  <a:extLst>
                    <a:ext uri="{9D8B030D-6E8A-4147-A177-3AD203B41FA5}">
                      <a16:colId xmlns:a16="http://schemas.microsoft.com/office/drawing/2014/main" val="2691473734"/>
                    </a:ext>
                  </a:extLst>
                </a:gridCol>
                <a:gridCol w="1002525">
                  <a:extLst>
                    <a:ext uri="{9D8B030D-6E8A-4147-A177-3AD203B41FA5}">
                      <a16:colId xmlns:a16="http://schemas.microsoft.com/office/drawing/2014/main" val="1479163861"/>
                    </a:ext>
                  </a:extLst>
                </a:gridCol>
                <a:gridCol w="1003374">
                  <a:extLst>
                    <a:ext uri="{9D8B030D-6E8A-4147-A177-3AD203B41FA5}">
                      <a16:colId xmlns:a16="http://schemas.microsoft.com/office/drawing/2014/main" val="80781516"/>
                    </a:ext>
                  </a:extLst>
                </a:gridCol>
                <a:gridCol w="1003374">
                  <a:extLst>
                    <a:ext uri="{9D8B030D-6E8A-4147-A177-3AD203B41FA5}">
                      <a16:colId xmlns:a16="http://schemas.microsoft.com/office/drawing/2014/main" val="2380445824"/>
                    </a:ext>
                  </a:extLst>
                </a:gridCol>
                <a:gridCol w="1003374">
                  <a:extLst>
                    <a:ext uri="{9D8B030D-6E8A-4147-A177-3AD203B41FA5}">
                      <a16:colId xmlns:a16="http://schemas.microsoft.com/office/drawing/2014/main" val="3013557673"/>
                    </a:ext>
                  </a:extLst>
                </a:gridCol>
              </a:tblGrid>
              <a:tr h="97476">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Group</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74956645"/>
                  </a:ext>
                </a:extLst>
              </a:tr>
              <a:tr h="97476">
                <a:tc>
                  <a:txBody>
                    <a:bodyPr/>
                    <a:lstStyle/>
                    <a:p>
                      <a:pPr>
                        <a:lnSpc>
                          <a:spcPct val="107000"/>
                        </a:lnSpc>
                        <a:spcAft>
                          <a:spcPts val="800"/>
                        </a:spcAft>
                        <a:buNone/>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Depression</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18535139"/>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Clinical (n=634)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45.01 (15.26)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48.23 (17.84)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47.71 (14.24)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47.97 (16.52)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707121024"/>
                  </a:ext>
                </a:extLst>
              </a:tr>
              <a:tr h="97476">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Non-clinical (n=412)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72.26 (14.71)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66.31 (17.30)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65.36 (14.03)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67.28 (14.23)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26866265"/>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27533 (&lt;0.001) [0.67]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60313 (&lt;0.001) [0.46]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49571.5 (&lt;0.001) [0.53]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47054 (&lt;0.001) [0.54]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777467806"/>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Arthritis</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970326285"/>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High severity (n=579)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55.72 (19.17)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59.56 (19.39)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56.60 (14.14)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61.03 (18.14)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900071"/>
                  </a:ext>
                </a:extLst>
              </a:tr>
              <a:tr h="198433">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Moderate severity-Near remission (n=499)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81.17 (14.10)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75.55 (15.15)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72.89 (13.68)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77.05 (13.60)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703291864"/>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40786.5 (&lt;0.001) [0.62]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74783.5 (&lt;0.001) (0.42)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59137 (&lt;0.001) [0.51]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67287 (&lt;0.001) [0.46]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69516616"/>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Sleep</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022158383"/>
                  </a:ext>
                </a:extLst>
              </a:tr>
              <a:tr h="198433">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High sleep disturbance (n=505)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56.89 (20.33)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56.92 (19.91)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56.78 (17.11)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56.68 (18.88)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08820942"/>
                  </a:ext>
                </a:extLst>
              </a:tr>
              <a:tr h="198433">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Low sleep disturbance (n=571)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75.58 (19.02)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70.99 (19.12)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68.99 (16.72)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71.35 (17.04)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230632796"/>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71801.5 (&lt;0.001) [0.43]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87189.5 (&lt;0.001) [0.34]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87060.5 (&lt;0.001) [0.34]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79889 (&lt;0.001) (0.39)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329338441"/>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Skin</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38847975"/>
                  </a:ext>
                </a:extLst>
              </a:tr>
              <a:tr h="198433">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Moderate to Extreme effect on life (n=408)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60.59 (21.61)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63.94 (20.29)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61.99 (16.69)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62.34 (19.52)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268795556"/>
                  </a:ext>
                </a:extLst>
              </a:tr>
              <a:tr h="198433">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Small-no effect on life (n=673)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77.96 (17.35)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70.69 (17.93)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70.25 (16.11)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71.14 (16.07)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445225460"/>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72485 (&lt;0.001) [0.40]</a:t>
                      </a: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110711.5 (&lt;0.001) [0.16]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97203.5 (&lt;0.001) [0.25]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100264.5 (&lt;0.001) (0.23)</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3837781282"/>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Heart</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58679529"/>
                  </a:ext>
                </a:extLst>
              </a:tr>
              <a:tr h="109187">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High physical impact (n=561)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61.51 (19.59)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61.16 (18.98)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57.09 (15.30)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61.88 (17.85)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587729"/>
                  </a:ext>
                </a:extLst>
              </a:tr>
              <a:tr h="109187">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Low physical impact (n=547)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88.27 (11.04)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78.99 (13.91)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75.75 (12.33)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80.54 (12.11)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11946463"/>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31012.5 (&lt;0.001) [0.69]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70275 (&lt;0.001) (0.47)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51867.5 (&lt;0.001) [0.58]</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57110 (&lt;0.001) [0.54]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231622503"/>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General Health</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41685599"/>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Poor health (n=4501)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63.74 (21.32)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61.02 (19.45)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59.39 (16.41)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61.74 (18.41)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518601130"/>
                  </a:ext>
                </a:extLst>
              </a:tr>
              <a:tr h="109187">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Good health (n=2654)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86.02 (15.20)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79.33 (14.95)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77.22 (13.77)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81.15 (12.36)</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82976774"/>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9757852 (&lt;0.001) (0.53)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9182292 (&lt;0.001) [0.45]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9521704 (&lt;0.001) [0.50]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9693975 (&lt;0.01) [0.52]</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35919259"/>
                  </a:ext>
                </a:extLst>
              </a:tr>
              <a:tr h="97476">
                <a:tc>
                  <a:txBody>
                    <a:bodyPr/>
                    <a:lstStyle/>
                    <a:p>
                      <a:pPr>
                        <a:lnSpc>
                          <a:spcPct val="107000"/>
                        </a:lnSpc>
                        <a:spcAft>
                          <a:spcPts val="800"/>
                        </a:spcAft>
                        <a:buNone/>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Receiving care</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642827908"/>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Formal care users (n=700)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57.37 (22.99)</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63.27 (22.58)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58.01 (17.30)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63.88 (21.01)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631046792"/>
                  </a:ext>
                </a:extLst>
              </a:tr>
              <a:tr h="109187">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Formal and informal care users (n=519)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57.65 (21.51)</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61.93 (20.99)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58.90 (16.65)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62.42 (19.96)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188921865"/>
                  </a:ext>
                </a:extLst>
              </a:tr>
              <a:tr h="97476">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Informal care users (n=807)</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57.24 (19.97)</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59.45 (18.80)</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57.41 (16.32)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60.67 (18.29)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67672026"/>
                  </a:ext>
                </a:extLst>
              </a:tr>
              <a:tr h="97476">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Non care recipient (n=5129)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0" dirty="0">
                          <a:solidFill>
                            <a:schemeClr val="tx1"/>
                          </a:solidFill>
                          <a:effectLst/>
                          <a:latin typeface="Aptos" panose="020B0004020202020204" pitchFamily="34" charset="0"/>
                          <a:ea typeface="Aptos" panose="020B0004020202020204" pitchFamily="34" charset="0"/>
                          <a:cs typeface="Arial" panose="020B0604020202020204" pitchFamily="34" charset="0"/>
                        </a:rPr>
                        <a:t>77.78 (19.51)</a:t>
                      </a:r>
                      <a:endParaRPr lang="en-US" sz="10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70.35 (19.07)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69.16 (17.08)</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71.59 (17.90)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379625300"/>
                  </a:ext>
                </a:extLst>
              </a:tr>
              <a:tr h="97476">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effectLst/>
                          <a:latin typeface="Aptos" panose="020B0004020202020204" pitchFamily="34" charset="0"/>
                          <a:ea typeface="Aptos" panose="020B0004020202020204" pitchFamily="34" charset="0"/>
                          <a:cs typeface="Arial" panose="020B0604020202020204" pitchFamily="34" charset="0"/>
                        </a:rPr>
                        <a:t>2</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a:t>
                      </a:r>
                      <a:endParaRPr lang="el-GR"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1224.045 (&lt;0.001) [0.17]</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318.5162 (&lt;0.001) [0.04]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612.6007 (&lt;0.001) [0.09]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375.3747 (&lt;0.001) [0.05]</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1597600676"/>
                  </a:ext>
                </a:extLst>
              </a:tr>
            </a:tbl>
          </a:graphicData>
        </a:graphic>
      </p:graphicFrame>
      <p:sp>
        <p:nvSpPr>
          <p:cNvPr id="10" name="Content Placeholder 3">
            <a:extLst>
              <a:ext uri="{FF2B5EF4-FFF2-40B4-BE49-F238E27FC236}">
                <a16:creationId xmlns:a16="http://schemas.microsoft.com/office/drawing/2014/main" id="{201027CE-6C07-7351-66D1-4C341F66CA6D}"/>
              </a:ext>
            </a:extLst>
          </p:cNvPr>
          <p:cNvSpPr txBox="1">
            <a:spLocks/>
          </p:cNvSpPr>
          <p:nvPr/>
        </p:nvSpPr>
        <p:spPr>
          <a:xfrm>
            <a:off x="491525" y="971999"/>
            <a:ext cx="2396129"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were able to distinguish between clinical groups</a:t>
            </a:r>
          </a:p>
          <a:p>
            <a:r>
              <a:rPr lang="en-GB" sz="1400" dirty="0"/>
              <a:t>EQ-HWB-9 and SWB-5D did not detect differences among social care users in post-hoc comparison using Bonferroni correction</a:t>
            </a:r>
            <a:endParaRPr lang="en-US" sz="1400" dirty="0"/>
          </a:p>
        </p:txBody>
      </p:sp>
      <p:sp>
        <p:nvSpPr>
          <p:cNvPr id="14" name="TextBox 13">
            <a:extLst>
              <a:ext uri="{FF2B5EF4-FFF2-40B4-BE49-F238E27FC236}">
                <a16:creationId xmlns:a16="http://schemas.microsoft.com/office/drawing/2014/main" id="{F14CDF7E-99F3-541C-F632-4C464C172CEE}"/>
              </a:ext>
            </a:extLst>
          </p:cNvPr>
          <p:cNvSpPr txBox="1"/>
          <p:nvPr/>
        </p:nvSpPr>
        <p:spPr>
          <a:xfrm>
            <a:off x="3049146" y="4662120"/>
            <a:ext cx="6046728" cy="184666"/>
          </a:xfrm>
          <a:prstGeom prst="rect">
            <a:avLst/>
          </a:prstGeom>
          <a:noFill/>
        </p:spPr>
        <p:txBody>
          <a:bodyPr wrap="square">
            <a:spAutoFit/>
          </a:bodyPr>
          <a:lstStyle/>
          <a:p>
            <a:r>
              <a:rPr lang="en-US" sz="600" i="1" dirty="0">
                <a:effectLst/>
                <a:latin typeface="Aptos" panose="020B0004020202020204" pitchFamily="34" charset="0"/>
                <a:ea typeface="Aptos" panose="020B0004020202020204" pitchFamily="34" charset="0"/>
                <a:cs typeface="Arial" panose="020B0604020202020204" pitchFamily="34" charset="0"/>
              </a:rPr>
              <a:t>Effect size interpretation: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small</a:t>
            </a:r>
            <a:r>
              <a:rPr lang="en-US" sz="600" i="1" dirty="0">
                <a:effectLst/>
                <a:latin typeface="Aptos" panose="020B0004020202020204" pitchFamily="34" charset="0"/>
                <a:ea typeface="Aptos" panose="020B0004020202020204" pitchFamily="34" charset="0"/>
                <a:cs typeface="Arial" panose="020B0604020202020204" pitchFamily="34" charset="0"/>
              </a:rPr>
              <a:t> (0.01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0.06, 0.1 ≤ r &lt; 0.24);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moderate</a:t>
            </a:r>
            <a:r>
              <a:rPr lang="en-US" sz="600" i="1" dirty="0">
                <a:effectLst/>
                <a:latin typeface="Aptos" panose="020B0004020202020204" pitchFamily="34" charset="0"/>
                <a:ea typeface="Aptos" panose="020B0004020202020204" pitchFamily="34" charset="0"/>
                <a:cs typeface="Arial" panose="020B0604020202020204" pitchFamily="34" charset="0"/>
              </a:rPr>
              <a:t> (.06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0.14, 0.24 ≤ r &lt; 0.37);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strong</a:t>
            </a:r>
            <a:r>
              <a:rPr lang="en-US" sz="600" i="1" dirty="0">
                <a:effectLst/>
                <a:latin typeface="Aptos" panose="020B0004020202020204" pitchFamily="34" charset="0"/>
                <a:ea typeface="Aptos" panose="020B0004020202020204" pitchFamily="34" charset="0"/>
                <a:cs typeface="Arial" panose="020B0604020202020204" pitchFamily="34" charset="0"/>
              </a:rPr>
              <a:t>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0.14, r ≥ 0.37) </a:t>
            </a:r>
            <a:endParaRPr lang="LID4096" sz="600" i="1" dirty="0"/>
          </a:p>
        </p:txBody>
      </p:sp>
      <p:sp>
        <p:nvSpPr>
          <p:cNvPr id="4" name="Oval 3">
            <a:extLst>
              <a:ext uri="{FF2B5EF4-FFF2-40B4-BE49-F238E27FC236}">
                <a16:creationId xmlns:a16="http://schemas.microsoft.com/office/drawing/2014/main" id="{839F4A23-5B36-F446-7FC4-82707DCD4554}"/>
              </a:ext>
            </a:extLst>
          </p:cNvPr>
          <p:cNvSpPr/>
          <p:nvPr/>
        </p:nvSpPr>
        <p:spPr>
          <a:xfrm>
            <a:off x="4920916" y="4078705"/>
            <a:ext cx="962526" cy="38501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5" name="Oval 4">
            <a:extLst>
              <a:ext uri="{FF2B5EF4-FFF2-40B4-BE49-F238E27FC236}">
                <a16:creationId xmlns:a16="http://schemas.microsoft.com/office/drawing/2014/main" id="{76C84D9B-4015-4AD4-A719-489F7FC6DBEC}"/>
              </a:ext>
            </a:extLst>
          </p:cNvPr>
          <p:cNvSpPr/>
          <p:nvPr/>
        </p:nvSpPr>
        <p:spPr>
          <a:xfrm>
            <a:off x="7933108" y="4086726"/>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6" name="Oval 5">
            <a:extLst>
              <a:ext uri="{FF2B5EF4-FFF2-40B4-BE49-F238E27FC236}">
                <a16:creationId xmlns:a16="http://schemas.microsoft.com/office/drawing/2014/main" id="{E4E1A30A-7C2B-5BF2-8A73-366E4B757869}"/>
              </a:ext>
            </a:extLst>
          </p:cNvPr>
          <p:cNvSpPr/>
          <p:nvPr/>
        </p:nvSpPr>
        <p:spPr>
          <a:xfrm>
            <a:off x="6970582" y="4086726"/>
            <a:ext cx="962526" cy="38501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BE0F7990-16FC-0D52-07F7-41477BE56F96}"/>
              </a:ext>
            </a:extLst>
          </p:cNvPr>
          <p:cNvSpPr/>
          <p:nvPr/>
        </p:nvSpPr>
        <p:spPr>
          <a:xfrm>
            <a:off x="5945749" y="4078704"/>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25359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BFF2-7CCE-BAC2-8811-717F658BC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F6A3E-D3D6-658C-5BF1-660E94582126}"/>
              </a:ext>
            </a:extLst>
          </p:cNvPr>
          <p:cNvSpPr>
            <a:spLocks noGrp="1"/>
          </p:cNvSpPr>
          <p:nvPr>
            <p:ph type="title"/>
          </p:nvPr>
        </p:nvSpPr>
        <p:spPr>
          <a:xfrm>
            <a:off x="491525" y="396000"/>
            <a:ext cx="8172000" cy="576000"/>
          </a:xfrm>
        </p:spPr>
        <p:txBody>
          <a:bodyPr anchor="t">
            <a:normAutofit/>
          </a:bodyPr>
          <a:lstStyle/>
          <a:p>
            <a:r>
              <a:rPr lang="en-GB" dirty="0"/>
              <a:t>Test-retest reliability</a:t>
            </a:r>
            <a:endParaRPr lang="LID4096" dirty="0"/>
          </a:p>
        </p:txBody>
      </p:sp>
      <p:sp>
        <p:nvSpPr>
          <p:cNvPr id="8" name="Tijdelijke aanduiding voor inhoud 5">
            <a:extLst>
              <a:ext uri="{FF2B5EF4-FFF2-40B4-BE49-F238E27FC236}">
                <a16:creationId xmlns:a16="http://schemas.microsoft.com/office/drawing/2014/main" id="{336515EB-7016-89DC-04E1-F18D8F4A8301}"/>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03148EE3-724D-61AB-C226-F321AEBFDB90}"/>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0" name="Content Placeholder 3">
            <a:extLst>
              <a:ext uri="{FF2B5EF4-FFF2-40B4-BE49-F238E27FC236}">
                <a16:creationId xmlns:a16="http://schemas.microsoft.com/office/drawing/2014/main" id="{A3E3AD6F-F97B-E798-8A97-FBE049D0C939}"/>
              </a:ext>
            </a:extLst>
          </p:cNvPr>
          <p:cNvSpPr txBox="1">
            <a:spLocks/>
          </p:cNvSpPr>
          <p:nvPr/>
        </p:nvSpPr>
        <p:spPr>
          <a:xfrm>
            <a:off x="491525" y="973653"/>
            <a:ext cx="722243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reliable assessment over time (ICC&gt;0.70)</a:t>
            </a:r>
            <a:endParaRPr lang="en-US" sz="1400" dirty="0"/>
          </a:p>
        </p:txBody>
      </p:sp>
      <p:graphicFrame>
        <p:nvGraphicFramePr>
          <p:cNvPr id="4" name="Table 3">
            <a:extLst>
              <a:ext uri="{FF2B5EF4-FFF2-40B4-BE49-F238E27FC236}">
                <a16:creationId xmlns:a16="http://schemas.microsoft.com/office/drawing/2014/main" id="{D5E11C39-405D-807D-AC54-4E9A8F7D6023}"/>
              </a:ext>
            </a:extLst>
          </p:cNvPr>
          <p:cNvGraphicFramePr>
            <a:graphicFrameLocks noGrp="1"/>
          </p:cNvGraphicFramePr>
          <p:nvPr>
            <p:extLst>
              <p:ext uri="{D42A27DB-BD31-4B8C-83A1-F6EECF244321}">
                <p14:modId xmlns:p14="http://schemas.microsoft.com/office/powerpoint/2010/main" val="3856028083"/>
              </p:ext>
            </p:extLst>
          </p:nvPr>
        </p:nvGraphicFramePr>
        <p:xfrm>
          <a:off x="988575" y="1524533"/>
          <a:ext cx="7027895" cy="2518937"/>
        </p:xfrm>
        <a:graphic>
          <a:graphicData uri="http://schemas.openxmlformats.org/drawingml/2006/table">
            <a:tbl>
              <a:tblPr firstRow="1" firstCol="1" bandRow="1"/>
              <a:tblGrid>
                <a:gridCol w="2458094">
                  <a:extLst>
                    <a:ext uri="{9D8B030D-6E8A-4147-A177-3AD203B41FA5}">
                      <a16:colId xmlns:a16="http://schemas.microsoft.com/office/drawing/2014/main" val="2677218948"/>
                    </a:ext>
                  </a:extLst>
                </a:gridCol>
                <a:gridCol w="1523267">
                  <a:extLst>
                    <a:ext uri="{9D8B030D-6E8A-4147-A177-3AD203B41FA5}">
                      <a16:colId xmlns:a16="http://schemas.microsoft.com/office/drawing/2014/main" val="3664814905"/>
                    </a:ext>
                  </a:extLst>
                </a:gridCol>
                <a:gridCol w="1523267">
                  <a:extLst>
                    <a:ext uri="{9D8B030D-6E8A-4147-A177-3AD203B41FA5}">
                      <a16:colId xmlns:a16="http://schemas.microsoft.com/office/drawing/2014/main" val="1847699376"/>
                    </a:ext>
                  </a:extLst>
                </a:gridCol>
                <a:gridCol w="1523267">
                  <a:extLst>
                    <a:ext uri="{9D8B030D-6E8A-4147-A177-3AD203B41FA5}">
                      <a16:colId xmlns:a16="http://schemas.microsoft.com/office/drawing/2014/main" val="557067900"/>
                    </a:ext>
                  </a:extLst>
                </a:gridCol>
              </a:tblGrid>
              <a:tr h="425977">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Instrument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Correlations main and retest sample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Complete agreement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ICC (95% CI)</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046869756"/>
                  </a:ext>
                </a:extLst>
              </a:tr>
              <a:tr h="209296">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health (n</a:t>
                      </a: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=790</a:t>
                      </a: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94524877"/>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EQ-HWB-9</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20.00%</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0.84 (0.82-0.86)</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000190704"/>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0.74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24.94%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0.75 (0.72-0.78)</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686951440"/>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SWB-5D</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0.74</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21.52%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0.76 (0.73-0.79)</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3121561"/>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13.80%</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2319234667"/>
                  </a:ext>
                </a:extLst>
              </a:tr>
              <a:tr h="209296">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well-being (n=752)</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09257924"/>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EQ-HWB-9</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20.61%</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274983640"/>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25.13%</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0.74 (0.71-0.77)</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77807787"/>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SWB-5D</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21.81%</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0.75 (0.72–0.78)</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67169202"/>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13.96%</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84707710"/>
                  </a:ext>
                </a:extLst>
              </a:tr>
            </a:tbl>
          </a:graphicData>
        </a:graphic>
      </p:graphicFrame>
    </p:spTree>
    <p:extLst>
      <p:ext uri="{BB962C8B-B14F-4D97-AF65-F5344CB8AC3E}">
        <p14:creationId xmlns:p14="http://schemas.microsoft.com/office/powerpoint/2010/main" val="3757150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7088-2599-1D8B-BAFC-A86F0275CE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5D7AD2-75F7-C545-2203-6FFC7E448016}"/>
              </a:ext>
            </a:extLst>
          </p:cNvPr>
          <p:cNvSpPr>
            <a:spLocks noGrp="1"/>
          </p:cNvSpPr>
          <p:nvPr>
            <p:ph type="ctrTitle"/>
          </p:nvPr>
        </p:nvSpPr>
        <p:spPr>
          <a:xfrm>
            <a:off x="1782424" y="1976520"/>
            <a:ext cx="5100975" cy="611472"/>
          </a:xfrm>
        </p:spPr>
        <p:txBody>
          <a:bodyPr/>
          <a:lstStyle/>
          <a:p>
            <a:r>
              <a:rPr lang="en-US" dirty="0"/>
              <a:t>Discussion</a:t>
            </a:r>
          </a:p>
        </p:txBody>
      </p:sp>
    </p:spTree>
    <p:extLst>
      <p:ext uri="{BB962C8B-B14F-4D97-AF65-F5344CB8AC3E}">
        <p14:creationId xmlns:p14="http://schemas.microsoft.com/office/powerpoint/2010/main" val="4186157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B3C4-841B-05A4-3B36-8381790E5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418F0-8231-6C33-A976-0444105C6D0F}"/>
              </a:ext>
            </a:extLst>
          </p:cNvPr>
          <p:cNvSpPr>
            <a:spLocks noGrp="1"/>
          </p:cNvSpPr>
          <p:nvPr>
            <p:ph type="title"/>
          </p:nvPr>
        </p:nvSpPr>
        <p:spPr>
          <a:xfrm>
            <a:off x="491525" y="396000"/>
            <a:ext cx="8172000" cy="576000"/>
          </a:xfrm>
        </p:spPr>
        <p:txBody>
          <a:bodyPr anchor="t">
            <a:normAutofit/>
          </a:bodyPr>
          <a:lstStyle/>
          <a:p>
            <a:r>
              <a:rPr lang="en-GB" dirty="0"/>
              <a:t>Main findings</a:t>
            </a:r>
            <a:endParaRPr lang="LID4096" dirty="0"/>
          </a:p>
        </p:txBody>
      </p:sp>
      <p:graphicFrame>
        <p:nvGraphicFramePr>
          <p:cNvPr id="11" name="Content Placeholder 2">
            <a:extLst>
              <a:ext uri="{FF2B5EF4-FFF2-40B4-BE49-F238E27FC236}">
                <a16:creationId xmlns:a16="http://schemas.microsoft.com/office/drawing/2014/main" id="{2D107F7E-4944-58AF-7DD4-38B1F0D9D710}"/>
              </a:ext>
            </a:extLst>
          </p:cNvPr>
          <p:cNvGraphicFramePr>
            <a:graphicFrameLocks noGrp="1"/>
          </p:cNvGraphicFramePr>
          <p:nvPr>
            <p:ph idx="1"/>
            <p:extLst>
              <p:ext uri="{D42A27DB-BD31-4B8C-83A1-F6EECF244321}">
                <p14:modId xmlns:p14="http://schemas.microsoft.com/office/powerpoint/2010/main" val="1719937960"/>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3516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6C3A8-556A-720B-3170-FFAB4DE8E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36333-D4F7-5E69-ACE8-7CDF46BB74F9}"/>
              </a:ext>
            </a:extLst>
          </p:cNvPr>
          <p:cNvSpPr>
            <a:spLocks noGrp="1"/>
          </p:cNvSpPr>
          <p:nvPr>
            <p:ph type="title"/>
          </p:nvPr>
        </p:nvSpPr>
        <p:spPr>
          <a:xfrm>
            <a:off x="491525" y="396000"/>
            <a:ext cx="8172000" cy="576000"/>
          </a:xfrm>
        </p:spPr>
        <p:txBody>
          <a:bodyPr anchor="t">
            <a:normAutofit/>
          </a:bodyPr>
          <a:lstStyle/>
          <a:p>
            <a:r>
              <a:rPr lang="en-GB" dirty="0"/>
              <a:t>Where would these differences come from?</a:t>
            </a:r>
            <a:endParaRPr lang="LID4096" dirty="0"/>
          </a:p>
        </p:txBody>
      </p:sp>
      <p:sp>
        <p:nvSpPr>
          <p:cNvPr id="9" name="Content Placeholder 2">
            <a:extLst>
              <a:ext uri="{FF2B5EF4-FFF2-40B4-BE49-F238E27FC236}">
                <a16:creationId xmlns:a16="http://schemas.microsoft.com/office/drawing/2014/main" id="{8E6F26DD-8642-5091-3424-E0ACBEE87AD2}"/>
              </a:ext>
            </a:extLst>
          </p:cNvPr>
          <p:cNvSpPr>
            <a:spLocks noGrp="1"/>
          </p:cNvSpPr>
          <p:nvPr>
            <p:ph sz="half" idx="1"/>
          </p:nvPr>
        </p:nvSpPr>
        <p:spPr>
          <a:xfrm>
            <a:off x="493199" y="972000"/>
            <a:ext cx="8018283" cy="3348000"/>
          </a:xfrm>
        </p:spPr>
        <p:txBody>
          <a:bodyPr/>
          <a:lstStyle/>
          <a:p>
            <a:r>
              <a:rPr lang="en-US" dirty="0"/>
              <a:t>They may be a consequence of the conceptual foundation of these instruments</a:t>
            </a:r>
          </a:p>
        </p:txBody>
      </p:sp>
      <p:graphicFrame>
        <p:nvGraphicFramePr>
          <p:cNvPr id="4" name="Diagram 3">
            <a:extLst>
              <a:ext uri="{FF2B5EF4-FFF2-40B4-BE49-F238E27FC236}">
                <a16:creationId xmlns:a16="http://schemas.microsoft.com/office/drawing/2014/main" id="{F0EE94ED-BAB2-9B3C-2CD8-52F214B98E0A}"/>
              </a:ext>
            </a:extLst>
          </p:cNvPr>
          <p:cNvGraphicFramePr/>
          <p:nvPr>
            <p:extLst>
              <p:ext uri="{D42A27DB-BD31-4B8C-83A1-F6EECF244321}">
                <p14:modId xmlns:p14="http://schemas.microsoft.com/office/powerpoint/2010/main" val="2753401160"/>
              </p:ext>
            </p:extLst>
          </p:nvPr>
        </p:nvGraphicFramePr>
        <p:xfrm>
          <a:off x="493199" y="1601163"/>
          <a:ext cx="8561425" cy="25788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E33C2F5-B87F-C563-FE54-259225C11AA9}"/>
              </a:ext>
            </a:extLst>
          </p:cNvPr>
          <p:cNvSpPr txBox="1"/>
          <p:nvPr/>
        </p:nvSpPr>
        <p:spPr>
          <a:xfrm>
            <a:off x="491525" y="4312503"/>
            <a:ext cx="6727422" cy="738664"/>
          </a:xfrm>
          <a:prstGeom prst="rect">
            <a:avLst/>
          </a:prstGeom>
          <a:noFill/>
        </p:spPr>
        <p:txBody>
          <a:bodyPr wrap="square">
            <a:spAutoFit/>
          </a:bodyPr>
          <a:lstStyle/>
          <a:p>
            <a:pPr marL="228600" indent="-228600">
              <a:buFont typeface="+mj-lt"/>
              <a:buAutoNum type="arabicParenR" startAt="5"/>
            </a:pPr>
            <a:r>
              <a:rPr lang="en-US" sz="600" i="1" dirty="0">
                <a:effectLst/>
                <a:latin typeface="Aptos" panose="020B0004020202020204" pitchFamily="34" charset="0"/>
                <a:ea typeface="Aptos" panose="020B0004020202020204" pitchFamily="34" charset="0"/>
                <a:cs typeface="Arial" panose="020B0604020202020204" pitchFamily="34" charset="0"/>
              </a:rPr>
              <a:t>Brazier J, Peasgood T, </a:t>
            </a:r>
            <a:r>
              <a:rPr lang="en-US" sz="600" i="1" dirty="0" err="1">
                <a:effectLst/>
                <a:latin typeface="Aptos" panose="020B0004020202020204" pitchFamily="34" charset="0"/>
                <a:ea typeface="Aptos" panose="020B0004020202020204" pitchFamily="34" charset="0"/>
                <a:cs typeface="Arial" panose="020B0604020202020204" pitchFamily="34" charset="0"/>
              </a:rPr>
              <a:t>Mukuria</a:t>
            </a:r>
            <a:r>
              <a:rPr lang="en-US" sz="600" i="1" dirty="0">
                <a:effectLst/>
                <a:latin typeface="Aptos" panose="020B0004020202020204" pitchFamily="34" charset="0"/>
                <a:ea typeface="Aptos" panose="020B0004020202020204" pitchFamily="34" charset="0"/>
                <a:cs typeface="Arial" panose="020B0604020202020204" pitchFamily="34" charset="0"/>
              </a:rPr>
              <a:t> C, Marten O, </a:t>
            </a:r>
            <a:r>
              <a:rPr lang="en-US" sz="600" i="1" dirty="0" err="1">
                <a:effectLst/>
                <a:latin typeface="Aptos" panose="020B0004020202020204" pitchFamily="34" charset="0"/>
                <a:ea typeface="Aptos" panose="020B0004020202020204" pitchFamily="34" charset="0"/>
                <a:cs typeface="Arial" panose="020B0604020202020204" pitchFamily="34" charset="0"/>
              </a:rPr>
              <a:t>Kreimeier</a:t>
            </a:r>
            <a:r>
              <a:rPr lang="en-US" sz="600" i="1" dirty="0">
                <a:effectLst/>
                <a:latin typeface="Aptos" panose="020B0004020202020204" pitchFamily="34" charset="0"/>
                <a:ea typeface="Aptos" panose="020B0004020202020204" pitchFamily="34" charset="0"/>
                <a:cs typeface="Arial" panose="020B0604020202020204" pitchFamily="34" charset="0"/>
              </a:rPr>
              <a:t> S, Luo N, et al. The EQ-HWB: Overview of the Development of a Measure of Health and Wellbeing and Key Results. Value Health. 2022 Apr 1;25(4):482–91. </a:t>
            </a:r>
          </a:p>
          <a:p>
            <a:pPr marL="228600" indent="-228600">
              <a:buAutoNum type="arabicParenR" startAt="5"/>
            </a:pPr>
            <a:r>
              <a:rPr lang="en-US" sz="600" i="1" dirty="0" err="1">
                <a:latin typeface="Aptos" panose="020B0004020202020204" pitchFamily="34" charset="0"/>
              </a:rPr>
              <a:t>Pietersma</a:t>
            </a:r>
            <a:r>
              <a:rPr lang="en-US" sz="600" i="1" dirty="0">
                <a:latin typeface="Aptos" panose="020B0004020202020204" pitchFamily="34" charset="0"/>
              </a:rPr>
              <a:t> S, De Vries M, Van Den Akker-van Marle ME. Domains of quality of life: results of a three-stage Delphi consensus procedure among patients, family of patients, clinicians, scientists and the general public. Qual Life Res </a:t>
            </a:r>
          </a:p>
          <a:p>
            <a:pPr marL="228600" indent="-228600">
              <a:buAutoNum type="arabicParenR" startAt="5"/>
            </a:pPr>
            <a:r>
              <a:rPr lang="en-US" sz="600" i="1" dirty="0">
                <a:latin typeface="Aptos" panose="020B0004020202020204" pitchFamily="34" charset="0"/>
              </a:rPr>
              <a:t>Al-</a:t>
            </a:r>
            <a:r>
              <a:rPr lang="en-US" sz="600" i="1" dirty="0" err="1">
                <a:latin typeface="Aptos" panose="020B0004020202020204" pitchFamily="34" charset="0"/>
              </a:rPr>
              <a:t>Janabi</a:t>
            </a:r>
            <a:r>
              <a:rPr lang="en-US" sz="600" i="1" dirty="0">
                <a:latin typeface="Aptos" panose="020B0004020202020204" pitchFamily="34" charset="0"/>
              </a:rPr>
              <a:t> H, Flynn TN, Coast J. Development of a self-report measure of capability wellbeing for adults: the ICECAP-A. Qual Life Res Int J Qual Life Asp Treat Care </a:t>
            </a:r>
            <a:r>
              <a:rPr lang="en-US" sz="600" i="1" dirty="0" err="1">
                <a:latin typeface="Aptos" panose="020B0004020202020204" pitchFamily="34" charset="0"/>
              </a:rPr>
              <a:t>Rehabil</a:t>
            </a:r>
            <a:r>
              <a:rPr lang="en-US" sz="600" i="1" dirty="0">
                <a:latin typeface="Aptos" panose="020B0004020202020204" pitchFamily="34" charset="0"/>
              </a:rPr>
              <a:t>. 2012 Feb;21(1):167–76. </a:t>
            </a:r>
          </a:p>
          <a:p>
            <a:pPr marL="228600" indent="-228600">
              <a:buAutoNum type="arabicParenR" startAt="5"/>
            </a:pPr>
            <a:r>
              <a:rPr lang="en-GB" sz="600" i="1" dirty="0" err="1">
                <a:latin typeface="Aptos" panose="020B0004020202020204" pitchFamily="34" charset="0"/>
              </a:rPr>
              <a:t>Voormolen</a:t>
            </a:r>
            <a:r>
              <a:rPr lang="en-GB" sz="600" i="1" dirty="0">
                <a:latin typeface="Aptos" panose="020B0004020202020204" pitchFamily="34" charset="0"/>
              </a:rPr>
              <a:t> DC, Bom JAM, de Bekker-Grob EW, Brouwer WBF, van Exel J. Development and Content Validation of the 10-item Well-being Instrument (WiX) for use in Economic Evaluation Studies. Appl Res Qual Life. 2024 Apr 1;19(2):381–413. </a:t>
            </a:r>
            <a:endParaRPr lang="LID4096" sz="600" i="1" dirty="0">
              <a:latin typeface="Aptos" panose="020B0004020202020204" pitchFamily="34" charset="0"/>
            </a:endParaRPr>
          </a:p>
        </p:txBody>
      </p:sp>
    </p:spTree>
    <p:extLst>
      <p:ext uri="{BB962C8B-B14F-4D97-AF65-F5344CB8AC3E}">
        <p14:creationId xmlns:p14="http://schemas.microsoft.com/office/powerpoint/2010/main" val="2181601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F94C0-DBCB-8E48-147A-A0F424FF70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BCAE122-4BD6-3A82-424E-F2D17F9A6BC5}"/>
              </a:ext>
            </a:extLst>
          </p:cNvPr>
          <p:cNvSpPr>
            <a:spLocks noGrp="1"/>
          </p:cNvSpPr>
          <p:nvPr>
            <p:ph type="ctrTitle"/>
          </p:nvPr>
        </p:nvSpPr>
        <p:spPr>
          <a:xfrm>
            <a:off x="1782424" y="1976520"/>
            <a:ext cx="5100975" cy="611472"/>
          </a:xfrm>
        </p:spPr>
        <p:txBody>
          <a:bodyPr/>
          <a:lstStyle/>
          <a:p>
            <a:r>
              <a:rPr lang="en-US" dirty="0"/>
              <a:t>Thank you!</a:t>
            </a:r>
          </a:p>
        </p:txBody>
      </p:sp>
    </p:spTree>
    <p:extLst>
      <p:ext uri="{BB962C8B-B14F-4D97-AF65-F5344CB8AC3E}">
        <p14:creationId xmlns:p14="http://schemas.microsoft.com/office/powerpoint/2010/main" val="3322769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CD37B-429A-BC62-2816-DE412DD75E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121C2D-03AC-10DE-5ED4-29650D488DDB}"/>
              </a:ext>
            </a:extLst>
          </p:cNvPr>
          <p:cNvSpPr>
            <a:spLocks noGrp="1"/>
          </p:cNvSpPr>
          <p:nvPr>
            <p:ph type="ctrTitle"/>
          </p:nvPr>
        </p:nvSpPr>
        <p:spPr>
          <a:xfrm>
            <a:off x="1782424" y="1976520"/>
            <a:ext cx="5100975" cy="611472"/>
          </a:xfrm>
        </p:spPr>
        <p:txBody>
          <a:bodyPr/>
          <a:lstStyle/>
          <a:p>
            <a:r>
              <a:rPr lang="en-US" dirty="0"/>
              <a:t>Appendix</a:t>
            </a:r>
          </a:p>
        </p:txBody>
      </p:sp>
    </p:spTree>
    <p:extLst>
      <p:ext uri="{BB962C8B-B14F-4D97-AF65-F5344CB8AC3E}">
        <p14:creationId xmlns:p14="http://schemas.microsoft.com/office/powerpoint/2010/main" val="135554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Conceptual Coverage</a:t>
            </a:r>
          </a:p>
        </p:txBody>
      </p:sp>
      <p:graphicFrame>
        <p:nvGraphicFramePr>
          <p:cNvPr id="3" name="Table 2">
            <a:extLst>
              <a:ext uri="{FF2B5EF4-FFF2-40B4-BE49-F238E27FC236}">
                <a16:creationId xmlns:a16="http://schemas.microsoft.com/office/drawing/2014/main" id="{745BE652-9492-DF23-0F50-29609511EBCE}"/>
              </a:ext>
            </a:extLst>
          </p:cNvPr>
          <p:cNvGraphicFramePr>
            <a:graphicFrameLocks noGrp="1"/>
          </p:cNvGraphicFramePr>
          <p:nvPr>
            <p:extLst>
              <p:ext uri="{D42A27DB-BD31-4B8C-83A1-F6EECF244321}">
                <p14:modId xmlns:p14="http://schemas.microsoft.com/office/powerpoint/2010/main" val="3804085516"/>
              </p:ext>
            </p:extLst>
          </p:nvPr>
        </p:nvGraphicFramePr>
        <p:xfrm>
          <a:off x="491525" y="1095329"/>
          <a:ext cx="8351229" cy="1934701"/>
        </p:xfrm>
        <a:graphic>
          <a:graphicData uri="http://schemas.openxmlformats.org/drawingml/2006/table">
            <a:tbl>
              <a:tblPr firstRow="1" firstCol="1" bandRow="1"/>
              <a:tblGrid>
                <a:gridCol w="648269">
                  <a:extLst>
                    <a:ext uri="{9D8B030D-6E8A-4147-A177-3AD203B41FA5}">
                      <a16:colId xmlns:a16="http://schemas.microsoft.com/office/drawing/2014/main" val="1384032415"/>
                    </a:ext>
                  </a:extLst>
                </a:gridCol>
                <a:gridCol w="423081">
                  <a:extLst>
                    <a:ext uri="{9D8B030D-6E8A-4147-A177-3AD203B41FA5}">
                      <a16:colId xmlns:a16="http://schemas.microsoft.com/office/drawing/2014/main" val="860225948"/>
                    </a:ext>
                  </a:extLst>
                </a:gridCol>
                <a:gridCol w="511791">
                  <a:extLst>
                    <a:ext uri="{9D8B030D-6E8A-4147-A177-3AD203B41FA5}">
                      <a16:colId xmlns:a16="http://schemas.microsoft.com/office/drawing/2014/main" val="3653452738"/>
                    </a:ext>
                  </a:extLst>
                </a:gridCol>
                <a:gridCol w="570824">
                  <a:extLst>
                    <a:ext uri="{9D8B030D-6E8A-4147-A177-3AD203B41FA5}">
                      <a16:colId xmlns:a16="http://schemas.microsoft.com/office/drawing/2014/main" val="1688290985"/>
                    </a:ext>
                  </a:extLst>
                </a:gridCol>
                <a:gridCol w="471099">
                  <a:extLst>
                    <a:ext uri="{9D8B030D-6E8A-4147-A177-3AD203B41FA5}">
                      <a16:colId xmlns:a16="http://schemas.microsoft.com/office/drawing/2014/main" val="3676509615"/>
                    </a:ext>
                  </a:extLst>
                </a:gridCol>
                <a:gridCol w="464464">
                  <a:extLst>
                    <a:ext uri="{9D8B030D-6E8A-4147-A177-3AD203B41FA5}">
                      <a16:colId xmlns:a16="http://schemas.microsoft.com/office/drawing/2014/main" val="54030572"/>
                    </a:ext>
                  </a:extLst>
                </a:gridCol>
                <a:gridCol w="398112">
                  <a:extLst>
                    <a:ext uri="{9D8B030D-6E8A-4147-A177-3AD203B41FA5}">
                      <a16:colId xmlns:a16="http://schemas.microsoft.com/office/drawing/2014/main" val="3838647553"/>
                    </a:ext>
                  </a:extLst>
                </a:gridCol>
                <a:gridCol w="384842">
                  <a:extLst>
                    <a:ext uri="{9D8B030D-6E8A-4147-A177-3AD203B41FA5}">
                      <a16:colId xmlns:a16="http://schemas.microsoft.com/office/drawing/2014/main" val="474304138"/>
                    </a:ext>
                  </a:extLst>
                </a:gridCol>
                <a:gridCol w="464463">
                  <a:extLst>
                    <a:ext uri="{9D8B030D-6E8A-4147-A177-3AD203B41FA5}">
                      <a16:colId xmlns:a16="http://schemas.microsoft.com/office/drawing/2014/main" val="217390760"/>
                    </a:ext>
                  </a:extLst>
                </a:gridCol>
                <a:gridCol w="418018">
                  <a:extLst>
                    <a:ext uri="{9D8B030D-6E8A-4147-A177-3AD203B41FA5}">
                      <a16:colId xmlns:a16="http://schemas.microsoft.com/office/drawing/2014/main" val="1744768623"/>
                    </a:ext>
                  </a:extLst>
                </a:gridCol>
                <a:gridCol w="510911">
                  <a:extLst>
                    <a:ext uri="{9D8B030D-6E8A-4147-A177-3AD203B41FA5}">
                      <a16:colId xmlns:a16="http://schemas.microsoft.com/office/drawing/2014/main" val="2294009759"/>
                    </a:ext>
                  </a:extLst>
                </a:gridCol>
                <a:gridCol w="418017">
                  <a:extLst>
                    <a:ext uri="{9D8B030D-6E8A-4147-A177-3AD203B41FA5}">
                      <a16:colId xmlns:a16="http://schemas.microsoft.com/office/drawing/2014/main" val="3176190340"/>
                    </a:ext>
                  </a:extLst>
                </a:gridCol>
                <a:gridCol w="471099">
                  <a:extLst>
                    <a:ext uri="{9D8B030D-6E8A-4147-A177-3AD203B41FA5}">
                      <a16:colId xmlns:a16="http://schemas.microsoft.com/office/drawing/2014/main" val="3120520706"/>
                    </a:ext>
                  </a:extLst>
                </a:gridCol>
                <a:gridCol w="389951">
                  <a:extLst>
                    <a:ext uri="{9D8B030D-6E8A-4147-A177-3AD203B41FA5}">
                      <a16:colId xmlns:a16="http://schemas.microsoft.com/office/drawing/2014/main" val="1950821672"/>
                    </a:ext>
                  </a:extLst>
                </a:gridCol>
                <a:gridCol w="451572">
                  <a:extLst>
                    <a:ext uri="{9D8B030D-6E8A-4147-A177-3AD203B41FA5}">
                      <a16:colId xmlns:a16="http://schemas.microsoft.com/office/drawing/2014/main" val="2419769774"/>
                    </a:ext>
                  </a:extLst>
                </a:gridCol>
                <a:gridCol w="451572">
                  <a:extLst>
                    <a:ext uri="{9D8B030D-6E8A-4147-A177-3AD203B41FA5}">
                      <a16:colId xmlns:a16="http://schemas.microsoft.com/office/drawing/2014/main" val="728232372"/>
                    </a:ext>
                  </a:extLst>
                </a:gridCol>
                <a:gridCol w="451572">
                  <a:extLst>
                    <a:ext uri="{9D8B030D-6E8A-4147-A177-3AD203B41FA5}">
                      <a16:colId xmlns:a16="http://schemas.microsoft.com/office/drawing/2014/main" val="4004576480"/>
                    </a:ext>
                  </a:extLst>
                </a:gridCol>
                <a:gridCol w="451572">
                  <a:extLst>
                    <a:ext uri="{9D8B030D-6E8A-4147-A177-3AD203B41FA5}">
                      <a16:colId xmlns:a16="http://schemas.microsoft.com/office/drawing/2014/main" val="1704077340"/>
                    </a:ext>
                  </a:extLst>
                </a:gridCol>
              </a:tblGrid>
              <a:tr h="321163">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cs typeface="Arial" panose="020B0604020202020204" pitchFamily="34" charset="0"/>
                        </a:rPr>
                        <a:t>Instrument</a:t>
                      </a:r>
                      <a:endParaRPr sz="700" b="1" kern="1200" dirty="0">
                        <a:solidFill>
                          <a:schemeClr val="bg1"/>
                        </a:solidFill>
                        <a:effectLst/>
                        <a:latin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Mental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700" b="1" kern="1200" dirty="0">
                          <a:solidFill>
                            <a:schemeClr val="bg1"/>
                          </a:solidFill>
                          <a:effectLst/>
                          <a:latin typeface="Aptos" panose="020B0004020202020204" pitchFamily="34" charset="0"/>
                          <a:ea typeface="+mn-ea"/>
                          <a:cs typeface="Arial" panose="020B0604020202020204" pitchFamily="34" charset="0"/>
                        </a:rPr>
                        <a:t>Physical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Cognitive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Relationships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Support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Living environment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Safety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Finance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Relaxation and leisure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Activities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Acceptance and resilience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Independence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Self-worth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Personal hygiene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Life enjoyment / satisfaction</a:t>
                      </a:r>
                    </a:p>
                    <a:p>
                      <a:pPr marL="0" algn="l" defTabSz="457200" rtl="0" eaLnBrk="1" latinLnBrk="0" hangingPunct="1">
                        <a:lnSpc>
                          <a:spcPct val="107000"/>
                        </a:lnSpc>
                        <a:spcAft>
                          <a:spcPts val="800"/>
                        </a:spcAft>
                      </a:pPr>
                      <a:endParaRPr lang="en-US" sz="700" b="1" kern="1200" dirty="0">
                        <a:solidFill>
                          <a:schemeClr val="bg1"/>
                        </a:solidFill>
                        <a:effectLst/>
                        <a:latin typeface="Aptos" panose="020B0004020202020204" pitchFamily="34" charset="0"/>
                        <a:ea typeface="+mn-ea"/>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Quality of care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Thinking of future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63985324"/>
                  </a:ext>
                </a:extLst>
              </a:tr>
              <a:tr h="144000">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effectLst/>
                          <a:latin typeface="Aptos" panose="020B0004020202020204" pitchFamily="34" charset="0"/>
                          <a:ea typeface="Aptos" panose="020B0004020202020204" pitchFamily="34" charset="0"/>
                          <a:cs typeface="Arial" panose="020B0604020202020204" pitchFamily="34" charset="0"/>
                        </a:rPr>
                        <a:t>EQ-HWB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85318820"/>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951639872"/>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29714066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37555098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ASCOT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4567218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QOL-ACC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9694766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28395132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9806535"/>
                  </a:ext>
                </a:extLst>
              </a:tr>
            </a:tbl>
          </a:graphicData>
        </a:graphic>
      </p:graphicFrame>
      <p:sp>
        <p:nvSpPr>
          <p:cNvPr id="6" name="Tijdelijke aanduiding voor inhoud 4">
            <a:extLst>
              <a:ext uri="{FF2B5EF4-FFF2-40B4-BE49-F238E27FC236}">
                <a16:creationId xmlns:a16="http://schemas.microsoft.com/office/drawing/2014/main" id="{35797062-C78E-0BEF-6F17-296197755B2D}"/>
              </a:ext>
            </a:extLst>
          </p:cNvPr>
          <p:cNvSpPr txBox="1">
            <a:spLocks/>
          </p:cNvSpPr>
          <p:nvPr/>
        </p:nvSpPr>
        <p:spPr>
          <a:xfrm>
            <a:off x="491525" y="3089555"/>
            <a:ext cx="6896828" cy="368665"/>
          </a:xfrm>
          <a:prstGeom prst="rect">
            <a:avLst/>
          </a:prstGeom>
        </p:spPr>
        <p:txBody>
          <a:bodyPr vert="horz" lIns="0" tIns="0" rIns="0" bIns="0" rtlCol="0" anchor="t" anchorCtr="0">
            <a:noAutofit/>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sz="800" dirty="0">
                <a:latin typeface="Aptos" panose="020B0004020202020204" pitchFamily="34" charset="0"/>
              </a:rPr>
              <a:t>x indicates full coverage</a:t>
            </a:r>
          </a:p>
          <a:p>
            <a:pPr marL="0" indent="0">
              <a:lnSpc>
                <a:spcPct val="100000"/>
              </a:lnSpc>
              <a:buNone/>
            </a:pPr>
            <a:r>
              <a:rPr lang="en-US" sz="800" dirty="0">
                <a:effectLst/>
                <a:latin typeface="Aptos" panose="020B0004020202020204" pitchFamily="34" charset="0"/>
                <a:ea typeface="Aptos" panose="020B0004020202020204" pitchFamily="34" charset="0"/>
                <a:cs typeface="Arial" panose="020B0604020202020204" pitchFamily="34" charset="0"/>
              </a:rPr>
              <a:t>~ indicates partial coverage</a:t>
            </a:r>
            <a:endParaRPr lang="en-US" sz="800" dirty="0">
              <a:latin typeface="Aptos" panose="020B0004020202020204" pitchFamily="34" charset="0"/>
            </a:endParaRPr>
          </a:p>
        </p:txBody>
      </p:sp>
    </p:spTree>
    <p:extLst>
      <p:ext uri="{BB962C8B-B14F-4D97-AF65-F5344CB8AC3E}">
        <p14:creationId xmlns:p14="http://schemas.microsoft.com/office/powerpoint/2010/main" val="104876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7197-BF39-CA05-D9B3-FD8248E44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58B1A-01FF-0998-4CB6-BB56DD65ED66}"/>
              </a:ext>
            </a:extLst>
          </p:cNvPr>
          <p:cNvSpPr>
            <a:spLocks noGrp="1"/>
          </p:cNvSpPr>
          <p:nvPr>
            <p:ph type="title"/>
          </p:nvPr>
        </p:nvSpPr>
        <p:spPr>
          <a:xfrm>
            <a:off x="491525" y="396000"/>
            <a:ext cx="8172000" cy="576000"/>
          </a:xfrm>
        </p:spPr>
        <p:txBody>
          <a:bodyPr anchor="t">
            <a:normAutofit/>
          </a:bodyPr>
          <a:lstStyle/>
          <a:p>
            <a:r>
              <a:rPr lang="en-GB" dirty="0"/>
              <a:t>Research aims</a:t>
            </a:r>
            <a:endParaRPr lang="LID4096" dirty="0"/>
          </a:p>
        </p:txBody>
      </p:sp>
      <p:graphicFrame>
        <p:nvGraphicFramePr>
          <p:cNvPr id="4" name="Content Placeholder 3">
            <a:extLst>
              <a:ext uri="{FF2B5EF4-FFF2-40B4-BE49-F238E27FC236}">
                <a16:creationId xmlns:a16="http://schemas.microsoft.com/office/drawing/2014/main" id="{995064B3-2901-5EB4-F679-C8DA11B94951}"/>
              </a:ext>
            </a:extLst>
          </p:cNvPr>
          <p:cNvGraphicFramePr>
            <a:graphicFrameLocks noGrp="1"/>
          </p:cNvGraphicFramePr>
          <p:nvPr>
            <p:ph idx="1"/>
            <p:extLst>
              <p:ext uri="{D42A27DB-BD31-4B8C-83A1-F6EECF244321}">
                <p14:modId xmlns:p14="http://schemas.microsoft.com/office/powerpoint/2010/main" val="3888438469"/>
              </p:ext>
            </p:extLst>
          </p:nvPr>
        </p:nvGraphicFramePr>
        <p:xfrm>
          <a:off x="491525" y="972000"/>
          <a:ext cx="8172000" cy="1699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3">
            <a:extLst>
              <a:ext uri="{FF2B5EF4-FFF2-40B4-BE49-F238E27FC236}">
                <a16:creationId xmlns:a16="http://schemas.microsoft.com/office/drawing/2014/main" id="{7A08124B-9F9F-1A8C-A4F6-B17CE8052164}"/>
              </a:ext>
            </a:extLst>
          </p:cNvPr>
          <p:cNvGraphicFramePr>
            <a:graphicFrameLocks/>
          </p:cNvGraphicFramePr>
          <p:nvPr>
            <p:extLst>
              <p:ext uri="{D42A27DB-BD31-4B8C-83A1-F6EECF244321}">
                <p14:modId xmlns:p14="http://schemas.microsoft.com/office/powerpoint/2010/main" val="67221730"/>
              </p:ext>
            </p:extLst>
          </p:nvPr>
        </p:nvGraphicFramePr>
        <p:xfrm>
          <a:off x="491525" y="2397630"/>
          <a:ext cx="8172000" cy="16992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20990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FD77-29AE-BBEF-6628-D8204A34C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F80B-3B46-5922-166E-6F7A4C29AF6F}"/>
              </a:ext>
            </a:extLst>
          </p:cNvPr>
          <p:cNvSpPr>
            <a:spLocks noGrp="1"/>
          </p:cNvSpPr>
          <p:nvPr>
            <p:ph type="title"/>
          </p:nvPr>
        </p:nvSpPr>
        <p:spPr>
          <a:xfrm>
            <a:off x="491525" y="396000"/>
            <a:ext cx="8172000" cy="576000"/>
          </a:xfrm>
        </p:spPr>
        <p:txBody>
          <a:bodyPr anchor="t">
            <a:normAutofit/>
          </a:bodyPr>
          <a:lstStyle/>
          <a:p>
            <a:r>
              <a:rPr lang="en-GB" dirty="0"/>
              <a:t>In-survey quality checks</a:t>
            </a:r>
            <a:endParaRPr lang="LID4096" dirty="0"/>
          </a:p>
        </p:txBody>
      </p:sp>
      <p:sp>
        <p:nvSpPr>
          <p:cNvPr id="9" name="Content Placeholder 2">
            <a:extLst>
              <a:ext uri="{FF2B5EF4-FFF2-40B4-BE49-F238E27FC236}">
                <a16:creationId xmlns:a16="http://schemas.microsoft.com/office/drawing/2014/main" id="{25C0D688-7716-BD50-C761-AD39458939D6}"/>
              </a:ext>
            </a:extLst>
          </p:cNvPr>
          <p:cNvSpPr>
            <a:spLocks noGrp="1"/>
          </p:cNvSpPr>
          <p:nvPr>
            <p:ph sz="half" idx="1"/>
          </p:nvPr>
        </p:nvSpPr>
        <p:spPr>
          <a:xfrm>
            <a:off x="493199" y="972000"/>
            <a:ext cx="8018283" cy="3348000"/>
          </a:xfrm>
        </p:spPr>
        <p:txBody>
          <a:bodyPr/>
          <a:lstStyle/>
          <a:p>
            <a:r>
              <a:rPr lang="en-US" dirty="0"/>
              <a:t>Attention check questions</a:t>
            </a:r>
          </a:p>
          <a:p>
            <a:r>
              <a:rPr lang="en-US" dirty="0"/>
              <a:t>Dynata’s quality check, including:</a:t>
            </a:r>
          </a:p>
          <a:p>
            <a:pPr lvl="2"/>
            <a:r>
              <a:rPr lang="en-US" dirty="0" err="1"/>
              <a:t>reCAPTCHAs</a:t>
            </a:r>
            <a:r>
              <a:rPr lang="en-US" dirty="0"/>
              <a:t>, </a:t>
            </a:r>
          </a:p>
          <a:p>
            <a:pPr lvl="2"/>
            <a:r>
              <a:rPr lang="en-US" dirty="0"/>
              <a:t>Geo-IP tracking, </a:t>
            </a:r>
          </a:p>
          <a:p>
            <a:pPr lvl="2"/>
            <a:r>
              <a:rPr lang="en-US" dirty="0"/>
              <a:t>Address verification, </a:t>
            </a:r>
          </a:p>
          <a:p>
            <a:pPr lvl="2"/>
            <a:r>
              <a:rPr lang="en-US" dirty="0"/>
              <a:t>Digital fingerprinting, </a:t>
            </a:r>
          </a:p>
          <a:p>
            <a:pPr lvl="2"/>
            <a:r>
              <a:rPr lang="en-US" dirty="0"/>
              <a:t>IP deduplication</a:t>
            </a:r>
          </a:p>
          <a:p>
            <a:r>
              <a:rPr lang="en-US" dirty="0"/>
              <a:t>Dynata’s </a:t>
            </a:r>
            <a:r>
              <a:rPr lang="en-US" dirty="0" err="1"/>
              <a:t>QualityScore</a:t>
            </a:r>
            <a:r>
              <a:rPr lang="en-US" dirty="0"/>
              <a:t>:</a:t>
            </a:r>
          </a:p>
          <a:p>
            <a:pPr lvl="2"/>
            <a:r>
              <a:rPr lang="en-US" dirty="0"/>
              <a:t>&lt;20 automatically excluded</a:t>
            </a:r>
          </a:p>
          <a:p>
            <a:pPr lvl="2"/>
            <a:r>
              <a:rPr lang="en-US" dirty="0"/>
              <a:t>21-50 manually checked by </a:t>
            </a:r>
            <a:r>
              <a:rPr lang="en-US" dirty="0" err="1"/>
              <a:t>Dynata</a:t>
            </a:r>
            <a:r>
              <a:rPr lang="en-US" dirty="0"/>
              <a:t> </a:t>
            </a:r>
          </a:p>
        </p:txBody>
      </p:sp>
    </p:spTree>
    <p:extLst>
      <p:ext uri="{BB962C8B-B14F-4D97-AF65-F5344CB8AC3E}">
        <p14:creationId xmlns:p14="http://schemas.microsoft.com/office/powerpoint/2010/main" val="2253545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FCA68-6C81-E620-E6BA-8B8C7C6D1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E5B50-18E7-B8E1-08AA-4ADDAC1AF988}"/>
              </a:ext>
            </a:extLst>
          </p:cNvPr>
          <p:cNvSpPr>
            <a:spLocks noGrp="1"/>
          </p:cNvSpPr>
          <p:nvPr>
            <p:ph type="title"/>
          </p:nvPr>
        </p:nvSpPr>
        <p:spPr>
          <a:xfrm>
            <a:off x="491525" y="396000"/>
            <a:ext cx="8172000" cy="576000"/>
          </a:xfrm>
        </p:spPr>
        <p:txBody>
          <a:bodyPr anchor="t">
            <a:normAutofit/>
          </a:bodyPr>
          <a:lstStyle/>
          <a:p>
            <a:r>
              <a:rPr lang="en-GB" dirty="0"/>
              <a:t>Post-hoc data quality checks</a:t>
            </a:r>
            <a:endParaRPr lang="LID4096" dirty="0"/>
          </a:p>
        </p:txBody>
      </p:sp>
      <p:sp>
        <p:nvSpPr>
          <p:cNvPr id="11" name="Content Placeholder 3">
            <a:extLst>
              <a:ext uri="{FF2B5EF4-FFF2-40B4-BE49-F238E27FC236}">
                <a16:creationId xmlns:a16="http://schemas.microsoft.com/office/drawing/2014/main" id="{FB877E8F-96F7-4148-7071-3E7639F362A2}"/>
              </a:ext>
            </a:extLst>
          </p:cNvPr>
          <p:cNvSpPr>
            <a:spLocks noGrp="1"/>
          </p:cNvSpPr>
          <p:nvPr>
            <p:ph sz="half" idx="2"/>
          </p:nvPr>
        </p:nvSpPr>
        <p:spPr>
          <a:xfrm>
            <a:off x="491525" y="971999"/>
            <a:ext cx="8172000" cy="3348000"/>
          </a:xfrm>
        </p:spPr>
        <p:txBody>
          <a:bodyPr/>
          <a:lstStyle/>
          <a:p>
            <a:r>
              <a:rPr lang="en-US" dirty="0"/>
              <a:t>Post-hoc data quality checks:</a:t>
            </a:r>
          </a:p>
          <a:p>
            <a:pPr lvl="1"/>
            <a:r>
              <a:rPr lang="en-US" sz="1400" dirty="0"/>
              <a:t>Criteria 1: Inconsistent pain reporting: EQ-HWB-9 (Q4) vs. EQ-5D-5L (Q83)</a:t>
            </a:r>
          </a:p>
          <a:p>
            <a:pPr lvl="1"/>
            <a:r>
              <a:rPr lang="en-US" sz="1400" dirty="0"/>
              <a:t>Criteria 2: Inconsistent daily activity reporting: EQ-HWB-9 (Q3) vs. EQ-5D-5L (Q82)</a:t>
            </a:r>
          </a:p>
          <a:p>
            <a:pPr lvl="1"/>
            <a:r>
              <a:rPr lang="en-US" sz="1400" dirty="0"/>
              <a:t>Criteria 3: Inconsistent financial situation: WiX (Q10) vs. ability to make ends meet (Q103)</a:t>
            </a:r>
          </a:p>
          <a:p>
            <a:pPr lvl="1"/>
            <a:r>
              <a:rPr lang="en-US" sz="1400" dirty="0"/>
              <a:t>Criteria 4: Child count inconsistency: More children &lt;18 (Q99) than total children (Q98)</a:t>
            </a:r>
          </a:p>
          <a:p>
            <a:pPr lvl="1"/>
            <a:r>
              <a:rPr lang="en-US" sz="1400" dirty="0"/>
              <a:t>Criteria 5: Completion time &lt;5 minutes</a:t>
            </a:r>
          </a:p>
          <a:p>
            <a:pPr lvl="1"/>
            <a:r>
              <a:rPr lang="en-US" sz="1400" dirty="0"/>
              <a:t>Criteria 6: Survey quality score &lt;90</a:t>
            </a:r>
          </a:p>
          <a:p>
            <a:pPr lvl="1"/>
            <a:r>
              <a:rPr lang="en-US" sz="1400" dirty="0"/>
              <a:t>Criteria 7: &gt;5 self-reported health conditions</a:t>
            </a:r>
          </a:p>
          <a:p>
            <a:r>
              <a:rPr lang="en-US" dirty="0"/>
              <a:t>Participants meeting </a:t>
            </a:r>
            <a:r>
              <a:rPr lang="en-US" sz="1800" dirty="0">
                <a:effectLst/>
                <a:ea typeface="Aptos" panose="020B0004020202020204" pitchFamily="34" charset="0"/>
                <a:cs typeface="Arial" panose="020B0604020202020204" pitchFamily="34" charset="0"/>
              </a:rPr>
              <a:t>≥3 criteria were removed</a:t>
            </a:r>
          </a:p>
          <a:p>
            <a:r>
              <a:rPr lang="en-US" dirty="0">
                <a:cs typeface="Arial" panose="020B0604020202020204" pitchFamily="34" charset="0"/>
              </a:rPr>
              <a:t>Participants excluded if provided extreme inconsistencies in Criteria 1 and 2 (&gt;2 Likert points) or in Criteria 3 (e.g., very satisfied but much difficulty)</a:t>
            </a:r>
            <a:endParaRPr lang="en-US" sz="1400" dirty="0"/>
          </a:p>
          <a:p>
            <a:pPr lvl="1"/>
            <a:endParaRPr lang="en-US" dirty="0"/>
          </a:p>
        </p:txBody>
      </p:sp>
    </p:spTree>
    <p:extLst>
      <p:ext uri="{BB962C8B-B14F-4D97-AF65-F5344CB8AC3E}">
        <p14:creationId xmlns:p14="http://schemas.microsoft.com/office/powerpoint/2010/main" val="828429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98360-D403-1653-3918-79F19FA37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1A95D-D9FF-432B-C8C7-E4EB58E49241}"/>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sp>
        <p:nvSpPr>
          <p:cNvPr id="8" name="Tijdelijke aanduiding voor inhoud 5">
            <a:extLst>
              <a:ext uri="{FF2B5EF4-FFF2-40B4-BE49-F238E27FC236}">
                <a16:creationId xmlns:a16="http://schemas.microsoft.com/office/drawing/2014/main" id="{57DF317B-4716-8EE9-4AB3-42D248D94F78}"/>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Content Placeholder 3">
            <a:extLst>
              <a:ext uri="{FF2B5EF4-FFF2-40B4-BE49-F238E27FC236}">
                <a16:creationId xmlns:a16="http://schemas.microsoft.com/office/drawing/2014/main" id="{E5985546-E1B2-44D0-9631-C38519700349}"/>
              </a:ext>
            </a:extLst>
          </p:cNvPr>
          <p:cNvSpPr txBox="1">
            <a:spLocks/>
          </p:cNvSpPr>
          <p:nvPr/>
        </p:nvSpPr>
        <p:spPr>
          <a:xfrm>
            <a:off x="491525" y="971999"/>
            <a:ext cx="703680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7838 participants completed the survey (US: n=4045, 52%; NL: n=3793, 48%) </a:t>
            </a:r>
          </a:p>
          <a:p>
            <a:r>
              <a:rPr lang="en-US" sz="1400" dirty="0"/>
              <a:t>5336 (68%) failed at least one quality check criteria (out of 7)</a:t>
            </a:r>
          </a:p>
          <a:p>
            <a:r>
              <a:rPr lang="en-US" sz="1400" dirty="0"/>
              <a:t>683 (9%) were excluded</a:t>
            </a:r>
          </a:p>
          <a:p>
            <a:pPr lvl="2"/>
            <a:r>
              <a:rPr lang="en-US" sz="1400" dirty="0"/>
              <a:t>560 failed </a:t>
            </a:r>
            <a:r>
              <a:rPr lang="en-US" sz="1400" dirty="0">
                <a:effectLst/>
                <a:ea typeface="Aptos" panose="020B0004020202020204" pitchFamily="34" charset="0"/>
                <a:cs typeface="Arial" panose="020B0604020202020204" pitchFamily="34" charset="0"/>
              </a:rPr>
              <a:t>≥3 criteria </a:t>
            </a:r>
          </a:p>
          <a:p>
            <a:pPr lvl="2"/>
            <a:r>
              <a:rPr lang="en-US" sz="1400" dirty="0">
                <a:cs typeface="Arial" panose="020B0604020202020204" pitchFamily="34" charset="0"/>
              </a:rPr>
              <a:t>202 provided extremely different answers</a:t>
            </a:r>
            <a:endParaRPr lang="en-US" sz="1400" dirty="0"/>
          </a:p>
        </p:txBody>
      </p:sp>
    </p:spTree>
    <p:extLst>
      <p:ext uri="{BB962C8B-B14F-4D97-AF65-F5344CB8AC3E}">
        <p14:creationId xmlns:p14="http://schemas.microsoft.com/office/powerpoint/2010/main" val="52293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B1B6-EB2B-C9C9-49A2-3EB7B360B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BC6B4-7E8D-0842-6983-7712BDEEC9C3}"/>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pic>
        <p:nvPicPr>
          <p:cNvPr id="6" name="Picture 5">
            <a:extLst>
              <a:ext uri="{FF2B5EF4-FFF2-40B4-BE49-F238E27FC236}">
                <a16:creationId xmlns:a16="http://schemas.microsoft.com/office/drawing/2014/main" id="{1AC9C258-A880-051C-3920-9910D98068F8}"/>
              </a:ext>
            </a:extLst>
          </p:cNvPr>
          <p:cNvPicPr>
            <a:picLocks noChangeAspect="1"/>
          </p:cNvPicPr>
          <p:nvPr/>
        </p:nvPicPr>
        <p:blipFill>
          <a:blip r:embed="rId3"/>
          <a:srcRect/>
          <a:stretch/>
        </p:blipFill>
        <p:spPr>
          <a:xfrm>
            <a:off x="596008" y="839322"/>
            <a:ext cx="8067517" cy="4239647"/>
          </a:xfrm>
          <a:prstGeom prst="rect">
            <a:avLst/>
          </a:prstGeom>
          <a:noFill/>
        </p:spPr>
      </p:pic>
      <p:sp>
        <p:nvSpPr>
          <p:cNvPr id="8" name="Tijdelijke aanduiding voor inhoud 5">
            <a:extLst>
              <a:ext uri="{FF2B5EF4-FFF2-40B4-BE49-F238E27FC236}">
                <a16:creationId xmlns:a16="http://schemas.microsoft.com/office/drawing/2014/main" id="{06D5D670-C001-7F5B-19A5-1269D84D9FA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3258599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350C-9B33-A7B7-602C-5FEFAF545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8E4E8-C011-0DEC-145C-78A5904F61D2}"/>
              </a:ext>
            </a:extLst>
          </p:cNvPr>
          <p:cNvSpPr>
            <a:spLocks noGrp="1"/>
          </p:cNvSpPr>
          <p:nvPr>
            <p:ph type="title"/>
          </p:nvPr>
        </p:nvSpPr>
        <p:spPr>
          <a:xfrm>
            <a:off x="491525" y="396000"/>
            <a:ext cx="8172000" cy="576000"/>
          </a:xfrm>
        </p:spPr>
        <p:txBody>
          <a:bodyPr anchor="t">
            <a:normAutofit/>
          </a:bodyPr>
          <a:lstStyle/>
          <a:p>
            <a:r>
              <a:rPr lang="en-GB" dirty="0"/>
              <a:t>Demographics – Bad data sample</a:t>
            </a:r>
            <a:endParaRPr lang="LID4096" dirty="0"/>
          </a:p>
        </p:txBody>
      </p:sp>
      <p:pic>
        <p:nvPicPr>
          <p:cNvPr id="6" name="Picture 5">
            <a:extLst>
              <a:ext uri="{FF2B5EF4-FFF2-40B4-BE49-F238E27FC236}">
                <a16:creationId xmlns:a16="http://schemas.microsoft.com/office/drawing/2014/main" id="{AF3EF05C-AD2F-F464-3054-B3463FCE14C2}"/>
              </a:ext>
            </a:extLst>
          </p:cNvPr>
          <p:cNvPicPr>
            <a:picLocks noChangeAspect="1"/>
          </p:cNvPicPr>
          <p:nvPr/>
        </p:nvPicPr>
        <p:blipFill>
          <a:blip r:embed="rId3"/>
          <a:srcRect/>
          <a:stretch/>
        </p:blipFill>
        <p:spPr>
          <a:xfrm>
            <a:off x="491525" y="981959"/>
            <a:ext cx="8160949" cy="3837964"/>
          </a:xfrm>
          <a:prstGeom prst="rect">
            <a:avLst/>
          </a:prstGeom>
          <a:noFill/>
        </p:spPr>
      </p:pic>
      <p:sp>
        <p:nvSpPr>
          <p:cNvPr id="8" name="Tijdelijke aanduiding voor inhoud 5">
            <a:extLst>
              <a:ext uri="{FF2B5EF4-FFF2-40B4-BE49-F238E27FC236}">
                <a16:creationId xmlns:a16="http://schemas.microsoft.com/office/drawing/2014/main" id="{4334FE22-05E8-DE85-C5A5-76A03904B23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BA88BD3F-6C71-3456-12D1-AD02C0007160}"/>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830595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504C-D05F-3E2D-C333-B9A472451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FA5F6-A8C8-6268-F6A2-72EE67D0791F}"/>
              </a:ext>
            </a:extLst>
          </p:cNvPr>
          <p:cNvSpPr>
            <a:spLocks noGrp="1"/>
          </p:cNvSpPr>
          <p:nvPr>
            <p:ph type="title"/>
          </p:nvPr>
        </p:nvSpPr>
        <p:spPr>
          <a:xfrm>
            <a:off x="491525" y="396000"/>
            <a:ext cx="8172000" cy="576000"/>
          </a:xfrm>
        </p:spPr>
        <p:txBody>
          <a:bodyPr anchor="t">
            <a:normAutofit/>
          </a:bodyPr>
          <a:lstStyle/>
          <a:p>
            <a:r>
              <a:rPr lang="en-GB" dirty="0"/>
              <a:t>Demographics – Country-specific (bad data)</a:t>
            </a:r>
            <a:endParaRPr lang="LID4096" dirty="0"/>
          </a:p>
        </p:txBody>
      </p:sp>
      <p:pic>
        <p:nvPicPr>
          <p:cNvPr id="6" name="Picture 5">
            <a:extLst>
              <a:ext uri="{FF2B5EF4-FFF2-40B4-BE49-F238E27FC236}">
                <a16:creationId xmlns:a16="http://schemas.microsoft.com/office/drawing/2014/main" id="{DF02E7D5-B35A-32F3-21E0-52709866CC0F}"/>
              </a:ext>
            </a:extLst>
          </p:cNvPr>
          <p:cNvPicPr>
            <a:picLocks noChangeAspect="1"/>
          </p:cNvPicPr>
          <p:nvPr/>
        </p:nvPicPr>
        <p:blipFill>
          <a:blip r:embed="rId3"/>
          <a:srcRect/>
          <a:stretch/>
        </p:blipFill>
        <p:spPr>
          <a:xfrm>
            <a:off x="491525" y="854158"/>
            <a:ext cx="8172000" cy="4212967"/>
          </a:xfrm>
          <a:prstGeom prst="rect">
            <a:avLst/>
          </a:prstGeom>
          <a:noFill/>
        </p:spPr>
      </p:pic>
      <p:sp>
        <p:nvSpPr>
          <p:cNvPr id="8" name="Tijdelijke aanduiding voor inhoud 5">
            <a:extLst>
              <a:ext uri="{FF2B5EF4-FFF2-40B4-BE49-F238E27FC236}">
                <a16:creationId xmlns:a16="http://schemas.microsoft.com/office/drawing/2014/main" id="{DFB3EBBA-6CE3-5923-96B1-894EC17EC9CB}"/>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89147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87302-4A51-4A32-1DB0-FF5947966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B9215-940B-6942-EBD0-577AA03F9C9F}"/>
              </a:ext>
            </a:extLst>
          </p:cNvPr>
          <p:cNvSpPr>
            <a:spLocks noGrp="1"/>
          </p:cNvSpPr>
          <p:nvPr>
            <p:ph type="title"/>
          </p:nvPr>
        </p:nvSpPr>
        <p:spPr>
          <a:xfrm>
            <a:off x="491525" y="396000"/>
            <a:ext cx="8172000" cy="576000"/>
          </a:xfrm>
        </p:spPr>
        <p:txBody>
          <a:bodyPr anchor="t">
            <a:normAutofit/>
          </a:bodyPr>
          <a:lstStyle/>
          <a:p>
            <a:r>
              <a:rPr lang="en-GB" dirty="0"/>
              <a:t>Demographics – Country-specific</a:t>
            </a:r>
            <a:endParaRPr lang="LID4096" dirty="0"/>
          </a:p>
        </p:txBody>
      </p:sp>
      <p:pic>
        <p:nvPicPr>
          <p:cNvPr id="6" name="Picture 5">
            <a:extLst>
              <a:ext uri="{FF2B5EF4-FFF2-40B4-BE49-F238E27FC236}">
                <a16:creationId xmlns:a16="http://schemas.microsoft.com/office/drawing/2014/main" id="{5769C3CC-4885-4FB7-3D62-3D552EBA2765}"/>
              </a:ext>
            </a:extLst>
          </p:cNvPr>
          <p:cNvPicPr>
            <a:picLocks noChangeAspect="1"/>
          </p:cNvPicPr>
          <p:nvPr/>
        </p:nvPicPr>
        <p:blipFill>
          <a:blip r:embed="rId3"/>
          <a:srcRect/>
          <a:stretch/>
        </p:blipFill>
        <p:spPr>
          <a:xfrm>
            <a:off x="715021" y="1229161"/>
            <a:ext cx="7937454" cy="3837964"/>
          </a:xfrm>
          <a:prstGeom prst="rect">
            <a:avLst/>
          </a:prstGeom>
          <a:noFill/>
        </p:spPr>
      </p:pic>
      <p:sp>
        <p:nvSpPr>
          <p:cNvPr id="8" name="Tijdelijke aanduiding voor inhoud 5">
            <a:extLst>
              <a:ext uri="{FF2B5EF4-FFF2-40B4-BE49-F238E27FC236}">
                <a16:creationId xmlns:a16="http://schemas.microsoft.com/office/drawing/2014/main" id="{1602BC72-4747-8AF5-1C15-52621B02CE6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EB38EC5B-AE86-4A7E-65FE-B073389F5B33}"/>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7155 final sample </a:t>
            </a:r>
            <a:r>
              <a:rPr lang="pt-BR" sz="1400" dirty="0"/>
              <a:t>(US: n= 3606, 50%; NL: n=3549, 50%)</a:t>
            </a:r>
          </a:p>
        </p:txBody>
      </p:sp>
    </p:spTree>
    <p:extLst>
      <p:ext uri="{BB962C8B-B14F-4D97-AF65-F5344CB8AC3E}">
        <p14:creationId xmlns:p14="http://schemas.microsoft.com/office/powerpoint/2010/main" val="2192478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05F5-914F-A219-60A2-4E7E5A406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6AF49-E36B-CF36-879E-16B327F310FC}"/>
              </a:ext>
            </a:extLst>
          </p:cNvPr>
          <p:cNvSpPr>
            <a:spLocks noGrp="1"/>
          </p:cNvSpPr>
          <p:nvPr>
            <p:ph type="title"/>
          </p:nvPr>
        </p:nvSpPr>
        <p:spPr>
          <a:xfrm>
            <a:off x="491525" y="396000"/>
            <a:ext cx="8172000" cy="576000"/>
          </a:xfrm>
        </p:spPr>
        <p:txBody>
          <a:bodyPr anchor="t">
            <a:normAutofit/>
          </a:bodyPr>
          <a:lstStyle/>
          <a:p>
            <a:r>
              <a:rPr lang="en-GB" dirty="0"/>
              <a:t>Health conditions</a:t>
            </a:r>
            <a:endParaRPr lang="LID4096" dirty="0"/>
          </a:p>
        </p:txBody>
      </p:sp>
      <p:sp>
        <p:nvSpPr>
          <p:cNvPr id="8" name="Tijdelijke aanduiding voor inhoud 5">
            <a:extLst>
              <a:ext uri="{FF2B5EF4-FFF2-40B4-BE49-F238E27FC236}">
                <a16:creationId xmlns:a16="http://schemas.microsoft.com/office/drawing/2014/main" id="{086A4A32-0161-343C-60CC-D53CA9CF11F5}"/>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3" name="Flowchart: Connector 2">
            <a:extLst>
              <a:ext uri="{FF2B5EF4-FFF2-40B4-BE49-F238E27FC236}">
                <a16:creationId xmlns:a16="http://schemas.microsoft.com/office/drawing/2014/main" id="{D3405697-62EB-A592-A6B7-FD6F9DDBB514}"/>
              </a:ext>
            </a:extLst>
          </p:cNvPr>
          <p:cNvSpPr/>
          <p:nvPr/>
        </p:nvSpPr>
        <p:spPr>
          <a:xfrm>
            <a:off x="7035218" y="4542573"/>
            <a:ext cx="188687" cy="203200"/>
          </a:xfrm>
          <a:prstGeom prst="flowChartConnector">
            <a:avLst/>
          </a:prstGeom>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7D14F55A-78D2-0785-0355-F3E9D9512D6D}"/>
              </a:ext>
            </a:extLst>
          </p:cNvPr>
          <p:cNvPicPr>
            <a:picLocks noChangeAspect="1"/>
          </p:cNvPicPr>
          <p:nvPr/>
        </p:nvPicPr>
        <p:blipFill>
          <a:blip r:embed="rId3"/>
          <a:srcRect/>
          <a:stretch/>
        </p:blipFill>
        <p:spPr>
          <a:xfrm>
            <a:off x="883565" y="930835"/>
            <a:ext cx="7779960" cy="4053791"/>
          </a:xfrm>
          <a:prstGeom prst="rect">
            <a:avLst/>
          </a:prstGeom>
        </p:spPr>
      </p:pic>
    </p:spTree>
    <p:extLst>
      <p:ext uri="{BB962C8B-B14F-4D97-AF65-F5344CB8AC3E}">
        <p14:creationId xmlns:p14="http://schemas.microsoft.com/office/powerpoint/2010/main" val="1304527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87C89-E8B3-A7A0-2E3F-D580926F3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7DE35-9E34-597F-2C08-C6E38175DD23}"/>
              </a:ext>
            </a:extLst>
          </p:cNvPr>
          <p:cNvSpPr>
            <a:spLocks noGrp="1"/>
          </p:cNvSpPr>
          <p:nvPr>
            <p:ph type="title"/>
          </p:nvPr>
        </p:nvSpPr>
        <p:spPr>
          <a:xfrm>
            <a:off x="491525" y="396000"/>
            <a:ext cx="8172000" cy="576000"/>
          </a:xfrm>
        </p:spPr>
        <p:txBody>
          <a:bodyPr anchor="t">
            <a:normAutofit/>
          </a:bodyPr>
          <a:lstStyle/>
          <a:p>
            <a:r>
              <a:rPr lang="en-GB" dirty="0"/>
              <a:t>Targeted health conditions</a:t>
            </a:r>
            <a:endParaRPr lang="LID4096" dirty="0"/>
          </a:p>
        </p:txBody>
      </p:sp>
      <p:sp>
        <p:nvSpPr>
          <p:cNvPr id="8" name="Tijdelijke aanduiding voor inhoud 5">
            <a:extLst>
              <a:ext uri="{FF2B5EF4-FFF2-40B4-BE49-F238E27FC236}">
                <a16:creationId xmlns:a16="http://schemas.microsoft.com/office/drawing/2014/main" id="{5510C3FA-3B5E-C6C3-7581-153CCCD6591C}"/>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6" name="Picture 5">
            <a:extLst>
              <a:ext uri="{FF2B5EF4-FFF2-40B4-BE49-F238E27FC236}">
                <a16:creationId xmlns:a16="http://schemas.microsoft.com/office/drawing/2014/main" id="{5248E073-B1BD-9685-ABB1-03DE28C37AAD}"/>
              </a:ext>
            </a:extLst>
          </p:cNvPr>
          <p:cNvPicPr>
            <a:picLocks noChangeAspect="1"/>
          </p:cNvPicPr>
          <p:nvPr/>
        </p:nvPicPr>
        <p:blipFill>
          <a:blip r:embed="rId3"/>
          <a:srcRect/>
          <a:stretch/>
        </p:blipFill>
        <p:spPr>
          <a:xfrm>
            <a:off x="728770" y="882954"/>
            <a:ext cx="7923705" cy="4105469"/>
          </a:xfrm>
          <a:prstGeom prst="rect">
            <a:avLst/>
          </a:prstGeom>
        </p:spPr>
      </p:pic>
    </p:spTree>
    <p:extLst>
      <p:ext uri="{BB962C8B-B14F-4D97-AF65-F5344CB8AC3E}">
        <p14:creationId xmlns:p14="http://schemas.microsoft.com/office/powerpoint/2010/main" val="784573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04E9D-0B5B-3DEF-D66B-02FB40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BE54B-788F-A999-B307-17F7E1558BB0}"/>
              </a:ext>
            </a:extLst>
          </p:cNvPr>
          <p:cNvSpPr>
            <a:spLocks noGrp="1"/>
          </p:cNvSpPr>
          <p:nvPr>
            <p:ph type="title"/>
          </p:nvPr>
        </p:nvSpPr>
        <p:spPr>
          <a:xfrm>
            <a:off x="491525" y="396000"/>
            <a:ext cx="8172000" cy="576000"/>
          </a:xfrm>
        </p:spPr>
        <p:txBody>
          <a:bodyPr anchor="t">
            <a:normAutofit/>
          </a:bodyPr>
          <a:lstStyle/>
          <a:p>
            <a:r>
              <a:rPr lang="en-GB" dirty="0"/>
              <a:t>Comorbidity</a:t>
            </a:r>
            <a:endParaRPr lang="LID4096" dirty="0"/>
          </a:p>
        </p:txBody>
      </p:sp>
      <p:pic>
        <p:nvPicPr>
          <p:cNvPr id="6" name="Picture 5">
            <a:extLst>
              <a:ext uri="{FF2B5EF4-FFF2-40B4-BE49-F238E27FC236}">
                <a16:creationId xmlns:a16="http://schemas.microsoft.com/office/drawing/2014/main" id="{9FEF0729-3595-CF87-B068-7F0B249E4003}"/>
              </a:ext>
            </a:extLst>
          </p:cNvPr>
          <p:cNvPicPr>
            <a:picLocks noChangeAspect="1"/>
          </p:cNvPicPr>
          <p:nvPr/>
        </p:nvPicPr>
        <p:blipFill>
          <a:blip r:embed="rId3"/>
          <a:srcRect/>
          <a:stretch/>
        </p:blipFill>
        <p:spPr>
          <a:xfrm>
            <a:off x="668000" y="843419"/>
            <a:ext cx="7984475" cy="4115044"/>
          </a:xfrm>
          <a:prstGeom prst="rect">
            <a:avLst/>
          </a:prstGeom>
          <a:noFill/>
        </p:spPr>
      </p:pic>
      <p:sp>
        <p:nvSpPr>
          <p:cNvPr id="8" name="Tijdelijke aanduiding voor inhoud 5">
            <a:extLst>
              <a:ext uri="{FF2B5EF4-FFF2-40B4-BE49-F238E27FC236}">
                <a16:creationId xmlns:a16="http://schemas.microsoft.com/office/drawing/2014/main" id="{5227D388-60CF-2234-73CE-3B8559F028E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D4535E3B-C3CF-EBCE-2375-BC69021BEC68}"/>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2645035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C78D-ADAE-1B88-E302-76281ED12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ED0B5-0360-A5D2-AFAD-7BA1B32C49F7}"/>
              </a:ext>
            </a:extLst>
          </p:cNvPr>
          <p:cNvSpPr>
            <a:spLocks noGrp="1"/>
          </p:cNvSpPr>
          <p:nvPr>
            <p:ph type="title"/>
          </p:nvPr>
        </p:nvSpPr>
        <p:spPr>
          <a:xfrm>
            <a:off x="491525" y="396000"/>
            <a:ext cx="8172000" cy="576000"/>
          </a:xfrm>
        </p:spPr>
        <p:txBody>
          <a:bodyPr anchor="t">
            <a:normAutofit/>
          </a:bodyPr>
          <a:lstStyle/>
          <a:p>
            <a:r>
              <a:rPr lang="en-GB" dirty="0"/>
              <a:t>Completion time</a:t>
            </a:r>
            <a:endParaRPr lang="LID4096" dirty="0"/>
          </a:p>
        </p:txBody>
      </p:sp>
      <p:pic>
        <p:nvPicPr>
          <p:cNvPr id="6" name="Picture 5">
            <a:extLst>
              <a:ext uri="{FF2B5EF4-FFF2-40B4-BE49-F238E27FC236}">
                <a16:creationId xmlns:a16="http://schemas.microsoft.com/office/drawing/2014/main" id="{92E265BB-A1DE-9A9D-679C-B8F9729B73C2}"/>
              </a:ext>
            </a:extLst>
          </p:cNvPr>
          <p:cNvPicPr>
            <a:picLocks noChangeAspect="1"/>
          </p:cNvPicPr>
          <p:nvPr/>
        </p:nvPicPr>
        <p:blipFill>
          <a:blip r:embed="rId3"/>
          <a:srcRect/>
          <a:stretch/>
        </p:blipFill>
        <p:spPr>
          <a:xfrm>
            <a:off x="599355" y="981959"/>
            <a:ext cx="8053120" cy="3837964"/>
          </a:xfrm>
          <a:prstGeom prst="rect">
            <a:avLst/>
          </a:prstGeom>
          <a:noFill/>
        </p:spPr>
      </p:pic>
      <p:sp>
        <p:nvSpPr>
          <p:cNvPr id="8" name="Tijdelijke aanduiding voor inhoud 5">
            <a:extLst>
              <a:ext uri="{FF2B5EF4-FFF2-40B4-BE49-F238E27FC236}">
                <a16:creationId xmlns:a16="http://schemas.microsoft.com/office/drawing/2014/main" id="{7614E1B3-9AE2-B218-162A-B7D49319C9F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17301641-038C-B04B-DEDD-2159AE7CDF74}"/>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613911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878C3-72BA-EC06-D121-7FCB3B714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77F8C-28D1-7EB2-D276-40187C41ACCC}"/>
              </a:ext>
            </a:extLst>
          </p:cNvPr>
          <p:cNvSpPr>
            <a:spLocks noGrp="1"/>
          </p:cNvSpPr>
          <p:nvPr>
            <p:ph type="title"/>
          </p:nvPr>
        </p:nvSpPr>
        <p:spPr>
          <a:xfrm>
            <a:off x="491525" y="396000"/>
            <a:ext cx="8172000" cy="576000"/>
          </a:xfrm>
        </p:spPr>
        <p:txBody>
          <a:bodyPr anchor="t">
            <a:normAutofit/>
          </a:bodyPr>
          <a:lstStyle/>
          <a:p>
            <a:r>
              <a:rPr lang="en-GB" dirty="0"/>
              <a:t>Descriptive statistics – Health conditions</a:t>
            </a:r>
            <a:endParaRPr lang="LID4096" dirty="0"/>
          </a:p>
        </p:txBody>
      </p:sp>
      <p:sp>
        <p:nvSpPr>
          <p:cNvPr id="8" name="Tijdelijke aanduiding voor inhoud 5">
            <a:extLst>
              <a:ext uri="{FF2B5EF4-FFF2-40B4-BE49-F238E27FC236}">
                <a16:creationId xmlns:a16="http://schemas.microsoft.com/office/drawing/2014/main" id="{F79F948B-D013-0B1A-7294-2EA29CC42CCE}"/>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97744DB3-628E-73BA-CA2E-93D83BA342B3}"/>
              </a:ext>
            </a:extLst>
          </p:cNvPr>
          <p:cNvPicPr>
            <a:picLocks noChangeAspect="1"/>
          </p:cNvPicPr>
          <p:nvPr/>
        </p:nvPicPr>
        <p:blipFill>
          <a:blip r:embed="rId3"/>
          <a:srcRect/>
          <a:stretch/>
        </p:blipFill>
        <p:spPr>
          <a:xfrm>
            <a:off x="511445" y="834494"/>
            <a:ext cx="8121109" cy="4267812"/>
          </a:xfrm>
          <a:prstGeom prst="rect">
            <a:avLst/>
          </a:prstGeom>
        </p:spPr>
      </p:pic>
    </p:spTree>
    <p:extLst>
      <p:ext uri="{BB962C8B-B14F-4D97-AF65-F5344CB8AC3E}">
        <p14:creationId xmlns:p14="http://schemas.microsoft.com/office/powerpoint/2010/main" val="3664583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ED58-E014-0D55-B992-22C0DB09B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1C92F-1F2D-CA9F-6D1C-74E23B6C8FD5}"/>
              </a:ext>
            </a:extLst>
          </p:cNvPr>
          <p:cNvSpPr>
            <a:spLocks noGrp="1"/>
          </p:cNvSpPr>
          <p:nvPr>
            <p:ph type="title"/>
          </p:nvPr>
        </p:nvSpPr>
        <p:spPr>
          <a:xfrm>
            <a:off x="491525" y="396000"/>
            <a:ext cx="8172000" cy="576000"/>
          </a:xfrm>
        </p:spPr>
        <p:txBody>
          <a:bodyPr anchor="t">
            <a:normAutofit/>
          </a:bodyPr>
          <a:lstStyle/>
          <a:p>
            <a:r>
              <a:rPr lang="en-GB" dirty="0"/>
              <a:t>Descriptive statistics – Scores by age</a:t>
            </a:r>
            <a:endParaRPr lang="LID4096" dirty="0"/>
          </a:p>
        </p:txBody>
      </p:sp>
      <p:sp>
        <p:nvSpPr>
          <p:cNvPr id="8" name="Tijdelijke aanduiding voor inhoud 5">
            <a:extLst>
              <a:ext uri="{FF2B5EF4-FFF2-40B4-BE49-F238E27FC236}">
                <a16:creationId xmlns:a16="http://schemas.microsoft.com/office/drawing/2014/main" id="{7301AEE7-4117-B57F-F4F0-58065BB5433D}"/>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AAA14662-E060-DAA5-2DEC-2FCB3AF27D2E}"/>
              </a:ext>
            </a:extLst>
          </p:cNvPr>
          <p:cNvPicPr>
            <a:picLocks noChangeAspect="1"/>
          </p:cNvPicPr>
          <p:nvPr/>
        </p:nvPicPr>
        <p:blipFill>
          <a:blip r:embed="rId3"/>
          <a:srcRect/>
          <a:stretch/>
        </p:blipFill>
        <p:spPr>
          <a:xfrm>
            <a:off x="511445" y="834494"/>
            <a:ext cx="8121109" cy="4267811"/>
          </a:xfrm>
          <a:prstGeom prst="rect">
            <a:avLst/>
          </a:prstGeom>
        </p:spPr>
      </p:pic>
    </p:spTree>
    <p:extLst>
      <p:ext uri="{BB962C8B-B14F-4D97-AF65-F5344CB8AC3E}">
        <p14:creationId xmlns:p14="http://schemas.microsoft.com/office/powerpoint/2010/main" val="339709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4096-8096-E412-74C2-CD40940E8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5B875-6D50-41E9-3329-BE7FBF7FE00F}"/>
              </a:ext>
            </a:extLst>
          </p:cNvPr>
          <p:cNvSpPr>
            <a:spLocks noGrp="1"/>
          </p:cNvSpPr>
          <p:nvPr>
            <p:ph type="title"/>
          </p:nvPr>
        </p:nvSpPr>
        <p:spPr>
          <a:xfrm>
            <a:off x="491525" y="396000"/>
            <a:ext cx="8172000" cy="576000"/>
          </a:xfrm>
        </p:spPr>
        <p:txBody>
          <a:bodyPr anchor="t">
            <a:normAutofit/>
          </a:bodyPr>
          <a:lstStyle/>
          <a:p>
            <a:r>
              <a:rPr lang="en-GB" dirty="0"/>
              <a:t>Response options frequencies - Main</a:t>
            </a:r>
            <a:endParaRPr lang="LID4096" dirty="0"/>
          </a:p>
        </p:txBody>
      </p:sp>
      <p:pic>
        <p:nvPicPr>
          <p:cNvPr id="6" name="Picture 5">
            <a:extLst>
              <a:ext uri="{FF2B5EF4-FFF2-40B4-BE49-F238E27FC236}">
                <a16:creationId xmlns:a16="http://schemas.microsoft.com/office/drawing/2014/main" id="{A8F77E66-1F9A-806C-6C51-C7F43D71F269}"/>
              </a:ext>
            </a:extLst>
          </p:cNvPr>
          <p:cNvPicPr>
            <a:picLocks noChangeAspect="1"/>
          </p:cNvPicPr>
          <p:nvPr/>
        </p:nvPicPr>
        <p:blipFill>
          <a:blip r:embed="rId3"/>
          <a:srcRect/>
          <a:stretch/>
        </p:blipFill>
        <p:spPr>
          <a:xfrm>
            <a:off x="687519" y="972000"/>
            <a:ext cx="7964956" cy="3837964"/>
          </a:xfrm>
          <a:prstGeom prst="rect">
            <a:avLst/>
          </a:prstGeom>
          <a:noFill/>
        </p:spPr>
      </p:pic>
      <p:sp>
        <p:nvSpPr>
          <p:cNvPr id="8" name="Tijdelijke aanduiding voor inhoud 5">
            <a:extLst>
              <a:ext uri="{FF2B5EF4-FFF2-40B4-BE49-F238E27FC236}">
                <a16:creationId xmlns:a16="http://schemas.microsoft.com/office/drawing/2014/main" id="{3F011381-DBC9-29BD-B683-227A5C6D4FD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3F01C795-63FF-370D-E6D9-132F43DBCE1D}"/>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241879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DB96-1324-17D1-9052-E026CE353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F6135-F186-77FB-91F0-8A76F1A19C62}"/>
              </a:ext>
            </a:extLst>
          </p:cNvPr>
          <p:cNvSpPr>
            <a:spLocks noGrp="1"/>
          </p:cNvSpPr>
          <p:nvPr>
            <p:ph type="title"/>
          </p:nvPr>
        </p:nvSpPr>
        <p:spPr>
          <a:xfrm>
            <a:off x="491525" y="396000"/>
            <a:ext cx="8172000" cy="576000"/>
          </a:xfrm>
        </p:spPr>
        <p:txBody>
          <a:bodyPr anchor="t">
            <a:normAutofit/>
          </a:bodyPr>
          <a:lstStyle/>
          <a:p>
            <a:r>
              <a:rPr lang="en-GB" dirty="0"/>
              <a:t>Response options frequencies - Other</a:t>
            </a:r>
            <a:endParaRPr lang="LID4096" dirty="0"/>
          </a:p>
        </p:txBody>
      </p:sp>
      <p:pic>
        <p:nvPicPr>
          <p:cNvPr id="6" name="Picture 5">
            <a:extLst>
              <a:ext uri="{FF2B5EF4-FFF2-40B4-BE49-F238E27FC236}">
                <a16:creationId xmlns:a16="http://schemas.microsoft.com/office/drawing/2014/main" id="{440F7D33-5C8C-A13B-3B61-53586F013DA9}"/>
              </a:ext>
            </a:extLst>
          </p:cNvPr>
          <p:cNvPicPr>
            <a:picLocks noChangeAspect="1"/>
          </p:cNvPicPr>
          <p:nvPr/>
        </p:nvPicPr>
        <p:blipFill>
          <a:blip r:embed="rId3"/>
          <a:srcRect/>
          <a:stretch/>
        </p:blipFill>
        <p:spPr>
          <a:xfrm>
            <a:off x="694393" y="972000"/>
            <a:ext cx="7958081" cy="3837964"/>
          </a:xfrm>
          <a:prstGeom prst="rect">
            <a:avLst/>
          </a:prstGeom>
          <a:noFill/>
        </p:spPr>
      </p:pic>
      <p:sp>
        <p:nvSpPr>
          <p:cNvPr id="8" name="Tijdelijke aanduiding voor inhoud 5">
            <a:extLst>
              <a:ext uri="{FF2B5EF4-FFF2-40B4-BE49-F238E27FC236}">
                <a16:creationId xmlns:a16="http://schemas.microsoft.com/office/drawing/2014/main" id="{BDF96CEF-255D-85C9-1B04-E15D80812C4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8AA9244B-7586-8197-1085-4BB2FECB9883}"/>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388105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359B-8B31-7378-7737-2526FCF11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1CBB4-A4C3-C93A-E0DD-802FB19C59FA}"/>
              </a:ext>
            </a:extLst>
          </p:cNvPr>
          <p:cNvSpPr>
            <a:spLocks noGrp="1"/>
          </p:cNvSpPr>
          <p:nvPr>
            <p:ph type="title"/>
          </p:nvPr>
        </p:nvSpPr>
        <p:spPr>
          <a:xfrm>
            <a:off x="491525" y="396000"/>
            <a:ext cx="8172000" cy="576000"/>
          </a:xfrm>
        </p:spPr>
        <p:txBody>
          <a:bodyPr anchor="t">
            <a:normAutofit/>
          </a:bodyPr>
          <a:lstStyle/>
          <a:p>
            <a:r>
              <a:rPr lang="en-GB" dirty="0"/>
              <a:t>Response options frequencies – EQ-5D</a:t>
            </a:r>
            <a:endParaRPr lang="LID4096" dirty="0"/>
          </a:p>
        </p:txBody>
      </p:sp>
      <p:pic>
        <p:nvPicPr>
          <p:cNvPr id="6" name="Picture 5">
            <a:extLst>
              <a:ext uri="{FF2B5EF4-FFF2-40B4-BE49-F238E27FC236}">
                <a16:creationId xmlns:a16="http://schemas.microsoft.com/office/drawing/2014/main" id="{5FD68ED2-7995-EE49-023F-6AD445302C4B}"/>
              </a:ext>
            </a:extLst>
          </p:cNvPr>
          <p:cNvPicPr>
            <a:picLocks noChangeAspect="1"/>
          </p:cNvPicPr>
          <p:nvPr/>
        </p:nvPicPr>
        <p:blipFill>
          <a:blip r:embed="rId3"/>
          <a:srcRect/>
          <a:stretch/>
        </p:blipFill>
        <p:spPr>
          <a:xfrm>
            <a:off x="691563" y="972000"/>
            <a:ext cx="7960912" cy="3837964"/>
          </a:xfrm>
          <a:prstGeom prst="rect">
            <a:avLst/>
          </a:prstGeom>
          <a:noFill/>
        </p:spPr>
      </p:pic>
      <p:sp>
        <p:nvSpPr>
          <p:cNvPr id="8" name="Tijdelijke aanduiding voor inhoud 5">
            <a:extLst>
              <a:ext uri="{FF2B5EF4-FFF2-40B4-BE49-F238E27FC236}">
                <a16:creationId xmlns:a16="http://schemas.microsoft.com/office/drawing/2014/main" id="{5CB34992-1BC4-FA3D-80A7-EB5F50E5256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623CA46B-8B63-50C3-ADF7-46FC6354C559}"/>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70157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E0DE-5DBA-58E4-3207-E8037F0D1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D3AD9-E5B6-4E11-12F5-868302F1C999}"/>
              </a:ext>
            </a:extLst>
          </p:cNvPr>
          <p:cNvSpPr>
            <a:spLocks noGrp="1"/>
          </p:cNvSpPr>
          <p:nvPr>
            <p:ph type="title"/>
          </p:nvPr>
        </p:nvSpPr>
        <p:spPr>
          <a:xfrm>
            <a:off x="491525" y="396000"/>
            <a:ext cx="8172000" cy="576000"/>
          </a:xfrm>
        </p:spPr>
        <p:txBody>
          <a:bodyPr anchor="t">
            <a:normAutofit/>
          </a:bodyPr>
          <a:lstStyle/>
          <a:p>
            <a:r>
              <a:rPr lang="en-GB" dirty="0"/>
              <a:t>Response options frequencies – PHQ-15</a:t>
            </a:r>
            <a:endParaRPr lang="LID4096" dirty="0"/>
          </a:p>
        </p:txBody>
      </p:sp>
      <p:pic>
        <p:nvPicPr>
          <p:cNvPr id="6" name="Picture 5">
            <a:extLst>
              <a:ext uri="{FF2B5EF4-FFF2-40B4-BE49-F238E27FC236}">
                <a16:creationId xmlns:a16="http://schemas.microsoft.com/office/drawing/2014/main" id="{D006D749-0BE9-D6F6-2277-CAD53908795C}"/>
              </a:ext>
            </a:extLst>
          </p:cNvPr>
          <p:cNvPicPr>
            <a:picLocks noChangeAspect="1"/>
          </p:cNvPicPr>
          <p:nvPr/>
        </p:nvPicPr>
        <p:blipFill>
          <a:blip r:embed="rId3"/>
          <a:srcRect/>
          <a:stretch/>
        </p:blipFill>
        <p:spPr>
          <a:xfrm>
            <a:off x="491525" y="972000"/>
            <a:ext cx="8160950" cy="3837964"/>
          </a:xfrm>
          <a:prstGeom prst="rect">
            <a:avLst/>
          </a:prstGeom>
          <a:noFill/>
        </p:spPr>
      </p:pic>
      <p:sp>
        <p:nvSpPr>
          <p:cNvPr id="8" name="Tijdelijke aanduiding voor inhoud 5">
            <a:extLst>
              <a:ext uri="{FF2B5EF4-FFF2-40B4-BE49-F238E27FC236}">
                <a16:creationId xmlns:a16="http://schemas.microsoft.com/office/drawing/2014/main" id="{1CA4812C-FD63-8ED4-2726-33E7C00257DA}"/>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3CFAC34E-602B-0D65-EC5B-7B73F234D91F}"/>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0974102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33BF-9E1C-8541-9F3B-E73CB27EE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82C85-4C48-A483-FA29-1E7F66519A34}"/>
              </a:ext>
            </a:extLst>
          </p:cNvPr>
          <p:cNvSpPr>
            <a:spLocks noGrp="1"/>
          </p:cNvSpPr>
          <p:nvPr>
            <p:ph type="title"/>
          </p:nvPr>
        </p:nvSpPr>
        <p:spPr>
          <a:xfrm>
            <a:off x="491525" y="396000"/>
            <a:ext cx="8172000" cy="576000"/>
          </a:xfrm>
        </p:spPr>
        <p:txBody>
          <a:bodyPr anchor="t">
            <a:normAutofit/>
          </a:bodyPr>
          <a:lstStyle/>
          <a:p>
            <a:r>
              <a:rPr lang="en-GB" dirty="0"/>
              <a:t>Descriptive statistics – Social care users</a:t>
            </a:r>
            <a:endParaRPr lang="LID4096" dirty="0"/>
          </a:p>
        </p:txBody>
      </p:sp>
      <p:sp>
        <p:nvSpPr>
          <p:cNvPr id="8" name="Tijdelijke aanduiding voor inhoud 5">
            <a:extLst>
              <a:ext uri="{FF2B5EF4-FFF2-40B4-BE49-F238E27FC236}">
                <a16:creationId xmlns:a16="http://schemas.microsoft.com/office/drawing/2014/main" id="{BEE1D263-D4F5-EE0F-3978-F0612580828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85E7A085-D806-76B1-954D-82FC343CB7A4}"/>
              </a:ext>
            </a:extLst>
          </p:cNvPr>
          <p:cNvPicPr>
            <a:picLocks noChangeAspect="1"/>
          </p:cNvPicPr>
          <p:nvPr/>
        </p:nvPicPr>
        <p:blipFill>
          <a:blip r:embed="rId3"/>
          <a:srcRect/>
          <a:stretch/>
        </p:blipFill>
        <p:spPr>
          <a:xfrm>
            <a:off x="511445" y="834495"/>
            <a:ext cx="8121109" cy="4267811"/>
          </a:xfrm>
          <a:prstGeom prst="rect">
            <a:avLst/>
          </a:prstGeom>
        </p:spPr>
      </p:pic>
    </p:spTree>
    <p:extLst>
      <p:ext uri="{BB962C8B-B14F-4D97-AF65-F5344CB8AC3E}">
        <p14:creationId xmlns:p14="http://schemas.microsoft.com/office/powerpoint/2010/main" val="1831809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3DB9-5B1B-6A9A-1EB5-752E31E36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416D4-B066-EB22-3C74-D40826271151}"/>
              </a:ext>
            </a:extLst>
          </p:cNvPr>
          <p:cNvSpPr>
            <a:spLocks noGrp="1"/>
          </p:cNvSpPr>
          <p:nvPr>
            <p:ph type="title"/>
          </p:nvPr>
        </p:nvSpPr>
        <p:spPr>
          <a:xfrm>
            <a:off x="491525" y="396000"/>
            <a:ext cx="8172000" cy="576000"/>
          </a:xfrm>
        </p:spPr>
        <p:txBody>
          <a:bodyPr anchor="t">
            <a:normAutofit/>
          </a:bodyPr>
          <a:lstStyle/>
          <a:p>
            <a:r>
              <a:rPr lang="en-GB" dirty="0"/>
              <a:t>Convergent validity – All instruments</a:t>
            </a:r>
            <a:endParaRPr lang="LID4096" dirty="0"/>
          </a:p>
        </p:txBody>
      </p:sp>
      <p:pic>
        <p:nvPicPr>
          <p:cNvPr id="6" name="Picture 5">
            <a:extLst>
              <a:ext uri="{FF2B5EF4-FFF2-40B4-BE49-F238E27FC236}">
                <a16:creationId xmlns:a16="http://schemas.microsoft.com/office/drawing/2014/main" id="{AC952298-3F10-9DC5-417C-ED8CDD32BF3E}"/>
              </a:ext>
            </a:extLst>
          </p:cNvPr>
          <p:cNvPicPr>
            <a:picLocks noChangeAspect="1"/>
          </p:cNvPicPr>
          <p:nvPr/>
        </p:nvPicPr>
        <p:blipFill>
          <a:blip r:embed="rId3"/>
          <a:srcRect/>
          <a:stretch/>
        </p:blipFill>
        <p:spPr>
          <a:xfrm>
            <a:off x="722299" y="972000"/>
            <a:ext cx="7941226" cy="3837964"/>
          </a:xfrm>
          <a:prstGeom prst="rect">
            <a:avLst/>
          </a:prstGeom>
          <a:noFill/>
        </p:spPr>
      </p:pic>
      <p:sp>
        <p:nvSpPr>
          <p:cNvPr id="8" name="Tijdelijke aanduiding voor inhoud 5">
            <a:extLst>
              <a:ext uri="{FF2B5EF4-FFF2-40B4-BE49-F238E27FC236}">
                <a16:creationId xmlns:a16="http://schemas.microsoft.com/office/drawing/2014/main" id="{E4EBA9FC-2E07-16F8-854F-0CAB76BCCA0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B680DBC0-1799-EBE7-F0B0-3CD3F792070B}"/>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7686536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1C3D-DD1D-1B8C-CF47-89AC9FC8E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6F3F5-4AB7-F43D-D2CA-7C8990E3B9EF}"/>
              </a:ext>
            </a:extLst>
          </p:cNvPr>
          <p:cNvSpPr>
            <a:spLocks noGrp="1"/>
          </p:cNvSpPr>
          <p:nvPr>
            <p:ph type="title"/>
          </p:nvPr>
        </p:nvSpPr>
        <p:spPr>
          <a:xfrm>
            <a:off x="491525" y="396000"/>
            <a:ext cx="8172000" cy="576000"/>
          </a:xfrm>
        </p:spPr>
        <p:txBody>
          <a:bodyPr anchor="t">
            <a:normAutofit/>
          </a:bodyPr>
          <a:lstStyle/>
          <a:p>
            <a:r>
              <a:rPr lang="en-GB" dirty="0"/>
              <a:t>Known-group validity</a:t>
            </a:r>
            <a:endParaRPr lang="LID4096" dirty="0"/>
          </a:p>
        </p:txBody>
      </p:sp>
      <p:sp>
        <p:nvSpPr>
          <p:cNvPr id="8" name="Tijdelijke aanduiding voor inhoud 5">
            <a:extLst>
              <a:ext uri="{FF2B5EF4-FFF2-40B4-BE49-F238E27FC236}">
                <a16:creationId xmlns:a16="http://schemas.microsoft.com/office/drawing/2014/main" id="{D8319652-3195-7CBB-A152-AF33FAF5A1CF}"/>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D3BFCCE9-6E75-8268-B274-CD3EE6F99EDD}"/>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graphicFrame>
        <p:nvGraphicFramePr>
          <p:cNvPr id="7" name="Table 6">
            <a:extLst>
              <a:ext uri="{FF2B5EF4-FFF2-40B4-BE49-F238E27FC236}">
                <a16:creationId xmlns:a16="http://schemas.microsoft.com/office/drawing/2014/main" id="{55A1E1CD-1C0A-64B1-BE7F-2AF3DA1625A1}"/>
              </a:ext>
            </a:extLst>
          </p:cNvPr>
          <p:cNvGraphicFramePr>
            <a:graphicFrameLocks noGrp="1"/>
          </p:cNvGraphicFramePr>
          <p:nvPr>
            <p:extLst>
              <p:ext uri="{D42A27DB-BD31-4B8C-83A1-F6EECF244321}">
                <p14:modId xmlns:p14="http://schemas.microsoft.com/office/powerpoint/2010/main" val="2429984532"/>
              </p:ext>
            </p:extLst>
          </p:nvPr>
        </p:nvGraphicFramePr>
        <p:xfrm>
          <a:off x="3148123" y="987008"/>
          <a:ext cx="5775871" cy="3254796"/>
        </p:xfrm>
        <a:graphic>
          <a:graphicData uri="http://schemas.openxmlformats.org/drawingml/2006/table">
            <a:tbl>
              <a:tblPr firstRow="1" firstCol="1" bandRow="1"/>
              <a:tblGrid>
                <a:gridCol w="1763224">
                  <a:extLst>
                    <a:ext uri="{9D8B030D-6E8A-4147-A177-3AD203B41FA5}">
                      <a16:colId xmlns:a16="http://schemas.microsoft.com/office/drawing/2014/main" val="2691473734"/>
                    </a:ext>
                  </a:extLst>
                </a:gridCol>
                <a:gridCol w="1002525">
                  <a:extLst>
                    <a:ext uri="{9D8B030D-6E8A-4147-A177-3AD203B41FA5}">
                      <a16:colId xmlns:a16="http://schemas.microsoft.com/office/drawing/2014/main" val="1479163861"/>
                    </a:ext>
                  </a:extLst>
                </a:gridCol>
                <a:gridCol w="1003374">
                  <a:extLst>
                    <a:ext uri="{9D8B030D-6E8A-4147-A177-3AD203B41FA5}">
                      <a16:colId xmlns:a16="http://schemas.microsoft.com/office/drawing/2014/main" val="80781516"/>
                    </a:ext>
                  </a:extLst>
                </a:gridCol>
                <a:gridCol w="1003374">
                  <a:extLst>
                    <a:ext uri="{9D8B030D-6E8A-4147-A177-3AD203B41FA5}">
                      <a16:colId xmlns:a16="http://schemas.microsoft.com/office/drawing/2014/main" val="2380445824"/>
                    </a:ext>
                  </a:extLst>
                </a:gridCol>
                <a:gridCol w="1003374">
                  <a:extLst>
                    <a:ext uri="{9D8B030D-6E8A-4147-A177-3AD203B41FA5}">
                      <a16:colId xmlns:a16="http://schemas.microsoft.com/office/drawing/2014/main" val="3013557673"/>
                    </a:ext>
                  </a:extLst>
                </a:gridCol>
              </a:tblGrid>
              <a:tr h="97476">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Group</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74956645"/>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Age</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1853513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18-24 (n=207)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54.82 (20.68)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60.06 (18.83)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58.04 (17.92)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58.71 (17.77)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707121024"/>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25-34 (n=575)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58.13 (21.67)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61.52 (21.27)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59.12 (18.17)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59.90 (19.84)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26866265"/>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35-44 (n=937)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60.16 (21.80)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62.61 (21.15)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60.64 (17.22)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61.54 (20.18)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777467806"/>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45-54 (n=1057)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64.02 (22.32)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62.72 (20.97)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61.57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62.37 (19.24)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970326285"/>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55-69 (n=2235)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73.99 (20.54)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68.36 (19.14)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66.56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69.50 (17.80)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900071"/>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70+ (n=2144)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84.44 (15.34)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74.47 (17.26)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72.57 (15.89)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78.23 (14.28)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703291864"/>
                  </a:ext>
                </a:extLst>
              </a:tr>
              <a:tr h="109187">
                <a:tc>
                  <a:txBody>
                    <a:bodyPr/>
                    <a:lstStyle/>
                    <a:p>
                      <a:pPr>
                        <a:lnSpc>
                          <a:spcPct val="107000"/>
                        </a:lnSpc>
                        <a:spcAft>
                          <a:spcPts val="800"/>
                        </a:spcAft>
                        <a:buNone/>
                      </a:pPr>
                      <a:r>
                        <a:rPr lang="nl-NL"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1525.026 (&lt;0.001) [0.21]</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450.4962 (&lt;0.001) [0.06]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591.3893 (&lt;0.001) [0.08]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a:solidFill>
                            <a:schemeClr val="tx1"/>
                          </a:solidFill>
                          <a:effectLst/>
                          <a:latin typeface="Aptos" panose="020B0004020202020204" pitchFamily="34" charset="0"/>
                          <a:ea typeface="Aptos" panose="020B0004020202020204" pitchFamily="34" charset="0"/>
                          <a:cs typeface="Arial" panose="020B0604020202020204" pitchFamily="34" charset="0"/>
                        </a:rPr>
                        <a:t>1011.029 (&lt;0.001) [0.14]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69516616"/>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Gender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022158383"/>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Female (n=3944)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68.94 (22.01)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65.72 (20.02)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64.60 (17.90)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66.58 (18.98)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08820942"/>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Male (n=3206)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75.85 (21.50)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70.45 (19.56)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67.77 (17.30)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71.89 (18.34)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230632796"/>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5060303 (&lt;0.001) [0.17]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5422128 (&lt;0.001) [0.12]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5624552 (&lt;0.001) [0.10]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5213512 (&lt;0.001) [0.15]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3329338441"/>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Income</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38847975"/>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Low (n=2035)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63.32 (23.34)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60.11 (21.40)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60.41 (18.47)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60.68 (20.32)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268795556"/>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Medium (n=2223)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73.52 (21.21)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68.38 (19.05)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66.55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69.41 (18.04)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445225460"/>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High (n=2267)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77.34 (19.95)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74.17 (17.64)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70.38 (16.36)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75.53 (16.30)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3837781282"/>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431.3689 (&lt;0.001) [0.07]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509.4986 (&lt;0.001) [0.08]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331.9955 (&lt;0.001) [0.05]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630.9963 (&lt;0.001) [0.10]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extLst>
                  <a:ext uri="{0D108BD9-81ED-4DB2-BD59-A6C34878D82A}">
                    <a16:rowId xmlns:a16="http://schemas.microsoft.com/office/drawing/2014/main" val="3258679529"/>
                  </a:ext>
                </a:extLst>
              </a:tr>
              <a:tr h="109187">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Education</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587729"/>
                  </a:ext>
                </a:extLst>
              </a:tr>
              <a:tr h="109187">
                <a:tc>
                  <a:txBody>
                    <a:bodyPr/>
                    <a:lstStyle/>
                    <a:p>
                      <a:pPr>
                        <a:lnSpc>
                          <a:spcPct val="107000"/>
                        </a:lnSpc>
                        <a:spcAft>
                          <a:spcPts val="800"/>
                        </a:spcAft>
                        <a:buNone/>
                        <a:tabLst>
                          <a:tab pos="1376045" algn="l"/>
                        </a:tabLst>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Lower (n=1814)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67.23 (23.66)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63.00 (21.62)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62.33 (18.09)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64.40 (20.09)</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11946463"/>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Middle (n=2150)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71.22 (21.48)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65.94 (19.13)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64.71 (17.44)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66.75 (18.22)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4231622503"/>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Higher (n=3191)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75.25 (20.98)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71.81 (18.75)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68.96 (17.19)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72.98 (17.83)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4168559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147.6623 (&lt;0.001) [0.02]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250.6048 (&lt;0.001) [0.03]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177.7297 (&lt;0.001) [0.02]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299.6006 (&lt;0.001) [0.04]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1518601130"/>
                  </a:ext>
                </a:extLst>
              </a:tr>
              <a:tr h="109187">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Relationship</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82976774"/>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Not in a relationship (n=2510)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67.31 (22.97)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62.37 (20.84)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62.03 (18.44)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63.35 (19.93)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133591925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In a relationship (n=4645)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74.54 (21.15)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70.76 (18.86)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68.15 (16.93)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71.95 (17.62)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642827908"/>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4737502 (&lt;0.001) [0.16]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4468296 (&lt;0.001) [0.19]</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4692132 (&lt;0.001) [0.16]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4340843 (&lt;0.001) [0.21]</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2631046792"/>
                  </a:ext>
                </a:extLst>
              </a:tr>
            </a:tbl>
          </a:graphicData>
        </a:graphic>
      </p:graphicFrame>
      <p:sp>
        <p:nvSpPr>
          <p:cNvPr id="10" name="Content Placeholder 3">
            <a:extLst>
              <a:ext uri="{FF2B5EF4-FFF2-40B4-BE49-F238E27FC236}">
                <a16:creationId xmlns:a16="http://schemas.microsoft.com/office/drawing/2014/main" id="{A36EA7E0-6E5B-727D-C3F9-8F0B508B4762}"/>
              </a:ext>
            </a:extLst>
          </p:cNvPr>
          <p:cNvSpPr txBox="1">
            <a:spLocks/>
          </p:cNvSpPr>
          <p:nvPr/>
        </p:nvSpPr>
        <p:spPr>
          <a:xfrm>
            <a:off x="491525" y="971999"/>
            <a:ext cx="2396129"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were able to distinguish between demographics groups, to a lower extent</a:t>
            </a:r>
          </a:p>
        </p:txBody>
      </p:sp>
      <p:sp>
        <p:nvSpPr>
          <p:cNvPr id="3" name="TextBox 2">
            <a:extLst>
              <a:ext uri="{FF2B5EF4-FFF2-40B4-BE49-F238E27FC236}">
                <a16:creationId xmlns:a16="http://schemas.microsoft.com/office/drawing/2014/main" id="{ECD8C499-1392-BFEA-1285-44B2F42D6442}"/>
              </a:ext>
            </a:extLst>
          </p:cNvPr>
          <p:cNvSpPr txBox="1"/>
          <p:nvPr/>
        </p:nvSpPr>
        <p:spPr>
          <a:xfrm>
            <a:off x="3049146" y="4272545"/>
            <a:ext cx="6046728" cy="184666"/>
          </a:xfrm>
          <a:prstGeom prst="rect">
            <a:avLst/>
          </a:prstGeom>
          <a:noFill/>
        </p:spPr>
        <p:txBody>
          <a:bodyPr wrap="square">
            <a:spAutoFit/>
          </a:bodyPr>
          <a:lstStyle/>
          <a:p>
            <a:r>
              <a:rPr lang="en-US" sz="600" i="1" dirty="0">
                <a:effectLst/>
                <a:latin typeface="Aptos" panose="020B0004020202020204" pitchFamily="34" charset="0"/>
                <a:ea typeface="Aptos" panose="020B0004020202020204" pitchFamily="34" charset="0"/>
                <a:cs typeface="Arial" panose="020B0604020202020204" pitchFamily="34" charset="0"/>
              </a:rPr>
              <a:t>Effect size interpretation: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small</a:t>
            </a:r>
            <a:r>
              <a:rPr lang="en-US" sz="600" i="1" dirty="0">
                <a:effectLst/>
                <a:latin typeface="Aptos" panose="020B0004020202020204" pitchFamily="34" charset="0"/>
                <a:ea typeface="Aptos" panose="020B0004020202020204" pitchFamily="34" charset="0"/>
                <a:cs typeface="Arial" panose="020B0604020202020204" pitchFamily="34" charset="0"/>
              </a:rPr>
              <a:t> (0.01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0.06, 0.1 ≤ r &lt; 0.24);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moderate</a:t>
            </a:r>
            <a:r>
              <a:rPr lang="en-US" sz="600" i="1" dirty="0">
                <a:effectLst/>
                <a:latin typeface="Aptos" panose="020B0004020202020204" pitchFamily="34" charset="0"/>
                <a:ea typeface="Aptos" panose="020B0004020202020204" pitchFamily="34" charset="0"/>
                <a:cs typeface="Arial" panose="020B0604020202020204" pitchFamily="34" charset="0"/>
              </a:rPr>
              <a:t> (.06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0.14, 0.24 ≤ r &lt; 0.37);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strong</a:t>
            </a:r>
            <a:r>
              <a:rPr lang="en-US" sz="600" i="1" dirty="0">
                <a:effectLst/>
                <a:latin typeface="Aptos" panose="020B0004020202020204" pitchFamily="34" charset="0"/>
                <a:ea typeface="Aptos" panose="020B0004020202020204" pitchFamily="34" charset="0"/>
                <a:cs typeface="Arial" panose="020B0604020202020204" pitchFamily="34" charset="0"/>
              </a:rPr>
              <a:t>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0.14, r ≥ 0.37) </a:t>
            </a:r>
            <a:endParaRPr lang="LID4096" sz="600" i="1" dirty="0"/>
          </a:p>
        </p:txBody>
      </p:sp>
    </p:spTree>
    <p:extLst>
      <p:ext uri="{BB962C8B-B14F-4D97-AF65-F5344CB8AC3E}">
        <p14:creationId xmlns:p14="http://schemas.microsoft.com/office/powerpoint/2010/main" val="1737834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5AA7-0F81-4908-1DED-95A9E53E5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04798-FEEF-E5EE-6FBD-F1CD377EAC63}"/>
              </a:ext>
            </a:extLst>
          </p:cNvPr>
          <p:cNvSpPr>
            <a:spLocks noGrp="1"/>
          </p:cNvSpPr>
          <p:nvPr>
            <p:ph type="title"/>
          </p:nvPr>
        </p:nvSpPr>
        <p:spPr>
          <a:xfrm>
            <a:off x="491525" y="396000"/>
            <a:ext cx="8172000" cy="576000"/>
          </a:xfrm>
        </p:spPr>
        <p:txBody>
          <a:bodyPr anchor="t">
            <a:normAutofit/>
          </a:bodyPr>
          <a:lstStyle/>
          <a:p>
            <a:r>
              <a:rPr lang="en-GB" dirty="0"/>
              <a:t>Responsiveness</a:t>
            </a:r>
            <a:endParaRPr lang="LID4096" dirty="0"/>
          </a:p>
        </p:txBody>
      </p:sp>
      <p:sp>
        <p:nvSpPr>
          <p:cNvPr id="8" name="Tijdelijke aanduiding voor inhoud 5">
            <a:extLst>
              <a:ext uri="{FF2B5EF4-FFF2-40B4-BE49-F238E27FC236}">
                <a16:creationId xmlns:a16="http://schemas.microsoft.com/office/drawing/2014/main" id="{D56D69DF-7A7C-14C3-663E-950E6ED8045C}"/>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0BDED53F-9007-5030-0CDF-9D2C73A35DB7}"/>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0" name="Content Placeholder 3">
            <a:extLst>
              <a:ext uri="{FF2B5EF4-FFF2-40B4-BE49-F238E27FC236}">
                <a16:creationId xmlns:a16="http://schemas.microsoft.com/office/drawing/2014/main" id="{52715B15-B5E4-4CBB-6EAF-4A53C550147C}"/>
              </a:ext>
            </a:extLst>
          </p:cNvPr>
          <p:cNvSpPr txBox="1">
            <a:spLocks/>
          </p:cNvSpPr>
          <p:nvPr/>
        </p:nvSpPr>
        <p:spPr>
          <a:xfrm>
            <a:off x="480475" y="895810"/>
            <a:ext cx="722243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None of the instruments was responsive to change</a:t>
            </a:r>
            <a:endParaRPr lang="en-US" sz="1400" dirty="0"/>
          </a:p>
        </p:txBody>
      </p:sp>
      <p:graphicFrame>
        <p:nvGraphicFramePr>
          <p:cNvPr id="5" name="Table 4">
            <a:extLst>
              <a:ext uri="{FF2B5EF4-FFF2-40B4-BE49-F238E27FC236}">
                <a16:creationId xmlns:a16="http://schemas.microsoft.com/office/drawing/2014/main" id="{77438FA6-9F69-5582-31A5-38BAD45D1B9A}"/>
              </a:ext>
            </a:extLst>
          </p:cNvPr>
          <p:cNvGraphicFramePr>
            <a:graphicFrameLocks noGrp="1"/>
          </p:cNvGraphicFramePr>
          <p:nvPr>
            <p:extLst>
              <p:ext uri="{D42A27DB-BD31-4B8C-83A1-F6EECF244321}">
                <p14:modId xmlns:p14="http://schemas.microsoft.com/office/powerpoint/2010/main" val="128600710"/>
              </p:ext>
            </p:extLst>
          </p:nvPr>
        </p:nvGraphicFramePr>
        <p:xfrm>
          <a:off x="955651" y="1296948"/>
          <a:ext cx="6998939" cy="3655490"/>
        </p:xfrm>
        <a:graphic>
          <a:graphicData uri="http://schemas.openxmlformats.org/drawingml/2006/table">
            <a:tbl>
              <a:tblPr firstRow="1" firstCol="1" bandRow="1"/>
              <a:tblGrid>
                <a:gridCol w="2011939">
                  <a:extLst>
                    <a:ext uri="{9D8B030D-6E8A-4147-A177-3AD203B41FA5}">
                      <a16:colId xmlns:a16="http://schemas.microsoft.com/office/drawing/2014/main" val="3305543278"/>
                    </a:ext>
                  </a:extLst>
                </a:gridCol>
                <a:gridCol w="1246750">
                  <a:extLst>
                    <a:ext uri="{9D8B030D-6E8A-4147-A177-3AD203B41FA5}">
                      <a16:colId xmlns:a16="http://schemas.microsoft.com/office/drawing/2014/main" val="3537379290"/>
                    </a:ext>
                  </a:extLst>
                </a:gridCol>
                <a:gridCol w="1246750">
                  <a:extLst>
                    <a:ext uri="{9D8B030D-6E8A-4147-A177-3AD203B41FA5}">
                      <a16:colId xmlns:a16="http://schemas.microsoft.com/office/drawing/2014/main" val="3457073147"/>
                    </a:ext>
                  </a:extLst>
                </a:gridCol>
                <a:gridCol w="1246750">
                  <a:extLst>
                    <a:ext uri="{9D8B030D-6E8A-4147-A177-3AD203B41FA5}">
                      <a16:colId xmlns:a16="http://schemas.microsoft.com/office/drawing/2014/main" val="472205868"/>
                    </a:ext>
                  </a:extLst>
                </a:gridCol>
                <a:gridCol w="1246750">
                  <a:extLst>
                    <a:ext uri="{9D8B030D-6E8A-4147-A177-3AD203B41FA5}">
                      <a16:colId xmlns:a16="http://schemas.microsoft.com/office/drawing/2014/main" val="4017298051"/>
                    </a:ext>
                  </a:extLst>
                </a:gridCol>
              </a:tblGrid>
              <a:tr h="353906">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Instrument</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Baseline score – Mean (SD)</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Follow-up score – Mean (SD)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Score change - Mean</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p-value (Effect size)</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811907035"/>
                  </a:ext>
                </a:extLst>
              </a:tr>
              <a:tr h="126984">
                <a:tc gridSpan="5">
                  <a:txBody>
                    <a:bodyPr/>
                    <a:lstStyle/>
                    <a:p>
                      <a:pPr>
                        <a:lnSpc>
                          <a:spcPct val="107000"/>
                        </a:lnSpc>
                        <a:spcAft>
                          <a:spcPts val="800"/>
                        </a:spcAft>
                        <a:buNone/>
                      </a:pPr>
                      <a:r>
                        <a:rPr lang="en-US" sz="800" b="1">
                          <a:solidFill>
                            <a:srgbClr val="000000"/>
                          </a:solidFill>
                          <a:effectLst/>
                          <a:latin typeface="Aptos" panose="020B0004020202020204" pitchFamily="34" charset="0"/>
                          <a:ea typeface="Aptos" panose="020B0004020202020204" pitchFamily="34" charset="0"/>
                          <a:cs typeface="Arial" panose="020B0604020202020204" pitchFamily="34" charset="0"/>
                        </a:rPr>
                        <a:t>Change in health </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hMerge="1">
                  <a:txBody>
                    <a:bodyPr/>
                    <a:lstStyle/>
                    <a:p>
                      <a:endParaRPr lang="LID4096"/>
                    </a:p>
                  </a:txBody>
                  <a:tcPr/>
                </a:tc>
                <a:tc hMerge="1">
                  <a:txBody>
                    <a:bodyPr/>
                    <a:lstStyle/>
                    <a:p>
                      <a:endParaRPr lang="LID4096"/>
                    </a:p>
                  </a:txBody>
                  <a:tcP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3342877287"/>
                  </a:ext>
                </a:extLst>
              </a:tr>
              <a:tr h="126984">
                <a:tc>
                  <a:txBody>
                    <a:bodyPr/>
                    <a:lstStyle/>
                    <a:p>
                      <a:pP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EQ-HWB-9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524009215"/>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(n=82)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72.66 (21.66)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76.15 (19.51)</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3.49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0.33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73757434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(n=96)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57.20 (25.10)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54.46 (23.11)</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-2.74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0.43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108590935"/>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16210445"/>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(n=82)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70.16 (18.66)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72.28 (15.87)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2.12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0.59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193844675"/>
                  </a:ext>
                </a:extLst>
              </a:tr>
              <a:tr h="126984">
                <a:tc>
                  <a:txBody>
                    <a:bodyPr/>
                    <a:lstStyle/>
                    <a:p>
                      <a:pP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   Worsened (n=96)</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56.18 (21.92)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53.06 (20.43)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-3.12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0.30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09571654"/>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SWB-5D</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685989869"/>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(n=82)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68.48 (16.15)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70.85 (13.38)</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2.37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0.41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618504577"/>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(n=96)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54.32 (18.95)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52.92 (16.59)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-1.40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0.59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177178807"/>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8718486"/>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(n=82)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72.04 (17.24)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74.60 (15.80)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2.56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0.36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23105817"/>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(n=96)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55.57 (21.32)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53.91 (20.67)</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0.48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07335531"/>
                  </a:ext>
                </a:extLst>
              </a:tr>
              <a:tr h="126984">
                <a:tc>
                  <a:txBody>
                    <a:bodyPr/>
                    <a:lstStyle/>
                    <a:p>
                      <a:pPr>
                        <a:lnSpc>
                          <a:spcPct val="107000"/>
                        </a:lnSpc>
                        <a:spcAft>
                          <a:spcPts val="800"/>
                        </a:spcAft>
                        <a:buNone/>
                      </a:pPr>
                      <a:r>
                        <a:rPr lang="en-US" sz="800" b="1">
                          <a:effectLst/>
                          <a:latin typeface="Aptos" panose="020B0004020202020204" pitchFamily="34" charset="0"/>
                          <a:ea typeface="Aptos" panose="020B0004020202020204" pitchFamily="34" charset="0"/>
                          <a:cs typeface="Arial" panose="020B0604020202020204" pitchFamily="34" charset="0"/>
                        </a:rPr>
                        <a:t>Change in well-being </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242907224"/>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843991828"/>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77.31 (21.57)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80.06 (19.47)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2.75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0.51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596342670"/>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(n=103)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53.34 (24.48)</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51.78 (21.65)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-1.56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0.66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21366547"/>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ICECAP-A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282588912"/>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(n=113)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74.93 (19.85)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75.87 (16.31)</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0.94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0.94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25045303"/>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(n=103)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52.36 (21.13)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49.51 (20.66)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-2.85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0.33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87892328"/>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0081838"/>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71.99 (16.39)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75.04 (12.72)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3.05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0.25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036782736"/>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(n=103)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52.72 (20.84)</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51.75 (17.56)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-0.97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0.74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01849888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WiX</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996194742"/>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(n=113)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75.20 (19.05)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78.38 (14.84)</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3.18</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0.35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57378092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(n=103)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53.06 (19.98)</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51.75 (19.26)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-1.31</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0.61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635342345"/>
                  </a:ext>
                </a:extLst>
              </a:tr>
            </a:tbl>
          </a:graphicData>
        </a:graphic>
      </p:graphicFrame>
      <p:sp>
        <p:nvSpPr>
          <p:cNvPr id="3" name="Oval 2">
            <a:extLst>
              <a:ext uri="{FF2B5EF4-FFF2-40B4-BE49-F238E27FC236}">
                <a16:creationId xmlns:a16="http://schemas.microsoft.com/office/drawing/2014/main" id="{6BA96785-BFDF-8BA6-85FF-08AABB32B918}"/>
              </a:ext>
            </a:extLst>
          </p:cNvPr>
          <p:cNvSpPr/>
          <p:nvPr/>
        </p:nvSpPr>
        <p:spPr>
          <a:xfrm>
            <a:off x="5684920" y="2391277"/>
            <a:ext cx="806117" cy="180473"/>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4" name="Oval 3">
            <a:extLst>
              <a:ext uri="{FF2B5EF4-FFF2-40B4-BE49-F238E27FC236}">
                <a16:creationId xmlns:a16="http://schemas.microsoft.com/office/drawing/2014/main" id="{752871E2-F520-1A49-B8BA-EA591DE87709}"/>
              </a:ext>
            </a:extLst>
          </p:cNvPr>
          <p:cNvSpPr/>
          <p:nvPr/>
        </p:nvSpPr>
        <p:spPr>
          <a:xfrm>
            <a:off x="5684919" y="4027242"/>
            <a:ext cx="806117" cy="216568"/>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6" name="Oval 5">
            <a:extLst>
              <a:ext uri="{FF2B5EF4-FFF2-40B4-BE49-F238E27FC236}">
                <a16:creationId xmlns:a16="http://schemas.microsoft.com/office/drawing/2014/main" id="{3EC798AC-8CAD-9DE6-4C48-7C37020A858E}"/>
              </a:ext>
            </a:extLst>
          </p:cNvPr>
          <p:cNvSpPr/>
          <p:nvPr/>
        </p:nvSpPr>
        <p:spPr>
          <a:xfrm>
            <a:off x="5606714" y="1870813"/>
            <a:ext cx="962526" cy="30986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7" name="Oval 6">
            <a:extLst>
              <a:ext uri="{FF2B5EF4-FFF2-40B4-BE49-F238E27FC236}">
                <a16:creationId xmlns:a16="http://schemas.microsoft.com/office/drawing/2014/main" id="{E45A861F-B7A5-2054-68C6-63AA23FF32F5}"/>
              </a:ext>
            </a:extLst>
          </p:cNvPr>
          <p:cNvSpPr/>
          <p:nvPr/>
        </p:nvSpPr>
        <p:spPr>
          <a:xfrm>
            <a:off x="5606714" y="3540496"/>
            <a:ext cx="962526" cy="30986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51DC3DA9-F789-895D-0DBF-F05CC55C7B0F}"/>
              </a:ext>
            </a:extLst>
          </p:cNvPr>
          <p:cNvSpPr/>
          <p:nvPr/>
        </p:nvSpPr>
        <p:spPr>
          <a:xfrm>
            <a:off x="5598296" y="2978600"/>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0F980B80-C0F6-988F-0DB5-2D93EC3A7382}"/>
              </a:ext>
            </a:extLst>
          </p:cNvPr>
          <p:cNvSpPr/>
          <p:nvPr/>
        </p:nvSpPr>
        <p:spPr>
          <a:xfrm>
            <a:off x="5598296" y="4625169"/>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688055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BE898-0535-1036-2A1F-D753170B3E75}"/>
              </a:ext>
            </a:extLst>
          </p:cNvPr>
          <p:cNvSpPr>
            <a:spLocks noGrp="1"/>
          </p:cNvSpPr>
          <p:nvPr>
            <p:ph type="title"/>
          </p:nvPr>
        </p:nvSpPr>
        <p:spPr/>
        <p:txBody>
          <a:bodyPr/>
          <a:lstStyle/>
          <a:p>
            <a:r>
              <a:rPr lang="en-GB" dirty="0"/>
              <a:t>Instrument mapping</a:t>
            </a:r>
            <a:endParaRPr lang="LID4096" dirty="0"/>
          </a:p>
        </p:txBody>
      </p:sp>
      <p:pic>
        <p:nvPicPr>
          <p:cNvPr id="3" name="Picture 2">
            <a:extLst>
              <a:ext uri="{FF2B5EF4-FFF2-40B4-BE49-F238E27FC236}">
                <a16:creationId xmlns:a16="http://schemas.microsoft.com/office/drawing/2014/main" id="{0D03BFD5-12F9-F420-789D-34428B9DB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525" y="847797"/>
            <a:ext cx="8160950" cy="4288684"/>
          </a:xfrm>
          <a:prstGeom prst="rect">
            <a:avLst/>
          </a:prstGeom>
        </p:spPr>
      </p:pic>
    </p:spTree>
    <p:extLst>
      <p:ext uri="{BB962C8B-B14F-4D97-AF65-F5344CB8AC3E}">
        <p14:creationId xmlns:p14="http://schemas.microsoft.com/office/powerpoint/2010/main" val="2976171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077F-1876-59C7-B3A8-1CF4CE912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B99AD-90FE-087F-64AA-A30F13DD063E}"/>
              </a:ext>
            </a:extLst>
          </p:cNvPr>
          <p:cNvSpPr>
            <a:spLocks noGrp="1"/>
          </p:cNvSpPr>
          <p:nvPr>
            <p:ph type="title"/>
          </p:nvPr>
        </p:nvSpPr>
        <p:spPr>
          <a:xfrm>
            <a:off x="491525" y="396000"/>
            <a:ext cx="8172000" cy="576000"/>
          </a:xfrm>
        </p:spPr>
        <p:txBody>
          <a:bodyPr anchor="t">
            <a:normAutofit/>
          </a:bodyPr>
          <a:lstStyle/>
          <a:p>
            <a:r>
              <a:rPr lang="en-GB" dirty="0"/>
              <a:t>Previous literature</a:t>
            </a:r>
            <a:endParaRPr lang="LID4096" dirty="0"/>
          </a:p>
        </p:txBody>
      </p:sp>
      <p:sp>
        <p:nvSpPr>
          <p:cNvPr id="9" name="Content Placeholder 2">
            <a:extLst>
              <a:ext uri="{FF2B5EF4-FFF2-40B4-BE49-F238E27FC236}">
                <a16:creationId xmlns:a16="http://schemas.microsoft.com/office/drawing/2014/main" id="{C1200324-8B63-2FDD-B909-B0EF25E2549F}"/>
              </a:ext>
            </a:extLst>
          </p:cNvPr>
          <p:cNvSpPr>
            <a:spLocks noGrp="1"/>
          </p:cNvSpPr>
          <p:nvPr>
            <p:ph sz="half" idx="1"/>
          </p:nvPr>
        </p:nvSpPr>
        <p:spPr>
          <a:xfrm>
            <a:off x="493199" y="972000"/>
            <a:ext cx="8018283" cy="3348000"/>
          </a:xfrm>
        </p:spPr>
        <p:txBody>
          <a:bodyPr/>
          <a:lstStyle/>
          <a:p>
            <a:r>
              <a:rPr lang="en-US" dirty="0"/>
              <a:t>EQ-HWB-9 did not detect significant differences between caregivers and the general population (1) </a:t>
            </a:r>
          </a:p>
          <a:p>
            <a:pPr lvl="2"/>
            <a:r>
              <a:rPr lang="en-US" dirty="0"/>
              <a:t>Perhaps the EQ-HWB-9 may have lost some discriminatory power in broader well-being compared to the full EQ-HWB</a:t>
            </a:r>
          </a:p>
          <a:p>
            <a:r>
              <a:rPr lang="en-US" dirty="0"/>
              <a:t>EQ-HWB and ICECAP-A had to distinct factor structures (2) </a:t>
            </a:r>
          </a:p>
          <a:p>
            <a:pPr lvl="2"/>
            <a:r>
              <a:rPr lang="en-US" dirty="0"/>
              <a:t>EQ-HWB items loading on physical functioning and psychosocial health factors </a:t>
            </a:r>
          </a:p>
          <a:p>
            <a:pPr lvl="2"/>
            <a:r>
              <a:rPr lang="en-US" dirty="0"/>
              <a:t>ICECAP-A loading on a separate well-being factor</a:t>
            </a:r>
          </a:p>
          <a:p>
            <a:r>
              <a:rPr lang="en-US" dirty="0"/>
              <a:t>Recent reviews concluded the ICECAP-A could offer a complementary (3) or even enhanced assessment of well-being (4) if targeting broader HRQOL</a:t>
            </a:r>
          </a:p>
        </p:txBody>
      </p:sp>
      <p:sp>
        <p:nvSpPr>
          <p:cNvPr id="3" name="TextBox 2">
            <a:extLst>
              <a:ext uri="{FF2B5EF4-FFF2-40B4-BE49-F238E27FC236}">
                <a16:creationId xmlns:a16="http://schemas.microsoft.com/office/drawing/2014/main" id="{661820DF-D48E-8AA5-AD6C-0F92BBF2A22B}"/>
              </a:ext>
            </a:extLst>
          </p:cNvPr>
          <p:cNvSpPr txBox="1"/>
          <p:nvPr/>
        </p:nvSpPr>
        <p:spPr>
          <a:xfrm>
            <a:off x="493199" y="4320000"/>
            <a:ext cx="6629496" cy="738664"/>
          </a:xfrm>
          <a:prstGeom prst="rect">
            <a:avLst/>
          </a:prstGeom>
          <a:noFill/>
        </p:spPr>
        <p:txBody>
          <a:bodyPr wrap="square">
            <a:spAutoFit/>
          </a:bodyPr>
          <a:lstStyle/>
          <a:p>
            <a:pPr marL="228600" indent="-228600">
              <a:buAutoNum type="arabicParenR"/>
            </a:pPr>
            <a:r>
              <a:rPr lang="en-US" sz="600" i="1" dirty="0">
                <a:effectLst/>
                <a:latin typeface="Aptos" panose="020B0004020202020204" pitchFamily="34" charset="0"/>
                <a:ea typeface="Aptos" panose="020B0004020202020204" pitchFamily="34" charset="0"/>
                <a:cs typeface="Arial" panose="020B0604020202020204" pitchFamily="34" charset="0"/>
              </a:rPr>
              <a:t>Kuharić M, Pickard AS, </a:t>
            </a:r>
            <a:r>
              <a:rPr lang="en-US" sz="600" i="1" dirty="0" err="1">
                <a:effectLst/>
                <a:latin typeface="Aptos" panose="020B0004020202020204" pitchFamily="34" charset="0"/>
                <a:ea typeface="Aptos" panose="020B0004020202020204" pitchFamily="34" charset="0"/>
                <a:cs typeface="Arial" panose="020B0604020202020204" pitchFamily="34" charset="0"/>
              </a:rPr>
              <a:t>Mukuria</a:t>
            </a:r>
            <a:r>
              <a:rPr lang="en-US" sz="600" i="1" dirty="0">
                <a:effectLst/>
                <a:latin typeface="Aptos" panose="020B0004020202020204" pitchFamily="34" charset="0"/>
                <a:ea typeface="Aptos" panose="020B0004020202020204" pitchFamily="34" charset="0"/>
                <a:cs typeface="Arial" panose="020B0604020202020204" pitchFamily="34" charset="0"/>
              </a:rPr>
              <a:t> C, Finch AP. The Measurement Properties of the EQ-HWB and the EQ-HWB-S in Italian Population: A Comparative Study With EQ-5D-5L. Value Health. 2024 Jul;27(7):955–66. </a:t>
            </a:r>
          </a:p>
          <a:p>
            <a:pPr marL="228600" indent="-228600">
              <a:buAutoNum type="arabicParenR"/>
            </a:pPr>
            <a:r>
              <a:rPr lang="en-US" sz="600" i="1" dirty="0" err="1">
                <a:latin typeface="Aptos" panose="020B0004020202020204" pitchFamily="34" charset="0"/>
              </a:rPr>
              <a:t>Kinchin</a:t>
            </a:r>
            <a:r>
              <a:rPr lang="en-US" sz="600" i="1" dirty="0">
                <a:latin typeface="Aptos" panose="020B0004020202020204" pitchFamily="34" charset="0"/>
              </a:rPr>
              <a:t> I, Engel L, Rencz F. A Comparative Study of Health and Well-Being Measures in Ireland Using EQ Health and Well-Being (EQ-HWB) and its Short Version, EQ-5D-5L, and </a:t>
            </a:r>
            <a:r>
              <a:rPr lang="en-US" sz="600" i="1" dirty="0" err="1">
                <a:latin typeface="Aptos" panose="020B0004020202020204" pitchFamily="34" charset="0"/>
              </a:rPr>
              <a:t>ICEpop</a:t>
            </a:r>
            <a:r>
              <a:rPr lang="en-US" sz="600" i="1" dirty="0">
                <a:latin typeface="Aptos" panose="020B0004020202020204" pitchFamily="34" charset="0"/>
              </a:rPr>
              <a:t> Capability Measure for Adults (ICECAP-A). Value Health. 2025 May;S1098301525023241. </a:t>
            </a:r>
          </a:p>
          <a:p>
            <a:pPr marL="228600" indent="-228600">
              <a:buAutoNum type="arabicParenR"/>
            </a:pPr>
            <a:r>
              <a:rPr lang="en-US" sz="600" i="1" dirty="0" err="1">
                <a:latin typeface="Aptos" panose="020B0004020202020204" pitchFamily="34" charset="0"/>
              </a:rPr>
              <a:t>Afentou</a:t>
            </a:r>
            <a:r>
              <a:rPr lang="en-US" sz="600" i="1" dirty="0">
                <a:latin typeface="Aptos" panose="020B0004020202020204" pitchFamily="34" charset="0"/>
              </a:rPr>
              <a:t> N, Kinghorn P. A Systematic Review of the Feasibility and Psychometric Properties of the </a:t>
            </a:r>
            <a:r>
              <a:rPr lang="en-US" sz="600" i="1" dirty="0" err="1">
                <a:latin typeface="Aptos" panose="020B0004020202020204" pitchFamily="34" charset="0"/>
              </a:rPr>
              <a:t>ICEpop</a:t>
            </a:r>
            <a:r>
              <a:rPr lang="en-US" sz="600" i="1" dirty="0">
                <a:latin typeface="Aptos" panose="020B0004020202020204" pitchFamily="34" charset="0"/>
              </a:rPr>
              <a:t> </a:t>
            </a:r>
            <a:r>
              <a:rPr lang="en-US" sz="600" i="1" dirty="0" err="1">
                <a:latin typeface="Aptos" panose="020B0004020202020204" pitchFamily="34" charset="0"/>
              </a:rPr>
              <a:t>CAPability</a:t>
            </a:r>
            <a:r>
              <a:rPr lang="en-US" sz="600" i="1" dirty="0">
                <a:latin typeface="Aptos" panose="020B0004020202020204" pitchFamily="34" charset="0"/>
              </a:rPr>
              <a:t> Measure for Adults and Its Use So Far in Economic Evaluation. Value Health. 2020 Apr;23(4):515–26.</a:t>
            </a:r>
          </a:p>
          <a:p>
            <a:pPr marL="228600" indent="-228600">
              <a:buAutoNum type="arabicParenR"/>
            </a:pPr>
            <a:r>
              <a:rPr lang="en-US" sz="600" i="1" dirty="0">
                <a:latin typeface="Aptos" panose="020B0004020202020204" pitchFamily="34" charset="0"/>
              </a:rPr>
              <a:t>Helter, T. M. (2020). Capability instruments in economic evaluations of health-related interventions: a comparative review of the literature. Quality of Life Research.</a:t>
            </a:r>
            <a:endParaRPr lang="LID4096" sz="600" i="1" dirty="0">
              <a:latin typeface="Aptos" panose="020B0004020202020204" pitchFamily="34" charset="0"/>
            </a:endParaRPr>
          </a:p>
        </p:txBody>
      </p:sp>
    </p:spTree>
    <p:extLst>
      <p:ext uri="{BB962C8B-B14F-4D97-AF65-F5344CB8AC3E}">
        <p14:creationId xmlns:p14="http://schemas.microsoft.com/office/powerpoint/2010/main" val="3947123312"/>
      </p:ext>
    </p:extLst>
  </p:cSld>
  <p:clrMapOvr>
    <a:masterClrMapping/>
  </p:clrMapOvr>
</p:sld>
</file>

<file path=ppt/theme/theme1.xml><?xml version="1.0" encoding="utf-8"?>
<a:theme xmlns:a="http://schemas.openxmlformats.org/drawingml/2006/main" name="Erasmus_Corporate_B_EN_v1">
  <a:themeElements>
    <a:clrScheme name="EUR_IBMG">
      <a:dk1>
        <a:srgbClr val="002328"/>
      </a:dk1>
      <a:lt1>
        <a:sysClr val="window" lastClr="FFFFFF"/>
      </a:lt1>
      <a:dk2>
        <a:srgbClr val="801A99"/>
      </a:dk2>
      <a:lt2>
        <a:srgbClr val="9C9C9C"/>
      </a:lt2>
      <a:accent1>
        <a:srgbClr val="801A99"/>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shpm_powerpoint_template_16-9.pptx" id="{6828E7C2-9161-40F8-B729-2D9143FFE034}" vid="{C007BAE9-C7F0-4AC9-876B-C9FDCB9FAF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D68C516804644A9B929E79E14799F8" ma:contentTypeVersion="3" ma:contentTypeDescription="Create a new document." ma:contentTypeScope="" ma:versionID="e911f77019013e4f7ce9a2a06f46d5ec">
  <xsd:schema xmlns:xsd="http://www.w3.org/2001/XMLSchema" xmlns:xs="http://www.w3.org/2001/XMLSchema" xmlns:p="http://schemas.microsoft.com/office/2006/metadata/properties" xmlns:ns2="21218f7f-6a6e-4c61-96b6-9b33608f149a" targetNamespace="http://schemas.microsoft.com/office/2006/metadata/properties" ma:root="true" ma:fieldsID="71dedad9ba0142875a975e0547df00ee" ns2:_="">
    <xsd:import namespace="21218f7f-6a6e-4c61-96b6-9b33608f149a"/>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218f7f-6a6e-4c61-96b6-9b33608f14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D9EDC5E-5282-47FC-8BAC-0278FE8C994A}">
  <ds:schemaRefs>
    <ds:schemaRef ds:uri="http://schemas.microsoft.com/sharepoint/v3/contenttype/forms"/>
  </ds:schemaRefs>
</ds:datastoreItem>
</file>

<file path=customXml/itemProps2.xml><?xml version="1.0" encoding="utf-8"?>
<ds:datastoreItem xmlns:ds="http://schemas.openxmlformats.org/officeDocument/2006/customXml" ds:itemID="{E08A0D55-06D9-4B3B-ADAB-50E73BC7DA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218f7f-6a6e-4c61-96b6-9b33608f14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3A9F90-D460-49AA-8CA3-F5C4332673F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ESHPM powerpoint_template_16-9</Template>
  <TotalTime>7786</TotalTime>
  <Words>3779</Words>
  <Application>Microsoft Office PowerPoint</Application>
  <PresentationFormat>On-screen Show (16:9)</PresentationFormat>
  <Paragraphs>865</Paragraphs>
  <Slides>45</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Arial</vt:lpstr>
      <vt:lpstr>Calibri</vt:lpstr>
      <vt:lpstr>Museo Sans 100</vt:lpstr>
      <vt:lpstr>Museo Sans 500</vt:lpstr>
      <vt:lpstr>Museo Sans 700</vt:lpstr>
      <vt:lpstr>Museo Sans 900</vt:lpstr>
      <vt:lpstr>Erasmus_Corporate_B_EN_v1</vt:lpstr>
      <vt:lpstr>Psychometric results from the Wellbeing Multi-Instrument Comparison (W-MIC) study</vt:lpstr>
      <vt:lpstr>Agenda</vt:lpstr>
      <vt:lpstr>Background and research aim</vt:lpstr>
      <vt:lpstr>Background (1/2)</vt:lpstr>
      <vt:lpstr>Background (2/2)</vt:lpstr>
      <vt:lpstr>Methodology</vt:lpstr>
      <vt:lpstr>Methodology</vt:lpstr>
      <vt:lpstr>Survey logic</vt:lpstr>
      <vt:lpstr>Statistical analysis</vt:lpstr>
      <vt:lpstr>Results</vt:lpstr>
      <vt:lpstr>Demographics</vt:lpstr>
      <vt:lpstr>Descriptive statistics</vt:lpstr>
      <vt:lpstr>Convergent validity</vt:lpstr>
      <vt:lpstr>Known-group validity</vt:lpstr>
      <vt:lpstr>Test-retest reliability</vt:lpstr>
      <vt:lpstr>Discussion</vt:lpstr>
      <vt:lpstr>Main findings</vt:lpstr>
      <vt:lpstr>Where would these differences come from?</vt:lpstr>
      <vt:lpstr>Thank you!</vt:lpstr>
      <vt:lpstr>Appendix</vt:lpstr>
      <vt:lpstr>Conceptual Coverage</vt:lpstr>
      <vt:lpstr>Research aims</vt:lpstr>
      <vt:lpstr>In-survey quality checks</vt:lpstr>
      <vt:lpstr>Post-hoc data quality checks</vt:lpstr>
      <vt:lpstr>Quality checks</vt:lpstr>
      <vt:lpstr>Quality checks</vt:lpstr>
      <vt:lpstr>Demographics – Bad data sample</vt:lpstr>
      <vt:lpstr>Demographics – Country-specific (bad data)</vt:lpstr>
      <vt:lpstr>Demographics – Country-specific</vt:lpstr>
      <vt:lpstr>Health conditions</vt:lpstr>
      <vt:lpstr>Targeted health conditions</vt:lpstr>
      <vt:lpstr>Comorbidity</vt:lpstr>
      <vt:lpstr>Completion time</vt:lpstr>
      <vt:lpstr>Descriptive statistics – Health conditions</vt:lpstr>
      <vt:lpstr>Descriptive statistics – Scores by age</vt:lpstr>
      <vt:lpstr>Response options frequencies - Main</vt:lpstr>
      <vt:lpstr>Response options frequencies - Other</vt:lpstr>
      <vt:lpstr>Response options frequencies – EQ-5D</vt:lpstr>
      <vt:lpstr>Response options frequencies – PHQ-15</vt:lpstr>
      <vt:lpstr>Descriptive statistics – Social care users</vt:lpstr>
      <vt:lpstr>Convergent validity – All instruments</vt:lpstr>
      <vt:lpstr>Known-group validity</vt:lpstr>
      <vt:lpstr>Responsiveness</vt:lpstr>
      <vt:lpstr>Instrument mapping</vt:lpstr>
      <vt:lpstr>Previous literature</vt:lpstr>
    </vt:vector>
  </TitlesOfParts>
  <Manager/>
  <Company>Erasmus Universiteit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Andrea De Palma</dc:creator>
  <cp:keywords/>
  <dc:description>iBMG presentation 16:9_x000d_version 1.0 - July 2015_x000d_Design: Fabrique_x000d_Template: Ton Persoon</dc:description>
  <cp:lastModifiedBy>Andrea De Palma</cp:lastModifiedBy>
  <cp:revision>4</cp:revision>
  <dcterms:created xsi:type="dcterms:W3CDTF">2024-10-16T13:45:30Z</dcterms:created>
  <dcterms:modified xsi:type="dcterms:W3CDTF">2026-07-02T12:51:00Z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0x010100E1D68C516804644A9B929E79E14799F8</vt:lpwstr>
  </property>
  <property fmtid="{D5CDD505-2E9C-101B-9397-08002B2CF9AE}" pid="3" name="MSIP_Label_8772ba27-cab8-4042-a351-a31f6e4eacdc_Enabled">
    <vt:lpwstr>true</vt:lpwstr>
  </property>
  <property fmtid="{D5CDD505-2E9C-101B-9397-08002B2CF9AE}" pid="4" name="MSIP_Label_8772ba27-cab8-4042-a351-a31f6e4eacdc_SetDate">
    <vt:lpwstr>2024-10-16T14:38:10Z</vt:lpwstr>
  </property>
  <property fmtid="{D5CDD505-2E9C-101B-9397-08002B2CF9AE}" pid="5" name="MSIP_Label_8772ba27-cab8-4042-a351-a31f6e4eacdc_Method">
    <vt:lpwstr>Standard</vt:lpwstr>
  </property>
  <property fmtid="{D5CDD505-2E9C-101B-9397-08002B2CF9AE}" pid="6" name="MSIP_Label_8772ba27-cab8-4042-a351-a31f6e4eacdc_Name">
    <vt:lpwstr>Internal</vt:lpwstr>
  </property>
  <property fmtid="{D5CDD505-2E9C-101B-9397-08002B2CF9AE}" pid="7" name="MSIP_Label_8772ba27-cab8-4042-a351-a31f6e4eacdc_SiteId">
    <vt:lpwstr>715902d6-f63e-4b8d-929b-4bb170bad492</vt:lpwstr>
  </property>
  <property fmtid="{D5CDD505-2E9C-101B-9397-08002B2CF9AE}" pid="8" name="MSIP_Label_8772ba27-cab8-4042-a351-a31f6e4eacdc_ActionId">
    <vt:lpwstr>90738811-0d0f-48f4-a4fc-02648006f41d</vt:lpwstr>
  </property>
  <property fmtid="{D5CDD505-2E9C-101B-9397-08002B2CF9AE}" pid="9" name="MSIP_Label_8772ba27-cab8-4042-a351-a31f6e4eacdc_ContentBits">
    <vt:lpwstr>0</vt:lpwstr>
  </property>
</Properties>
</file>